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257" r:id="rId3"/>
    <p:sldId id="271" r:id="rId4"/>
    <p:sldId id="272" r:id="rId5"/>
    <p:sldId id="273" r:id="rId6"/>
    <p:sldId id="274" r:id="rId7"/>
    <p:sldId id="275" r:id="rId8"/>
    <p:sldId id="286" r:id="rId9"/>
    <p:sldId id="279" r:id="rId10"/>
    <p:sldId id="283" r:id="rId11"/>
    <p:sldId id="285" r:id="rId12"/>
    <p:sldId id="287" r:id="rId13"/>
    <p:sldId id="288" r:id="rId14"/>
    <p:sldId id="290" r:id="rId15"/>
    <p:sldId id="289" r:id="rId16"/>
    <p:sldId id="281" r:id="rId17"/>
    <p:sldId id="260" r:id="rId18"/>
    <p:sldId id="291" r:id="rId19"/>
    <p:sldId id="292" r:id="rId20"/>
    <p:sldId id="293" r:id="rId21"/>
    <p:sldId id="294" r:id="rId22"/>
    <p:sldId id="295" r:id="rId23"/>
    <p:sldId id="282" r:id="rId24"/>
    <p:sldId id="284" r:id="rId25"/>
    <p:sldId id="296" r:id="rId26"/>
    <p:sldId id="297" r:id="rId27"/>
    <p:sldId id="298" r:id="rId28"/>
    <p:sldId id="299" r:id="rId29"/>
    <p:sldId id="300" r:id="rId30"/>
    <p:sldId id="262" r:id="rId31"/>
    <p:sldId id="263" r:id="rId32"/>
    <p:sldId id="301" r:id="rId33"/>
    <p:sldId id="302" r:id="rId34"/>
  </p:sldIdLst>
  <p:sldSz cx="18288000" cy="10287000"/>
  <p:notesSz cx="6858000" cy="9144000"/>
  <p:embeddedFontLst>
    <p:embeddedFont>
      <p:font typeface="Bebas Neue Cyrillic" panose="020B0604020202020204" charset="0"/>
      <p:regular r:id="rId36"/>
    </p:embeddedFont>
    <p:embeddedFont>
      <p:font typeface="Fira Sans Condensed" panose="020B0503050000020004" pitchFamily="34" charset="0"/>
      <p:regular r:id="rId37"/>
      <p:bold r:id="rId38"/>
      <p:italic r:id="rId39"/>
      <p:boldItalic r:id="rId40"/>
    </p:embeddedFont>
    <p:embeddedFont>
      <p:font typeface="Open Sans" panose="020B0606030504020204" pitchFamily="34" charset="0"/>
      <p:regular r:id="rId41"/>
      <p:bold r:id="rId42"/>
      <p:italic r:id="rId43"/>
      <p:boldItalic r:id="rId44"/>
    </p:embeddedFont>
    <p:embeddedFont>
      <p:font typeface="Open Sans Bold" panose="020B0806030504020204" charset="0"/>
      <p:regular r:id="rId45"/>
    </p:embeddedFont>
    <p:embeddedFont>
      <p:font typeface="Poppins Bold" panose="00000800000000000000" charset="0"/>
      <p:regular r:id="rId46"/>
      <p:bold r:id="rId47"/>
    </p:embeddedFont>
    <p:embeddedFont>
      <p:font typeface="Rajdhani" panose="020B0604020202020204" charset="0"/>
      <p:regular r:id="rId48"/>
      <p:bold r:id="rId49"/>
    </p:embeddedFont>
    <p:embeddedFont>
      <p:font typeface="Roboto" panose="02000000000000000000" pitchFamily="2" charset="0"/>
      <p:regular r:id="rId50"/>
      <p:bold r:id="rId51"/>
      <p:italic r:id="rId52"/>
      <p:boldItalic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9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3153D7-965C-4B71-8444-98040B725509}" v="130" dt="2025-01-15T10:20:36.503"/>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447" autoAdjust="0"/>
  </p:normalViewPr>
  <p:slideViewPr>
    <p:cSldViewPr>
      <p:cViewPr>
        <p:scale>
          <a:sx n="20" d="100"/>
          <a:sy n="20" d="100"/>
        </p:scale>
        <p:origin x="2060" y="6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da shqerat" userId="6bee07b4eb9839cb" providerId="LiveId" clId="{593153D7-965C-4B71-8444-98040B725509}"/>
    <pc:docChg chg="undo custSel addSld delSld modSld">
      <pc:chgData name="huda shqerat" userId="6bee07b4eb9839cb" providerId="LiveId" clId="{593153D7-965C-4B71-8444-98040B725509}" dt="2025-01-15T10:20:36.503" v="264" actId="1076"/>
      <pc:docMkLst>
        <pc:docMk/>
      </pc:docMkLst>
      <pc:sldChg chg="modSp mod">
        <pc:chgData name="huda shqerat" userId="6bee07b4eb9839cb" providerId="LiveId" clId="{593153D7-965C-4B71-8444-98040B725509}" dt="2025-01-14T18:25:43.848" v="245" actId="313"/>
        <pc:sldMkLst>
          <pc:docMk/>
          <pc:sldMk cId="0" sldId="256"/>
        </pc:sldMkLst>
        <pc:spChg chg="mod">
          <ac:chgData name="huda shqerat" userId="6bee07b4eb9839cb" providerId="LiveId" clId="{593153D7-965C-4B71-8444-98040B725509}" dt="2025-01-14T18:25:43.848" v="245" actId="313"/>
          <ac:spMkLst>
            <pc:docMk/>
            <pc:sldMk cId="0" sldId="256"/>
            <ac:spMk id="19" creationId="{00000000-0000-0000-0000-000000000000}"/>
          </ac:spMkLst>
        </pc:spChg>
      </pc:sldChg>
      <pc:sldChg chg="addSp delSp modSp mod modAnim">
        <pc:chgData name="huda shqerat" userId="6bee07b4eb9839cb" providerId="LiveId" clId="{593153D7-965C-4B71-8444-98040B725509}" dt="2025-01-15T10:20:36.503" v="264" actId="1076"/>
        <pc:sldMkLst>
          <pc:docMk/>
          <pc:sldMk cId="0" sldId="257"/>
        </pc:sldMkLst>
        <pc:spChg chg="add mod">
          <ac:chgData name="huda shqerat" userId="6bee07b4eb9839cb" providerId="LiveId" clId="{593153D7-965C-4B71-8444-98040B725509}" dt="2025-01-15T10:19:11.281" v="258" actId="1076"/>
          <ac:spMkLst>
            <pc:docMk/>
            <pc:sldMk cId="0" sldId="257"/>
            <ac:spMk id="9" creationId="{505FB355-3181-DFA9-5323-763E685C5019}"/>
          </ac:spMkLst>
        </pc:spChg>
        <pc:spChg chg="mod ord">
          <ac:chgData name="huda shqerat" userId="6bee07b4eb9839cb" providerId="LiveId" clId="{593153D7-965C-4B71-8444-98040B725509}" dt="2025-01-15T10:19:23.195" v="259" actId="1076"/>
          <ac:spMkLst>
            <pc:docMk/>
            <pc:sldMk cId="0" sldId="257"/>
            <ac:spMk id="18" creationId="{3AA64559-DDCE-288D-16DE-C6F87CA15F10}"/>
          </ac:spMkLst>
        </pc:spChg>
        <pc:spChg chg="mod">
          <ac:chgData name="huda shqerat" userId="6bee07b4eb9839cb" providerId="LiveId" clId="{593153D7-965C-4B71-8444-98040B725509}" dt="2025-01-12T16:55:30.913" v="158" actId="1076"/>
          <ac:spMkLst>
            <pc:docMk/>
            <pc:sldMk cId="0" sldId="257"/>
            <ac:spMk id="21" creationId="{00000000-0000-0000-0000-000000000000}"/>
          </ac:spMkLst>
        </pc:spChg>
        <pc:spChg chg="mod">
          <ac:chgData name="huda shqerat" userId="6bee07b4eb9839cb" providerId="LiveId" clId="{593153D7-965C-4B71-8444-98040B725509}" dt="2025-01-15T10:18:54.835" v="257" actId="14100"/>
          <ac:spMkLst>
            <pc:docMk/>
            <pc:sldMk cId="0" sldId="257"/>
            <ac:spMk id="30" creationId="{67AECB47-BDEA-F0C4-A15A-1B58232ACB64}"/>
          </ac:spMkLst>
        </pc:spChg>
        <pc:picChg chg="mod">
          <ac:chgData name="huda shqerat" userId="6bee07b4eb9839cb" providerId="LiveId" clId="{593153D7-965C-4B71-8444-98040B725509}" dt="2025-01-15T10:20:13.578" v="263" actId="1076"/>
          <ac:picMkLst>
            <pc:docMk/>
            <pc:sldMk cId="0" sldId="257"/>
            <ac:picMk id="19" creationId="{594CE34F-ADA5-FC53-11DA-C6BB39A0645B}"/>
          </ac:picMkLst>
        </pc:picChg>
        <pc:picChg chg="mod">
          <ac:chgData name="huda shqerat" userId="6bee07b4eb9839cb" providerId="LiveId" clId="{593153D7-965C-4B71-8444-98040B725509}" dt="2025-01-15T10:20:36.503" v="264" actId="1076"/>
          <ac:picMkLst>
            <pc:docMk/>
            <pc:sldMk cId="0" sldId="257"/>
            <ac:picMk id="20" creationId="{9263F102-A4FE-3097-5864-0B9192C67481}"/>
          </ac:picMkLst>
        </pc:picChg>
      </pc:sldChg>
      <pc:sldChg chg="modSp">
        <pc:chgData name="huda shqerat" userId="6bee07b4eb9839cb" providerId="LiveId" clId="{593153D7-965C-4B71-8444-98040B725509}" dt="2025-01-14T13:39:34.959" v="241"/>
        <pc:sldMkLst>
          <pc:docMk/>
          <pc:sldMk cId="0" sldId="262"/>
        </pc:sldMkLst>
        <pc:spChg chg="mod">
          <ac:chgData name="huda shqerat" userId="6bee07b4eb9839cb" providerId="LiveId" clId="{593153D7-965C-4B71-8444-98040B725509}" dt="2025-01-14T13:39:34.959" v="241"/>
          <ac:spMkLst>
            <pc:docMk/>
            <pc:sldMk cId="0" sldId="262"/>
            <ac:spMk id="19" creationId="{00000000-0000-0000-0000-000000000000}"/>
          </ac:spMkLst>
        </pc:spChg>
      </pc:sldChg>
      <pc:sldChg chg="modAnim">
        <pc:chgData name="huda shqerat" userId="6bee07b4eb9839cb" providerId="LiveId" clId="{593153D7-965C-4B71-8444-98040B725509}" dt="2025-01-12T12:23:02.744" v="17"/>
        <pc:sldMkLst>
          <pc:docMk/>
          <pc:sldMk cId="1063188726" sldId="286"/>
        </pc:sldMkLst>
      </pc:sldChg>
      <pc:sldChg chg="addSp modSp mod modAnim">
        <pc:chgData name="huda shqerat" userId="6bee07b4eb9839cb" providerId="LiveId" clId="{593153D7-965C-4B71-8444-98040B725509}" dt="2025-01-13T17:31:49.560" v="240"/>
        <pc:sldMkLst>
          <pc:docMk/>
          <pc:sldMk cId="1587898414" sldId="302"/>
        </pc:sldMkLst>
        <pc:spChg chg="mod">
          <ac:chgData name="huda shqerat" userId="6bee07b4eb9839cb" providerId="LiveId" clId="{593153D7-965C-4B71-8444-98040B725509}" dt="2025-01-13T17:31:30.140" v="238" actId="20577"/>
          <ac:spMkLst>
            <pc:docMk/>
            <pc:sldMk cId="1587898414" sldId="302"/>
            <ac:spMk id="14" creationId="{123B4873-E0F9-4DBE-643E-5800306F6088}"/>
          </ac:spMkLst>
        </pc:spChg>
        <pc:spChg chg="add mod">
          <ac:chgData name="huda shqerat" userId="6bee07b4eb9839cb" providerId="LiveId" clId="{593153D7-965C-4B71-8444-98040B725509}" dt="2025-01-13T17:30:52.206" v="228" actId="20577"/>
          <ac:spMkLst>
            <pc:docMk/>
            <pc:sldMk cId="1587898414" sldId="302"/>
            <ac:spMk id="21" creationId="{2BC9B710-B7E3-B1E4-604F-A82F69CCEBA4}"/>
          </ac:spMkLst>
        </pc:spChg>
      </pc:sldChg>
      <pc:sldChg chg="addSp modSp new del mod">
        <pc:chgData name="huda shqerat" userId="6bee07b4eb9839cb" providerId="LiveId" clId="{593153D7-965C-4B71-8444-98040B725509}" dt="2025-01-12T16:57:09.676" v="166" actId="47"/>
        <pc:sldMkLst>
          <pc:docMk/>
          <pc:sldMk cId="3476346537"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F0F256-AAB5-46D4-8DFF-357EA751B5D4}"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F57A2-9262-43CE-82EB-61D13A6E22D2}" type="slidenum">
              <a:rPr lang="en-US" smtClean="0"/>
              <a:t>‹#›</a:t>
            </a:fld>
            <a:endParaRPr lang="en-US"/>
          </a:p>
        </p:txBody>
      </p:sp>
    </p:spTree>
    <p:extLst>
      <p:ext uri="{BB962C8B-B14F-4D97-AF65-F5344CB8AC3E}">
        <p14:creationId xmlns:p14="http://schemas.microsoft.com/office/powerpoint/2010/main" val="257120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6F57A2-9262-43CE-82EB-61D13A6E22D2}" type="slidenum">
              <a:rPr lang="en-US" smtClean="0"/>
              <a:t>16</a:t>
            </a:fld>
            <a:endParaRPr lang="en-US"/>
          </a:p>
        </p:txBody>
      </p:sp>
    </p:spTree>
    <p:extLst>
      <p:ext uri="{BB962C8B-B14F-4D97-AF65-F5344CB8AC3E}">
        <p14:creationId xmlns:p14="http://schemas.microsoft.com/office/powerpoint/2010/main" val="244262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6F57A2-9262-43CE-82EB-61D13A6E22D2}" type="slidenum">
              <a:rPr lang="en-US" smtClean="0"/>
              <a:t>30</a:t>
            </a:fld>
            <a:endParaRPr lang="en-US"/>
          </a:p>
        </p:txBody>
      </p:sp>
    </p:spTree>
    <p:extLst>
      <p:ext uri="{BB962C8B-B14F-4D97-AF65-F5344CB8AC3E}">
        <p14:creationId xmlns:p14="http://schemas.microsoft.com/office/powerpoint/2010/main" val="2943107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0938">
                <a:alpha val="100000"/>
              </a:srgbClr>
            </a:gs>
            <a:gs pos="100000">
              <a:srgbClr val="000935">
                <a:alpha val="100000"/>
              </a:srgbClr>
            </a:gs>
          </a:gsLst>
          <a:lin ang="27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slide" Target="slide5.xml"/><Relationship Id="rId7" Type="http://schemas.openxmlformats.org/officeDocument/2006/relationships/slide" Target="slide7.xml"/><Relationship Id="rId12"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image" Target="../media/image3.png"/><Relationship Id="rId5" Type="http://schemas.openxmlformats.org/officeDocument/2006/relationships/slide" Target="slide6.xml"/><Relationship Id="rId10" Type="http://schemas.openxmlformats.org/officeDocument/2006/relationships/image" Target="../media/image10.jpg"/><Relationship Id="rId4" Type="http://schemas.openxmlformats.org/officeDocument/2006/relationships/image" Target="../media/image7.jpeg"/><Relationship Id="rId9"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5.jpeg"/><Relationship Id="rId5" Type="http://schemas.microsoft.com/office/2007/relationships/hdphoto" Target="../media/hdphoto3.wdp"/><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18.jpg"/><Relationship Id="rId12" Type="http://schemas.openxmlformats.org/officeDocument/2006/relationships/image" Target="../media/image20.jpg"/><Relationship Id="rId2" Type="http://schemas.openxmlformats.org/officeDocument/2006/relationships/slide" Target="slide14.xml"/><Relationship Id="rId1" Type="http://schemas.openxmlformats.org/officeDocument/2006/relationships/slideLayout" Target="../slideLayouts/slideLayout7.xml"/><Relationship Id="rId6" Type="http://schemas.openxmlformats.org/officeDocument/2006/relationships/slide" Target="slide12.xml"/><Relationship Id="rId11" Type="http://schemas.openxmlformats.org/officeDocument/2006/relationships/slide" Target="slide15.xml"/><Relationship Id="rId5" Type="http://schemas.openxmlformats.org/officeDocument/2006/relationships/image" Target="../media/image17.jpg"/><Relationship Id="rId10" Type="http://schemas.microsoft.com/office/2007/relationships/hdphoto" Target="../media/hdphoto4.wdp"/><Relationship Id="rId4" Type="http://schemas.openxmlformats.org/officeDocument/2006/relationships/slide" Target="slide11.xml"/><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slide" Target="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10.xml"/><Relationship Id="rId1" Type="http://schemas.openxmlformats.org/officeDocument/2006/relationships/slideLayout" Target="../slideLayouts/slideLayout7.xml"/><Relationship Id="rId4" Type="http://schemas.microsoft.com/office/2007/relationships/hdphoto" Target="../media/hdphoto4.wdp"/></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 Target="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slide" Target="slide10.xml"/><Relationship Id="rId1" Type="http://schemas.openxmlformats.org/officeDocument/2006/relationships/slideLayout" Target="../slideLayouts/slideLayout7.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14.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3.png"/><Relationship Id="rId7" Type="http://schemas.openxmlformats.org/officeDocument/2006/relationships/slide" Target="slide21.xml"/><Relationship Id="rId12" Type="http://schemas.openxmlformats.org/officeDocument/2006/relationships/image" Target="../media/image27.jp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24.jpg"/><Relationship Id="rId11" Type="http://schemas.openxmlformats.org/officeDocument/2006/relationships/slide" Target="slide19.xml"/><Relationship Id="rId5" Type="http://schemas.openxmlformats.org/officeDocument/2006/relationships/slide" Target="slide22.xml"/><Relationship Id="rId10" Type="http://schemas.openxmlformats.org/officeDocument/2006/relationships/image" Target="../media/image26.jpg"/><Relationship Id="rId4" Type="http://schemas.microsoft.com/office/2007/relationships/hdphoto" Target="../media/hdphoto5.wdp"/><Relationship Id="rId9"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 Target="slide20.xml"/><Relationship Id="rId1" Type="http://schemas.openxmlformats.org/officeDocument/2006/relationships/slideLayout" Target="../slideLayouts/slideLayout7.xml"/><Relationship Id="rId5" Type="http://schemas.openxmlformats.org/officeDocument/2006/relationships/slide" Target="slide17.xml"/><Relationship Id="rId4" Type="http://schemas.microsoft.com/office/2007/relationships/hdphoto" Target="../media/hdphoto5.wdp"/></Relationships>
</file>

<file path=ppt/slides/_rels/slide2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slide" Target="slide21.xml"/><Relationship Id="rId1" Type="http://schemas.openxmlformats.org/officeDocument/2006/relationships/slideLayout" Target="../slideLayouts/slideLayout7.xml"/><Relationship Id="rId4" Type="http://schemas.openxmlformats.org/officeDocument/2006/relationships/slide" Target="slide17.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slide" Target="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8.jpeg"/><Relationship Id="rId5" Type="http://schemas.microsoft.com/office/2007/relationships/hdphoto" Target="../media/hdphoto3.wdp"/><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1.png"/><Relationship Id="rId12" Type="http://schemas.openxmlformats.org/officeDocument/2006/relationships/image" Target="../media/image33.jpg"/><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slide" Target="slide27.xml"/><Relationship Id="rId11" Type="http://schemas.openxmlformats.org/officeDocument/2006/relationships/slide" Target="slide29.xml"/><Relationship Id="rId5" Type="http://schemas.openxmlformats.org/officeDocument/2006/relationships/image" Target="../media/image30.jpg"/><Relationship Id="rId10" Type="http://schemas.openxmlformats.org/officeDocument/2006/relationships/image" Target="../media/image32.jpg"/><Relationship Id="rId4" Type="http://schemas.openxmlformats.org/officeDocument/2006/relationships/slide" Target="slide26.xml"/><Relationship Id="rId9" Type="http://schemas.openxmlformats.org/officeDocument/2006/relationships/slide" Target="slide28.xml"/></Relationships>
</file>

<file path=ppt/slides/_rels/slide25.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slide" Target="slide24.xml"/></Relationships>
</file>

<file path=ppt/slides/_rels/slide28.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slide" Target="slide24.xml"/><Relationship Id="rId1" Type="http://schemas.openxmlformats.org/officeDocument/2006/relationships/slideLayout" Target="../slideLayouts/slideLayout7.xml"/><Relationship Id="rId4" Type="http://schemas.openxmlformats.org/officeDocument/2006/relationships/image" Target="../media/image34.jp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314264" y="0"/>
            <a:ext cx="11973736" cy="10287000"/>
            <a:chOff x="0" y="0"/>
            <a:chExt cx="3153576" cy="2709333"/>
          </a:xfrm>
        </p:grpSpPr>
        <p:sp>
          <p:nvSpPr>
            <p:cNvPr id="4" name="Freeform 4"/>
            <p:cNvSpPr/>
            <p:nvPr/>
          </p:nvSpPr>
          <p:spPr>
            <a:xfrm>
              <a:off x="0" y="0"/>
              <a:ext cx="3153577" cy="2709333"/>
            </a:xfrm>
            <a:custGeom>
              <a:avLst/>
              <a:gdLst/>
              <a:ahLst/>
              <a:cxnLst/>
              <a:rect l="l" t="t" r="r" b="b"/>
              <a:pathLst>
                <a:path w="3153577" h="2709333">
                  <a:moveTo>
                    <a:pt x="0" y="0"/>
                  </a:moveTo>
                  <a:lnTo>
                    <a:pt x="3153577" y="0"/>
                  </a:lnTo>
                  <a:lnTo>
                    <a:pt x="3153577" y="2709333"/>
                  </a:lnTo>
                  <a:lnTo>
                    <a:pt x="0" y="2709333"/>
                  </a:lnTo>
                  <a:close/>
                </a:path>
              </a:pathLst>
            </a:custGeom>
            <a:gradFill rotWithShape="1">
              <a:gsLst>
                <a:gs pos="0">
                  <a:srgbClr val="1F3291">
                    <a:alpha val="0"/>
                  </a:srgbClr>
                </a:gs>
                <a:gs pos="100000">
                  <a:srgbClr val="000935">
                    <a:alpha val="100000"/>
                  </a:srgbClr>
                </a:gs>
              </a:gsLst>
              <a:lin ang="0"/>
            </a:gradFill>
          </p:spPr>
          <p:txBody>
            <a:bodyPr/>
            <a:lstStyle/>
            <a:p>
              <a:endParaRPr lang="en-US"/>
            </a:p>
          </p:txBody>
        </p:sp>
        <p:sp>
          <p:nvSpPr>
            <p:cNvPr id="5" name="TextBox 5"/>
            <p:cNvSpPr txBox="1"/>
            <p:nvPr/>
          </p:nvSpPr>
          <p:spPr>
            <a:xfrm>
              <a:off x="0" y="-38100"/>
              <a:ext cx="3153576"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742216" y="7517957"/>
            <a:ext cx="47625" cy="1740345"/>
            <a:chOff x="0" y="0"/>
            <a:chExt cx="12543" cy="458362"/>
          </a:xfrm>
        </p:grpSpPr>
        <p:sp>
          <p:nvSpPr>
            <p:cNvPr id="7" name="Freeform 7"/>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7259301" y="1"/>
            <a:ext cx="1028700" cy="1028700"/>
            <a:chOff x="0" y="0"/>
            <a:chExt cx="270933" cy="270933"/>
          </a:xfrm>
        </p:grpSpPr>
        <p:sp>
          <p:nvSpPr>
            <p:cNvPr id="11" name="Freeform 11"/>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12" name="TextBox 12"/>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5" name="TextBox 15"/>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6" name="TextBox 16"/>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7" name="TextBox 17"/>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8" name="TextBox 18"/>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01</a:t>
            </a:r>
          </a:p>
        </p:txBody>
      </p:sp>
      <p:sp>
        <p:nvSpPr>
          <p:cNvPr id="19" name="TextBox 19"/>
          <p:cNvSpPr txBox="1"/>
          <p:nvPr/>
        </p:nvSpPr>
        <p:spPr>
          <a:xfrm>
            <a:off x="7563114" y="2522595"/>
            <a:ext cx="11182350" cy="3016210"/>
          </a:xfrm>
          <a:prstGeom prst="rect">
            <a:avLst/>
          </a:prstGeom>
        </p:spPr>
        <p:txBody>
          <a:bodyPr wrap="square" lIns="0" tIns="0" rIns="0" bIns="0" rtlCol="0" anchor="t">
            <a:spAutoFit/>
          </a:bodyPr>
          <a:lstStyle/>
          <a:p>
            <a:pPr>
              <a:spcBef>
                <a:spcPct val="0"/>
              </a:spcBef>
            </a:pPr>
            <a:r>
              <a:rPr lang="en-US" sz="9800" dirty="0">
                <a:solidFill>
                  <a:srgbClr val="FFFFFF"/>
                </a:solidFill>
                <a:latin typeface="Bebas Neue Cyrillic"/>
                <a:ea typeface="Bebas Neue Cyrillic"/>
                <a:cs typeface="Bebas Neue Cyrillic"/>
                <a:sym typeface="Bebas Neue Cyrillic"/>
              </a:rPr>
              <a:t>EMOTION Recognition</a:t>
            </a:r>
            <a:endParaRPr lang="ar-BH" sz="9800" dirty="0">
              <a:solidFill>
                <a:srgbClr val="FFFFFF"/>
              </a:solidFill>
              <a:latin typeface="Bebas Neue Cyrillic"/>
              <a:ea typeface="Bebas Neue Cyrillic"/>
              <a:cs typeface="Bebas Neue Cyrillic"/>
              <a:sym typeface="Bebas Neue Cyrillic"/>
            </a:endParaRPr>
          </a:p>
          <a:p>
            <a:pPr>
              <a:spcBef>
                <a:spcPct val="0"/>
              </a:spcBef>
            </a:pPr>
            <a:r>
              <a:rPr lang="en-US" sz="9800" dirty="0">
                <a:solidFill>
                  <a:srgbClr val="FFFFFF"/>
                </a:solidFill>
                <a:latin typeface="Bebas Neue Cyrillic"/>
                <a:ea typeface="Bebas Neue Cyrillic"/>
                <a:cs typeface="Bebas Neue Cyrillic"/>
                <a:sym typeface="Bebas Neue Cyrillic"/>
              </a:rPr>
              <a:t>USING FACIAL EXPRESSIONS</a:t>
            </a:r>
          </a:p>
        </p:txBody>
      </p:sp>
      <p:grpSp>
        <p:nvGrpSpPr>
          <p:cNvPr id="21" name="Group 21"/>
          <p:cNvGrpSpPr/>
          <p:nvPr/>
        </p:nvGrpSpPr>
        <p:grpSpPr>
          <a:xfrm>
            <a:off x="9187153" y="6301055"/>
            <a:ext cx="6526921" cy="623295"/>
            <a:chOff x="0" y="0"/>
            <a:chExt cx="1719024" cy="164160"/>
          </a:xfrm>
        </p:grpSpPr>
        <p:sp>
          <p:nvSpPr>
            <p:cNvPr id="22" name="Freeform 22"/>
            <p:cNvSpPr/>
            <p:nvPr/>
          </p:nvSpPr>
          <p:spPr>
            <a:xfrm>
              <a:off x="0" y="0"/>
              <a:ext cx="1719024" cy="164160"/>
            </a:xfrm>
            <a:custGeom>
              <a:avLst/>
              <a:gdLst/>
              <a:ahLst/>
              <a:cxnLst/>
              <a:rect l="l" t="t" r="r" b="b"/>
              <a:pathLst>
                <a:path w="1719024" h="164160">
                  <a:moveTo>
                    <a:pt x="0" y="0"/>
                  </a:moveTo>
                  <a:lnTo>
                    <a:pt x="1719024" y="0"/>
                  </a:lnTo>
                  <a:lnTo>
                    <a:pt x="1719024" y="164160"/>
                  </a:lnTo>
                  <a:lnTo>
                    <a:pt x="0" y="164160"/>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3" name="TextBox 23"/>
            <p:cNvSpPr txBox="1"/>
            <p:nvPr/>
          </p:nvSpPr>
          <p:spPr>
            <a:xfrm>
              <a:off x="0" y="-38100"/>
              <a:ext cx="1719024" cy="202260"/>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9187153" y="6466372"/>
            <a:ext cx="6526921" cy="282129"/>
          </a:xfrm>
          <a:prstGeom prst="rect">
            <a:avLst/>
          </a:prstGeom>
        </p:spPr>
        <p:txBody>
          <a:bodyPr lIns="0" tIns="0" rIns="0" bIns="0" rtlCol="0" anchor="t">
            <a:spAutoFit/>
          </a:bodyPr>
          <a:lstStyle/>
          <a:p>
            <a:pPr algn="ctr">
              <a:lnSpc>
                <a:spcPts val="2239"/>
              </a:lnSpc>
              <a:spcBef>
                <a:spcPct val="0"/>
              </a:spcBef>
            </a:pPr>
            <a:r>
              <a:rPr lang="en-US" sz="2000" spc="1011" dirty="0">
                <a:solidFill>
                  <a:srgbClr val="FFFFFF"/>
                </a:solidFill>
                <a:latin typeface="Open Sans"/>
                <a:ea typeface="Open Sans"/>
                <a:cs typeface="Open Sans"/>
                <a:sym typeface="Open Sans"/>
              </a:rPr>
              <a:t>Project Deep Learning</a:t>
            </a:r>
          </a:p>
        </p:txBody>
      </p:sp>
      <p:pic>
        <p:nvPicPr>
          <p:cNvPr id="5130" name="Picture 10">
            <a:extLst>
              <a:ext uri="{FF2B5EF4-FFF2-40B4-BE49-F238E27FC236}">
                <a16:creationId xmlns:a16="http://schemas.microsoft.com/office/drawing/2014/main" id="{2923C2FA-D79A-6565-5415-36164EFB4E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2465" y="1232283"/>
            <a:ext cx="13553053" cy="90547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773652" y="6057901"/>
            <a:ext cx="47625" cy="1740345"/>
            <a:chOff x="0" y="0"/>
            <a:chExt cx="12543" cy="458362"/>
          </a:xfrm>
        </p:grpSpPr>
        <p:sp>
          <p:nvSpPr>
            <p:cNvPr id="3" name="Freeform 3"/>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59301" y="1"/>
            <a:ext cx="1028700" cy="1028700"/>
            <a:chOff x="0" y="0"/>
            <a:chExt cx="270933" cy="270933"/>
          </a:xfrm>
        </p:grpSpPr>
        <p:sp>
          <p:nvSpPr>
            <p:cNvPr id="7" name="Freeform 7"/>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02</a:t>
            </a:r>
          </a:p>
        </p:txBody>
      </p:sp>
      <p:sp>
        <p:nvSpPr>
          <p:cNvPr id="21" name="TextBox 21"/>
          <p:cNvSpPr txBox="1"/>
          <p:nvPr/>
        </p:nvSpPr>
        <p:spPr>
          <a:xfrm>
            <a:off x="885282" y="1123013"/>
            <a:ext cx="6658815" cy="993477"/>
          </a:xfrm>
          <a:prstGeom prst="rect">
            <a:avLst/>
          </a:prstGeom>
        </p:spPr>
        <p:txBody>
          <a:bodyPr wrap="square" lIns="0" tIns="0" rIns="0" bIns="0" rtlCol="0" anchor="t">
            <a:spAutoFit/>
          </a:bodyPr>
          <a:lstStyle/>
          <a:p>
            <a:pPr>
              <a:lnSpc>
                <a:spcPts val="7462"/>
              </a:lnSpc>
            </a:pPr>
            <a:r>
              <a:rPr lang="en-US" sz="8000" dirty="0">
                <a:solidFill>
                  <a:srgbClr val="FFFFFF"/>
                </a:solidFill>
                <a:latin typeface="Poppins Bold"/>
                <a:ea typeface="Poppins Bold"/>
                <a:cs typeface="Poppins Bold"/>
                <a:sym typeface="Poppins Bold"/>
              </a:rPr>
              <a:t>Introduction</a:t>
            </a:r>
            <a:endParaRPr lang="en-US" sz="7389" dirty="0">
              <a:solidFill>
                <a:srgbClr val="FFFFFF"/>
              </a:solidFill>
              <a:latin typeface="Bebas Neue Cyrillic"/>
              <a:ea typeface="Bebas Neue Cyrillic"/>
              <a:cs typeface="Bebas Neue Cyrillic"/>
              <a:sym typeface="Bebas Neue Cyrillic"/>
            </a:endParaRPr>
          </a:p>
        </p:txBody>
      </p:sp>
      <p:sp>
        <p:nvSpPr>
          <p:cNvPr id="30" name="Rectangle 29">
            <a:extLst>
              <a:ext uri="{FF2B5EF4-FFF2-40B4-BE49-F238E27FC236}">
                <a16:creationId xmlns:a16="http://schemas.microsoft.com/office/drawing/2014/main" id="{67AECB47-BDEA-F0C4-A15A-1B58232ACB64}"/>
              </a:ext>
            </a:extLst>
          </p:cNvPr>
          <p:cNvSpPr/>
          <p:nvPr/>
        </p:nvSpPr>
        <p:spPr>
          <a:xfrm>
            <a:off x="1005781" y="2080630"/>
            <a:ext cx="15073959" cy="6187070"/>
          </a:xfrm>
          <a:prstGeom prst="rect">
            <a:avLst/>
          </a:prstGeom>
          <a:noFill/>
        </p:spPr>
        <p:txBody>
          <a:bodyPr wrap="square" lIns="91440" tIns="45720" rIns="91440" bIns="45720">
            <a:spAutoFit/>
          </a:bodyPr>
          <a:lstStyle/>
          <a:p>
            <a:r>
              <a:rPr lang="en-US" sz="2800" b="0" i="0" dirty="0">
                <a:solidFill>
                  <a:schemeClr val="bg1"/>
                </a:solidFill>
                <a:effectLst/>
                <a:latin typeface="Calibri (Body)"/>
              </a:rPr>
              <a:t>Facial expression analysis is an advanced field in artificial intelligence, and it can be used to accurately recognize human emotions. This field has wide applications in areas such as security, healthcare, and entertainment. The emotion recognition project using deep learning aims to develop a system capable of identifying human emotions through facial expression analysis. The project relies on deep learning techniques to process images and extract features that distinguish each facial expression. A deep neural network model is trained on a large dataset to classify emotions such as happiness and sadness.</a:t>
            </a:r>
            <a:endParaRPr lang="ar-JO" sz="2800" b="0" i="0" dirty="0">
              <a:solidFill>
                <a:schemeClr val="bg1"/>
              </a:solidFill>
              <a:effectLst/>
              <a:latin typeface="Calibri (Body)"/>
            </a:endParaRPr>
          </a:p>
          <a:p>
            <a:endParaRPr lang="ar-JO" sz="2400" b="1" dirty="0">
              <a:solidFill>
                <a:schemeClr val="bg1"/>
              </a:solidFill>
              <a:latin typeface="Calibri (Body)"/>
            </a:endParaRPr>
          </a:p>
          <a:p>
            <a:r>
              <a:rPr lang="en-US" sz="2800" b="1" dirty="0">
                <a:solidFill>
                  <a:schemeClr val="bg1"/>
                </a:solidFill>
              </a:rPr>
              <a:t>Project Objectives</a:t>
            </a:r>
          </a:p>
          <a:p>
            <a:pPr marL="800100" lvl="1" indent="-342900">
              <a:buFont typeface="Wingdings" panose="05000000000000000000" pitchFamily="2" charset="2"/>
              <a:buChar char="Ø"/>
            </a:pPr>
            <a:r>
              <a:rPr lang="ar-JO" sz="2400" dirty="0">
                <a:solidFill>
                  <a:schemeClr val="bg1"/>
                </a:solidFill>
              </a:rPr>
              <a:t> </a:t>
            </a:r>
            <a:r>
              <a:rPr lang="en-US" sz="2400" dirty="0">
                <a:solidFill>
                  <a:schemeClr val="bg1"/>
                </a:solidFill>
              </a:rPr>
              <a:t>Leverage Pre-Trained Models:</a:t>
            </a:r>
          </a:p>
          <a:p>
            <a:pPr marL="1257300" lvl="2" indent="-342900">
              <a:buFont typeface="Wingdings" panose="05000000000000000000" pitchFamily="2" charset="2"/>
              <a:buChar char="§"/>
            </a:pPr>
            <a:r>
              <a:rPr lang="en-US" sz="2400" dirty="0">
                <a:solidFill>
                  <a:schemeClr val="bg1"/>
                </a:solidFill>
              </a:rPr>
              <a:t>Pre-trained models such as ResNet-50 and EfficientNet were utilized for emotion recognition tasks.</a:t>
            </a:r>
          </a:p>
          <a:p>
            <a:pPr marL="1257300" lvl="2" indent="-342900">
              <a:buFont typeface="Wingdings" panose="05000000000000000000" pitchFamily="2" charset="2"/>
              <a:buChar char="§"/>
            </a:pPr>
            <a:r>
              <a:rPr lang="en-US" sz="2400" dirty="0">
                <a:solidFill>
                  <a:schemeClr val="bg1"/>
                </a:solidFill>
              </a:rPr>
              <a:t>These models were effectively applied to the dataset, achieving high in classifying emotions.</a:t>
            </a:r>
          </a:p>
          <a:p>
            <a:pPr marL="800100" lvl="1" indent="-342900">
              <a:buFont typeface="Wingdings" panose="05000000000000000000" pitchFamily="2" charset="2"/>
              <a:buChar char="Ø"/>
            </a:pPr>
            <a:r>
              <a:rPr lang="en-US" sz="2400" dirty="0">
                <a:solidFill>
                  <a:schemeClr val="bg1"/>
                </a:solidFill>
              </a:rPr>
              <a:t>Develop a Custom Convolutional Neural Network (CNN):</a:t>
            </a:r>
          </a:p>
          <a:p>
            <a:pPr marL="1371600" lvl="2" indent="-457200">
              <a:buFont typeface="Wingdings" panose="05000000000000000000" pitchFamily="2" charset="2"/>
              <a:buChar char="§"/>
            </a:pPr>
            <a:r>
              <a:rPr lang="en-US" sz="2400" dirty="0">
                <a:solidFill>
                  <a:schemeClr val="bg1"/>
                </a:solidFill>
              </a:rPr>
              <a:t>A custom CNN was specifically designed and trained for emotion recognition.</a:t>
            </a:r>
          </a:p>
          <a:p>
            <a:pPr marL="1371600" lvl="2" indent="-457200">
              <a:buFont typeface="Wingdings" panose="05000000000000000000" pitchFamily="2" charset="2"/>
              <a:buChar char="§"/>
            </a:pPr>
            <a:r>
              <a:rPr lang="en-US" sz="2400" dirty="0">
                <a:solidFill>
                  <a:schemeClr val="bg1"/>
                </a:solidFill>
              </a:rPr>
              <a:t>The architecture was tailored to the dataset, addressing the unique characteristics of facial expression data and improving classification performance.</a:t>
            </a:r>
          </a:p>
        </p:txBody>
      </p:sp>
      <p:pic>
        <p:nvPicPr>
          <p:cNvPr id="40" name="Google Shape;596;p61">
            <a:extLst>
              <a:ext uri="{FF2B5EF4-FFF2-40B4-BE49-F238E27FC236}">
                <a16:creationId xmlns:a16="http://schemas.microsoft.com/office/drawing/2014/main" id="{3F234536-82C4-A16A-510F-17D4569A00BC}"/>
              </a:ext>
            </a:extLst>
          </p:cNvPr>
          <p:cNvPicPr preferRelativeResize="0"/>
          <p:nvPr/>
        </p:nvPicPr>
        <p:blipFill>
          <a:blip r:embed="rId2">
            <a:alphaModFix/>
          </a:blip>
          <a:stretch>
            <a:fillRect/>
          </a:stretch>
        </p:blipFill>
        <p:spPr>
          <a:xfrm>
            <a:off x="-398882" y="-1105856"/>
            <a:ext cx="2441750" cy="2087434"/>
          </a:xfrm>
          <a:prstGeom prst="rect">
            <a:avLst/>
          </a:prstGeom>
          <a:noFill/>
          <a:ln>
            <a:noFill/>
          </a:ln>
        </p:spPr>
      </p:pic>
      <p:sp>
        <p:nvSpPr>
          <p:cNvPr id="5" name="Freeform 18">
            <a:extLst>
              <a:ext uri="{FF2B5EF4-FFF2-40B4-BE49-F238E27FC236}">
                <a16:creationId xmlns:a16="http://schemas.microsoft.com/office/drawing/2014/main" id="{3EB04AB1-5FAE-ED11-E4D3-F8E20AC5DAC8}"/>
              </a:ext>
            </a:extLst>
          </p:cNvPr>
          <p:cNvSpPr/>
          <p:nvPr/>
        </p:nvSpPr>
        <p:spPr>
          <a:xfrm>
            <a:off x="16733968" y="3972186"/>
            <a:ext cx="791146" cy="850506"/>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988"/>
          </a:p>
        </p:txBody>
      </p:sp>
      <p:sp>
        <p:nvSpPr>
          <p:cNvPr id="9" name="Freeform 8">
            <a:extLst>
              <a:ext uri="{FF2B5EF4-FFF2-40B4-BE49-F238E27FC236}">
                <a16:creationId xmlns:a16="http://schemas.microsoft.com/office/drawing/2014/main" id="{505FB355-3181-DFA9-5323-763E685C5019}"/>
              </a:ext>
            </a:extLst>
          </p:cNvPr>
          <p:cNvSpPr/>
          <p:nvPr/>
        </p:nvSpPr>
        <p:spPr>
          <a:xfrm>
            <a:off x="302442" y="818755"/>
            <a:ext cx="17334762" cy="9305422"/>
          </a:xfrm>
          <a:custGeom>
            <a:avLst/>
            <a:gdLst/>
            <a:ahLst/>
            <a:cxnLst/>
            <a:rect l="l" t="t" r="r" b="b"/>
            <a:pathLst>
              <a:path w="1590676" h="374635">
                <a:moveTo>
                  <a:pt x="50081" y="0"/>
                </a:moveTo>
                <a:lnTo>
                  <a:pt x="1540595" y="0"/>
                </a:lnTo>
                <a:cubicBezTo>
                  <a:pt x="1553878" y="0"/>
                  <a:pt x="1566616" y="5276"/>
                  <a:pt x="1576008" y="14668"/>
                </a:cubicBezTo>
                <a:cubicBezTo>
                  <a:pt x="1585400" y="24060"/>
                  <a:pt x="1590676" y="36799"/>
                  <a:pt x="1590676" y="50081"/>
                </a:cubicBezTo>
                <a:lnTo>
                  <a:pt x="1590676" y="324554"/>
                </a:lnTo>
                <a:cubicBezTo>
                  <a:pt x="1590676" y="352213"/>
                  <a:pt x="1568254" y="374635"/>
                  <a:pt x="1540595" y="374635"/>
                </a:cubicBezTo>
                <a:lnTo>
                  <a:pt x="50081" y="374635"/>
                </a:lnTo>
                <a:cubicBezTo>
                  <a:pt x="36799" y="374635"/>
                  <a:pt x="24060" y="369359"/>
                  <a:pt x="14668" y="359967"/>
                </a:cubicBezTo>
                <a:cubicBezTo>
                  <a:pt x="5276" y="350575"/>
                  <a:pt x="0" y="337837"/>
                  <a:pt x="0" y="324554"/>
                </a:cubicBezTo>
                <a:lnTo>
                  <a:pt x="0" y="50081"/>
                </a:lnTo>
                <a:cubicBezTo>
                  <a:pt x="0" y="36799"/>
                  <a:pt x="5276" y="24060"/>
                  <a:pt x="14668" y="14668"/>
                </a:cubicBezTo>
                <a:cubicBezTo>
                  <a:pt x="24060" y="5276"/>
                  <a:pt x="36799" y="0"/>
                  <a:pt x="50081" y="0"/>
                </a:cubicBezTo>
                <a:close/>
              </a:path>
            </a:pathLst>
          </a:custGeom>
          <a:gradFill rotWithShape="1">
            <a:gsLst>
              <a:gs pos="0">
                <a:srgbClr val="164876">
                  <a:alpha val="30000"/>
                </a:srgbClr>
              </a:gs>
              <a:gs pos="100000">
                <a:srgbClr val="3099FA">
                  <a:alpha val="30000"/>
                </a:srgbClr>
              </a:gs>
            </a:gsLst>
            <a:lin ang="0"/>
          </a:gradFill>
          <a:ln w="38100" cap="rnd">
            <a:solidFill>
              <a:srgbClr val="FFFFFF">
                <a:alpha val="29804"/>
              </a:srgbClr>
            </a:solidFill>
            <a:prstDash val="solid"/>
            <a:round/>
          </a:ln>
          <a:scene3d>
            <a:camera prst="orthographicFront"/>
            <a:lightRig rig="threePt" dir="t"/>
          </a:scene3d>
          <a:sp3d>
            <a:bevelT/>
          </a:sp3d>
        </p:spPr>
        <p:txBody>
          <a:bodyPr/>
          <a:lstStyle/>
          <a:p>
            <a:endParaRPr lang="en-US" sz="988" dirty="0"/>
          </a:p>
        </p:txBody>
      </p:sp>
      <p:sp>
        <p:nvSpPr>
          <p:cNvPr id="18" name="Rectangle 17">
            <a:extLst>
              <a:ext uri="{FF2B5EF4-FFF2-40B4-BE49-F238E27FC236}">
                <a16:creationId xmlns:a16="http://schemas.microsoft.com/office/drawing/2014/main" id="{3AA64559-DDCE-288D-16DE-C6F87CA15F10}"/>
              </a:ext>
            </a:extLst>
          </p:cNvPr>
          <p:cNvSpPr/>
          <p:nvPr/>
        </p:nvSpPr>
        <p:spPr>
          <a:xfrm>
            <a:off x="-457201" y="0"/>
            <a:ext cx="18745201" cy="10431662"/>
          </a:xfrm>
          <a:prstGeom prst="rect">
            <a:avLst/>
          </a:prstGeom>
          <a:solidFill>
            <a:srgbClr val="000938"/>
          </a:solidFill>
          <a:ln>
            <a:solidFill>
              <a:srgbClr val="00093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20" name="Picture 6">
            <a:extLst>
              <a:ext uri="{FF2B5EF4-FFF2-40B4-BE49-F238E27FC236}">
                <a16:creationId xmlns:a16="http://schemas.microsoft.com/office/drawing/2014/main" id="{9263F102-A4FE-3097-5864-0B9192C67481}"/>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5300"/>
                    </a14:imgEffect>
                    <a14:imgEffect>
                      <a14:brightnessContrast bright="20000"/>
                    </a14:imgEffect>
                  </a14:imgLayer>
                </a14:imgProps>
              </a:ext>
              <a:ext uri="{28A0092B-C50C-407E-A947-70E740481C1C}">
                <a14:useLocalDpi xmlns:a14="http://schemas.microsoft.com/office/drawing/2010/main" val="0"/>
              </a:ext>
            </a:extLst>
          </a:blip>
          <a:srcRect l="50564"/>
          <a:stretch/>
        </p:blipFill>
        <p:spPr bwMode="auto">
          <a:xfrm>
            <a:off x="9352677" y="-356930"/>
            <a:ext cx="5989054" cy="1085817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594CE34F-ADA5-FC53-11DA-C6BB39A0645B}"/>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5300"/>
                    </a14:imgEffect>
                    <a14:imgEffect>
                      <a14:brightnessContrast bright="20000"/>
                    </a14:imgEffect>
                  </a14:imgLayer>
                </a14:imgProps>
              </a:ext>
              <a:ext uri="{28A0092B-C50C-407E-A947-70E740481C1C}">
                <a14:useLocalDpi xmlns:a14="http://schemas.microsoft.com/office/drawing/2010/main" val="0"/>
              </a:ext>
            </a:extLst>
          </a:blip>
          <a:srcRect r="49436"/>
          <a:stretch/>
        </p:blipFill>
        <p:spPr bwMode="auto">
          <a:xfrm>
            <a:off x="3279431" y="-358898"/>
            <a:ext cx="6125700" cy="108581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750"/>
                                        <p:tgtEl>
                                          <p:spTgt spid="18"/>
                                        </p:tgtEl>
                                      </p:cBhvr>
                                    </p:animEffect>
                                    <p:set>
                                      <p:cBhvr>
                                        <p:cTn id="7" dur="1" fill="hold">
                                          <p:stCondLst>
                                            <p:cond delay="1749"/>
                                          </p:stCondLst>
                                        </p:cTn>
                                        <p:tgtEl>
                                          <p:spTgt spid="18"/>
                                        </p:tgtEl>
                                        <p:attrNameLst>
                                          <p:attrName>style.visibility</p:attrName>
                                        </p:attrNameLst>
                                      </p:cBhvr>
                                      <p:to>
                                        <p:strVal val="hidden"/>
                                      </p:to>
                                    </p:set>
                                  </p:childTnLst>
                                </p:cTn>
                              </p:par>
                              <p:par>
                                <p:cTn id="8" presetID="35" presetClass="path" presetSubtype="0" accel="50000" decel="50000" fill="hold" nodeType="withEffect">
                                  <p:stCondLst>
                                    <p:cond delay="0"/>
                                  </p:stCondLst>
                                  <p:childTnLst>
                                    <p:animMotion origin="layout" path="M 2.63889E-6 -3.45679E-6 L -0.54228 0.00093 " pathEditMode="relative" rAng="0" ptsTypes="AA">
                                      <p:cBhvr>
                                        <p:cTn id="9" dur="3000" fill="hold"/>
                                        <p:tgtEl>
                                          <p:spTgt spid="19"/>
                                        </p:tgtEl>
                                        <p:attrNameLst>
                                          <p:attrName>ppt_x</p:attrName>
                                          <p:attrName>ppt_y</p:attrName>
                                        </p:attrNameLst>
                                      </p:cBhvr>
                                      <p:rCtr x="-27118" y="46"/>
                                    </p:animMotion>
                                  </p:childTnLst>
                                </p:cTn>
                              </p:par>
                              <p:par>
                                <p:cTn id="10" presetID="63" presetClass="path" presetSubtype="0" accel="50000" decel="50000" fill="hold" nodeType="withEffect">
                                  <p:stCondLst>
                                    <p:cond delay="0"/>
                                  </p:stCondLst>
                                  <p:childTnLst>
                                    <p:animMotion origin="layout" path="M -9.72222E-7 -2.59259E-6 L 0.62856 -0.01913 " pathEditMode="relative" rAng="0" ptsTypes="AA">
                                      <p:cBhvr>
                                        <p:cTn id="11" dur="3000" fill="hold"/>
                                        <p:tgtEl>
                                          <p:spTgt spid="20"/>
                                        </p:tgtEl>
                                        <p:attrNameLst>
                                          <p:attrName>ppt_x</p:attrName>
                                          <p:attrName>ppt_y</p:attrName>
                                        </p:attrNameLst>
                                      </p:cBhvr>
                                      <p:rCtr x="31424" y="-95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E5EDF-29AD-6D26-ECA8-FAA202935B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3F8AF3-9509-A8C5-B166-05C27DD71056}"/>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C2400D78-7F3C-D8FB-2D9F-3839A17B1540}"/>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2A6A6D48-59A4-DA7A-C1CD-24C2BA2B62C3}"/>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728B58BA-9F60-EF13-CC66-D0EE9AC3B259}"/>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4482811F-1D6E-6CAB-7650-20916C5727DF}"/>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DBDB58B0-4D88-C2BC-E7FC-9D92F0B167C6}"/>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7F8F8983-3B4C-F872-64A9-78174551E7AE}"/>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3" name="TextBox 13">
            <a:extLst>
              <a:ext uri="{FF2B5EF4-FFF2-40B4-BE49-F238E27FC236}">
                <a16:creationId xmlns:a16="http://schemas.microsoft.com/office/drawing/2014/main" id="{3BAC8A90-D4CE-C149-68B7-AB184FFF695B}"/>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4" name="TextBox 14">
            <a:extLst>
              <a:ext uri="{FF2B5EF4-FFF2-40B4-BE49-F238E27FC236}">
                <a16:creationId xmlns:a16="http://schemas.microsoft.com/office/drawing/2014/main" id="{43A5FDDD-6B1C-063B-8E82-D4EEEA7EDB00}"/>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5" name="TextBox 15">
            <a:extLst>
              <a:ext uri="{FF2B5EF4-FFF2-40B4-BE49-F238E27FC236}">
                <a16:creationId xmlns:a16="http://schemas.microsoft.com/office/drawing/2014/main" id="{9677A5C0-6FF6-1CC4-5F83-56F875BCA0C4}"/>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6" name="TextBox 16">
            <a:extLst>
              <a:ext uri="{FF2B5EF4-FFF2-40B4-BE49-F238E27FC236}">
                <a16:creationId xmlns:a16="http://schemas.microsoft.com/office/drawing/2014/main" id="{5262C3DF-CFE8-8273-7E54-8AC90F5384BE}"/>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en-US" sz="1400" b="1" dirty="0">
                <a:solidFill>
                  <a:srgbClr val="FFFFFF"/>
                </a:solidFill>
                <a:latin typeface="Open Sans Bold"/>
                <a:ea typeface="Open Sans Bold"/>
                <a:cs typeface="Open Sans Bold"/>
                <a:sym typeface="Open Sans Bold"/>
              </a:rPr>
              <a:t>03</a:t>
            </a:r>
          </a:p>
        </p:txBody>
      </p:sp>
      <p:sp>
        <p:nvSpPr>
          <p:cNvPr id="17" name="TextBox 17">
            <a:extLst>
              <a:ext uri="{FF2B5EF4-FFF2-40B4-BE49-F238E27FC236}">
                <a16:creationId xmlns:a16="http://schemas.microsoft.com/office/drawing/2014/main" id="{99170C83-7426-3339-0675-3F1763E95BB8}"/>
              </a:ext>
            </a:extLst>
          </p:cNvPr>
          <p:cNvSpPr txBox="1"/>
          <p:nvPr/>
        </p:nvSpPr>
        <p:spPr>
          <a:xfrm>
            <a:off x="-1219200" y="1553720"/>
            <a:ext cx="8792919" cy="1114536"/>
          </a:xfrm>
          <a:prstGeom prst="rect">
            <a:avLst/>
          </a:prstGeom>
        </p:spPr>
        <p:txBody>
          <a:bodyPr wrap="square" lIns="0" tIns="0" rIns="0" bIns="0" rtlCol="0" anchor="t">
            <a:spAutoFit/>
          </a:bodyPr>
          <a:lstStyle/>
          <a:p>
            <a:pPr algn="ctr">
              <a:lnSpc>
                <a:spcPts val="8560"/>
              </a:lnSpc>
            </a:pPr>
            <a:r>
              <a:rPr lang="en-US" sz="8000" b="1" dirty="0">
                <a:solidFill>
                  <a:srgbClr val="FFFFFF"/>
                </a:solidFill>
                <a:latin typeface="Bebas Neue Cyrillic" panose="020B0604020202020204" charset="0"/>
                <a:ea typeface="Poppins Bold"/>
                <a:cs typeface="Poppins Bold"/>
                <a:sym typeface="Poppins Bold"/>
              </a:rPr>
              <a:t>Applications</a:t>
            </a:r>
          </a:p>
        </p:txBody>
      </p:sp>
      <p:grpSp>
        <p:nvGrpSpPr>
          <p:cNvPr id="18" name="Group 18">
            <a:extLst>
              <a:ext uri="{FF2B5EF4-FFF2-40B4-BE49-F238E27FC236}">
                <a16:creationId xmlns:a16="http://schemas.microsoft.com/office/drawing/2014/main" id="{1E3BE0D0-0163-A833-5F6C-EF18F977AF93}"/>
              </a:ext>
            </a:extLst>
          </p:cNvPr>
          <p:cNvGrpSpPr/>
          <p:nvPr/>
        </p:nvGrpSpPr>
        <p:grpSpPr>
          <a:xfrm>
            <a:off x="1013460" y="2642177"/>
            <a:ext cx="2931669" cy="48939"/>
            <a:chOff x="0" y="0"/>
            <a:chExt cx="772127" cy="12889"/>
          </a:xfrm>
        </p:grpSpPr>
        <p:sp>
          <p:nvSpPr>
            <p:cNvPr id="19" name="Freeform 19">
              <a:extLst>
                <a:ext uri="{FF2B5EF4-FFF2-40B4-BE49-F238E27FC236}">
                  <a16:creationId xmlns:a16="http://schemas.microsoft.com/office/drawing/2014/main" id="{15DD8687-AB6C-EC92-BA84-02F7787AEACC}"/>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0" name="TextBox 20">
              <a:extLst>
                <a:ext uri="{FF2B5EF4-FFF2-40B4-BE49-F238E27FC236}">
                  <a16:creationId xmlns:a16="http://schemas.microsoft.com/office/drawing/2014/main" id="{9702F34D-3BAD-AA05-77E9-CFE145F13792}"/>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pic>
        <p:nvPicPr>
          <p:cNvPr id="46" name="Picture 45" descr="A set of blue circular shapes&#10;&#10;Description automatically generated">
            <a:extLst>
              <a:ext uri="{FF2B5EF4-FFF2-40B4-BE49-F238E27FC236}">
                <a16:creationId xmlns:a16="http://schemas.microsoft.com/office/drawing/2014/main" id="{4AD247AC-D42E-3158-E747-92956531A19F}"/>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1197429" y="3586836"/>
            <a:ext cx="3286121" cy="3130585"/>
          </a:xfrm>
          <a:prstGeom prst="rect">
            <a:avLst/>
          </a:prstGeom>
        </p:spPr>
      </p:pic>
      <p:grpSp>
        <p:nvGrpSpPr>
          <p:cNvPr id="26" name="Group 5">
            <a:extLst>
              <a:ext uri="{FF2B5EF4-FFF2-40B4-BE49-F238E27FC236}">
                <a16:creationId xmlns:a16="http://schemas.microsoft.com/office/drawing/2014/main" id="{CA8F8C68-BAE3-BC28-232A-59232C3B0C39}"/>
              </a:ext>
            </a:extLst>
          </p:cNvPr>
          <p:cNvGrpSpPr/>
          <p:nvPr/>
        </p:nvGrpSpPr>
        <p:grpSpPr>
          <a:xfrm flipV="1">
            <a:off x="1883229" y="6910520"/>
            <a:ext cx="2103323" cy="593193"/>
            <a:chOff x="0" y="0"/>
            <a:chExt cx="812800" cy="200228"/>
          </a:xfrm>
        </p:grpSpPr>
        <p:sp>
          <p:nvSpPr>
            <p:cNvPr id="27" name="Freeform 6">
              <a:extLst>
                <a:ext uri="{FF2B5EF4-FFF2-40B4-BE49-F238E27FC236}">
                  <a16:creationId xmlns:a16="http://schemas.microsoft.com/office/drawing/2014/main" id="{F61E1668-A729-D6CB-873F-46D150CA5C80}"/>
                </a:ext>
              </a:extLst>
            </p:cNvPr>
            <p:cNvSpPr/>
            <p:nvPr/>
          </p:nvSpPr>
          <p:spPr>
            <a:xfrm>
              <a:off x="0" y="0"/>
              <a:ext cx="812800" cy="200228"/>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endParaRPr lang="en-US" sz="988"/>
            </a:p>
          </p:txBody>
        </p:sp>
        <p:sp>
          <p:nvSpPr>
            <p:cNvPr id="28" name="TextBox 7">
              <a:extLst>
                <a:ext uri="{FF2B5EF4-FFF2-40B4-BE49-F238E27FC236}">
                  <a16:creationId xmlns:a16="http://schemas.microsoft.com/office/drawing/2014/main" id="{40D07037-7F05-624A-21F7-D21555C729C5}"/>
                </a:ext>
              </a:extLst>
            </p:cNvPr>
            <p:cNvSpPr txBox="1"/>
            <p:nvPr/>
          </p:nvSpPr>
          <p:spPr>
            <a:xfrm>
              <a:off x="0" y="-66675"/>
              <a:ext cx="812800" cy="266903"/>
            </a:xfrm>
            <a:prstGeom prst="rect">
              <a:avLst/>
            </a:prstGeom>
          </p:spPr>
          <p:txBody>
            <a:bodyPr lIns="35560" tIns="35560" rIns="35560" bIns="35560" rtlCol="0" anchor="ctr"/>
            <a:lstStyle/>
            <a:p>
              <a:pPr algn="ctr">
                <a:lnSpc>
                  <a:spcPts val="1960"/>
                </a:lnSpc>
              </a:pPr>
              <a:endParaRPr sz="988"/>
            </a:p>
          </p:txBody>
        </p:sp>
      </p:grpSp>
      <p:pic>
        <p:nvPicPr>
          <p:cNvPr id="31" name="Picture 30" descr="A set of blue circular shapes&#10;&#10;Description automatically generated">
            <a:extLst>
              <a:ext uri="{FF2B5EF4-FFF2-40B4-BE49-F238E27FC236}">
                <a16:creationId xmlns:a16="http://schemas.microsoft.com/office/drawing/2014/main" id="{112ECB45-C64C-9A72-7880-9B2EB65F6811}"/>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9467105" y="3586836"/>
            <a:ext cx="3286121" cy="3130585"/>
          </a:xfrm>
          <a:prstGeom prst="rect">
            <a:avLst/>
          </a:prstGeom>
        </p:spPr>
      </p:pic>
      <p:grpSp>
        <p:nvGrpSpPr>
          <p:cNvPr id="32" name="Group 5">
            <a:extLst>
              <a:ext uri="{FF2B5EF4-FFF2-40B4-BE49-F238E27FC236}">
                <a16:creationId xmlns:a16="http://schemas.microsoft.com/office/drawing/2014/main" id="{B8E4776C-1ACB-D111-1616-3F2AB3E549D3}"/>
              </a:ext>
            </a:extLst>
          </p:cNvPr>
          <p:cNvGrpSpPr/>
          <p:nvPr/>
        </p:nvGrpSpPr>
        <p:grpSpPr>
          <a:xfrm flipV="1">
            <a:off x="9543094" y="6910520"/>
            <a:ext cx="3472217" cy="790724"/>
            <a:chOff x="-235653" y="-66675"/>
            <a:chExt cx="1341790" cy="266903"/>
          </a:xfrm>
        </p:grpSpPr>
        <p:sp>
          <p:nvSpPr>
            <p:cNvPr id="33" name="Freeform 6">
              <a:extLst>
                <a:ext uri="{FF2B5EF4-FFF2-40B4-BE49-F238E27FC236}">
                  <a16:creationId xmlns:a16="http://schemas.microsoft.com/office/drawing/2014/main" id="{6A66C3BF-1A7D-8B70-B243-28B2600080E6}"/>
                </a:ext>
              </a:extLst>
            </p:cNvPr>
            <p:cNvSpPr/>
            <p:nvPr/>
          </p:nvSpPr>
          <p:spPr>
            <a:xfrm rot="10800000">
              <a:off x="-235653" y="-3705"/>
              <a:ext cx="1341790" cy="203933"/>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r>
                <a:rPr lang="en-US" sz="2800" b="1" dirty="0">
                  <a:solidFill>
                    <a:schemeClr val="bg1"/>
                  </a:solidFill>
                </a:rPr>
                <a:t>Customer Experience</a:t>
              </a:r>
            </a:p>
          </p:txBody>
        </p:sp>
        <p:sp>
          <p:nvSpPr>
            <p:cNvPr id="34" name="TextBox 7">
              <a:extLst>
                <a:ext uri="{FF2B5EF4-FFF2-40B4-BE49-F238E27FC236}">
                  <a16:creationId xmlns:a16="http://schemas.microsoft.com/office/drawing/2014/main" id="{9724538C-2725-26C7-D075-109A803E7448}"/>
                </a:ext>
              </a:extLst>
            </p:cNvPr>
            <p:cNvSpPr txBox="1"/>
            <p:nvPr/>
          </p:nvSpPr>
          <p:spPr>
            <a:xfrm>
              <a:off x="0" y="-66675"/>
              <a:ext cx="812800" cy="266903"/>
            </a:xfrm>
            <a:prstGeom prst="rect">
              <a:avLst/>
            </a:prstGeom>
          </p:spPr>
          <p:txBody>
            <a:bodyPr lIns="35560" tIns="35560" rIns="35560" bIns="35560" rtlCol="0" anchor="ctr"/>
            <a:lstStyle/>
            <a:p>
              <a:pPr algn="ctr">
                <a:lnSpc>
                  <a:spcPts val="1960"/>
                </a:lnSpc>
              </a:pPr>
              <a:endParaRPr sz="988"/>
            </a:p>
          </p:txBody>
        </p:sp>
      </p:grpSp>
      <p:pic>
        <p:nvPicPr>
          <p:cNvPr id="36" name="Picture 35" descr="A set of blue circular shapes&#10;&#10;Description automatically generated">
            <a:extLst>
              <a:ext uri="{FF2B5EF4-FFF2-40B4-BE49-F238E27FC236}">
                <a16:creationId xmlns:a16="http://schemas.microsoft.com/office/drawing/2014/main" id="{AB9AD0DF-5908-BBD5-D919-F3C1199EE8FD}"/>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5278871" y="3586836"/>
            <a:ext cx="3286121" cy="3130585"/>
          </a:xfrm>
          <a:prstGeom prst="rect">
            <a:avLst/>
          </a:prstGeom>
        </p:spPr>
      </p:pic>
      <p:grpSp>
        <p:nvGrpSpPr>
          <p:cNvPr id="37" name="Group 5">
            <a:extLst>
              <a:ext uri="{FF2B5EF4-FFF2-40B4-BE49-F238E27FC236}">
                <a16:creationId xmlns:a16="http://schemas.microsoft.com/office/drawing/2014/main" id="{BCB881EB-4FB5-187C-3DF0-77CBA89C4947}"/>
              </a:ext>
            </a:extLst>
          </p:cNvPr>
          <p:cNvGrpSpPr/>
          <p:nvPr/>
        </p:nvGrpSpPr>
        <p:grpSpPr>
          <a:xfrm flipV="1">
            <a:off x="5376023" y="6910520"/>
            <a:ext cx="3286121" cy="790724"/>
            <a:chOff x="-227475" y="-66675"/>
            <a:chExt cx="1269876" cy="266903"/>
          </a:xfrm>
        </p:grpSpPr>
        <p:sp>
          <p:nvSpPr>
            <p:cNvPr id="38" name="Freeform 6">
              <a:extLst>
                <a:ext uri="{FF2B5EF4-FFF2-40B4-BE49-F238E27FC236}">
                  <a16:creationId xmlns:a16="http://schemas.microsoft.com/office/drawing/2014/main" id="{71AB59FA-0354-EAEF-534F-E487C6CF8062}"/>
                </a:ext>
              </a:extLst>
            </p:cNvPr>
            <p:cNvSpPr/>
            <p:nvPr/>
          </p:nvSpPr>
          <p:spPr>
            <a:xfrm rot="10800000">
              <a:off x="-227475" y="12318"/>
              <a:ext cx="1269876" cy="178029"/>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r>
                <a:rPr lang="en-US" sz="2800" b="1" dirty="0">
                  <a:solidFill>
                    <a:schemeClr val="bg1"/>
                  </a:solidFill>
                </a:rPr>
                <a:t>Safety, Surveillance</a:t>
              </a:r>
            </a:p>
          </p:txBody>
        </p:sp>
        <p:sp>
          <p:nvSpPr>
            <p:cNvPr id="39" name="TextBox 7">
              <a:extLst>
                <a:ext uri="{FF2B5EF4-FFF2-40B4-BE49-F238E27FC236}">
                  <a16:creationId xmlns:a16="http://schemas.microsoft.com/office/drawing/2014/main" id="{EFC76D2C-AE19-5AB7-FD71-B4E0CBF353E5}"/>
                </a:ext>
              </a:extLst>
            </p:cNvPr>
            <p:cNvSpPr txBox="1"/>
            <p:nvPr/>
          </p:nvSpPr>
          <p:spPr>
            <a:xfrm>
              <a:off x="0" y="-66675"/>
              <a:ext cx="812800" cy="266903"/>
            </a:xfrm>
            <a:prstGeom prst="rect">
              <a:avLst/>
            </a:prstGeom>
          </p:spPr>
          <p:txBody>
            <a:bodyPr lIns="35560" tIns="35560" rIns="35560" bIns="35560" rtlCol="0" anchor="ctr"/>
            <a:lstStyle/>
            <a:p>
              <a:pPr algn="ctr">
                <a:lnSpc>
                  <a:spcPts val="1960"/>
                </a:lnSpc>
              </a:pPr>
              <a:endParaRPr sz="988"/>
            </a:p>
          </p:txBody>
        </p:sp>
      </p:grpSp>
      <p:pic>
        <p:nvPicPr>
          <p:cNvPr id="41" name="Picture 40" descr="A set of blue circular shapes&#10;&#10;Description automatically generated">
            <a:extLst>
              <a:ext uri="{FF2B5EF4-FFF2-40B4-BE49-F238E27FC236}">
                <a16:creationId xmlns:a16="http://schemas.microsoft.com/office/drawing/2014/main" id="{7ED78F3A-E585-CA2B-CC28-240D2AAA26A9}"/>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13441755" y="3586836"/>
            <a:ext cx="3286121" cy="3130585"/>
          </a:xfrm>
          <a:prstGeom prst="rect">
            <a:avLst/>
          </a:prstGeom>
        </p:spPr>
      </p:pic>
      <p:grpSp>
        <p:nvGrpSpPr>
          <p:cNvPr id="42" name="Group 5">
            <a:extLst>
              <a:ext uri="{FF2B5EF4-FFF2-40B4-BE49-F238E27FC236}">
                <a16:creationId xmlns:a16="http://schemas.microsoft.com/office/drawing/2014/main" id="{E8F981F7-56FA-CE22-B7FD-9A890725B2D1}"/>
              </a:ext>
            </a:extLst>
          </p:cNvPr>
          <p:cNvGrpSpPr/>
          <p:nvPr/>
        </p:nvGrpSpPr>
        <p:grpSpPr>
          <a:xfrm flipV="1">
            <a:off x="14127555" y="6910520"/>
            <a:ext cx="2103323" cy="593193"/>
            <a:chOff x="0" y="0"/>
            <a:chExt cx="812800" cy="200228"/>
          </a:xfrm>
        </p:grpSpPr>
        <p:sp>
          <p:nvSpPr>
            <p:cNvPr id="43" name="Freeform 6">
              <a:extLst>
                <a:ext uri="{FF2B5EF4-FFF2-40B4-BE49-F238E27FC236}">
                  <a16:creationId xmlns:a16="http://schemas.microsoft.com/office/drawing/2014/main" id="{07DBAE4F-FAF3-058F-29D5-C14F4332CDD2}"/>
                </a:ext>
              </a:extLst>
            </p:cNvPr>
            <p:cNvSpPr/>
            <p:nvPr/>
          </p:nvSpPr>
          <p:spPr>
            <a:xfrm>
              <a:off x="0" y="0"/>
              <a:ext cx="812800" cy="200228"/>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endParaRPr lang="en-US" sz="988"/>
            </a:p>
          </p:txBody>
        </p:sp>
        <p:sp>
          <p:nvSpPr>
            <p:cNvPr id="44" name="TextBox 7">
              <a:extLst>
                <a:ext uri="{FF2B5EF4-FFF2-40B4-BE49-F238E27FC236}">
                  <a16:creationId xmlns:a16="http://schemas.microsoft.com/office/drawing/2014/main" id="{29D53E08-85E2-C542-518E-6FA17EDB7D72}"/>
                </a:ext>
              </a:extLst>
            </p:cNvPr>
            <p:cNvSpPr txBox="1"/>
            <p:nvPr/>
          </p:nvSpPr>
          <p:spPr>
            <a:xfrm>
              <a:off x="0" y="-66675"/>
              <a:ext cx="812800" cy="266903"/>
            </a:xfrm>
            <a:prstGeom prst="rect">
              <a:avLst/>
            </a:prstGeom>
          </p:spPr>
          <p:txBody>
            <a:bodyPr lIns="35560" tIns="35560" rIns="35560" bIns="35560" rtlCol="0" anchor="ctr"/>
            <a:lstStyle/>
            <a:p>
              <a:pPr algn="ctr">
                <a:lnSpc>
                  <a:spcPts val="1960"/>
                </a:lnSpc>
              </a:pPr>
              <a:endParaRPr sz="988"/>
            </a:p>
          </p:txBody>
        </p:sp>
      </p:grpSp>
      <p:sp>
        <p:nvSpPr>
          <p:cNvPr id="51" name="TextBox 50">
            <a:extLst>
              <a:ext uri="{FF2B5EF4-FFF2-40B4-BE49-F238E27FC236}">
                <a16:creationId xmlns:a16="http://schemas.microsoft.com/office/drawing/2014/main" id="{D58283B1-4B98-E972-9273-82DF1586754F}"/>
              </a:ext>
            </a:extLst>
          </p:cNvPr>
          <p:cNvSpPr txBox="1"/>
          <p:nvPr/>
        </p:nvSpPr>
        <p:spPr>
          <a:xfrm>
            <a:off x="1953782" y="6976283"/>
            <a:ext cx="2103323" cy="461665"/>
          </a:xfrm>
          <a:prstGeom prst="rect">
            <a:avLst/>
          </a:prstGeom>
          <a:noFill/>
        </p:spPr>
        <p:txBody>
          <a:bodyPr wrap="square">
            <a:spAutoFit/>
          </a:bodyPr>
          <a:lstStyle/>
          <a:p>
            <a:r>
              <a:rPr lang="en-US" sz="2400" b="1" dirty="0">
                <a:solidFill>
                  <a:schemeClr val="bg1"/>
                </a:solidFill>
              </a:rPr>
              <a:t>Mental Health</a:t>
            </a:r>
          </a:p>
        </p:txBody>
      </p:sp>
      <p:sp>
        <p:nvSpPr>
          <p:cNvPr id="53" name="TextBox 52">
            <a:extLst>
              <a:ext uri="{FF2B5EF4-FFF2-40B4-BE49-F238E27FC236}">
                <a16:creationId xmlns:a16="http://schemas.microsoft.com/office/drawing/2014/main" id="{04401B4F-79FB-E695-53A2-1D4E2DC38234}"/>
              </a:ext>
            </a:extLst>
          </p:cNvPr>
          <p:cNvSpPr txBox="1"/>
          <p:nvPr/>
        </p:nvSpPr>
        <p:spPr>
          <a:xfrm>
            <a:off x="14299849" y="6882446"/>
            <a:ext cx="9221490" cy="584775"/>
          </a:xfrm>
          <a:prstGeom prst="rect">
            <a:avLst/>
          </a:prstGeom>
          <a:noFill/>
        </p:spPr>
        <p:txBody>
          <a:bodyPr wrap="square">
            <a:spAutoFit/>
          </a:bodyPr>
          <a:lstStyle/>
          <a:p>
            <a:r>
              <a:rPr lang="en-US" sz="3200" b="1" i="0" dirty="0">
                <a:solidFill>
                  <a:srgbClr val="FFFFFF"/>
                </a:solidFill>
                <a:effectLst/>
              </a:rPr>
              <a:t>Education</a:t>
            </a:r>
            <a:endParaRPr lang="en-US" sz="3200" b="1" dirty="0"/>
          </a:p>
        </p:txBody>
      </p:sp>
      <p:sp>
        <p:nvSpPr>
          <p:cNvPr id="54" name="Rectangle 1">
            <a:extLst>
              <a:ext uri="{FF2B5EF4-FFF2-40B4-BE49-F238E27FC236}">
                <a16:creationId xmlns:a16="http://schemas.microsoft.com/office/drawing/2014/main" id="{9A315707-C28C-0813-EE54-612ED25EA4A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6" name="Picture 55" descr="A camera with a crowd of people&#10;&#10;Description automatically generated">
            <a:hlinkClick r:id="rId3" action="ppaction://hlinksldjump"/>
            <a:extLst>
              <a:ext uri="{FF2B5EF4-FFF2-40B4-BE49-F238E27FC236}">
                <a16:creationId xmlns:a16="http://schemas.microsoft.com/office/drawing/2014/main" id="{D89231F0-0FBF-BFF1-0221-7EC312471023}"/>
              </a:ext>
            </a:extLst>
          </p:cNvPr>
          <p:cNvPicPr>
            <a:picLocks noChangeAspect="1"/>
          </p:cNvPicPr>
          <p:nvPr/>
        </p:nvPicPr>
        <p:blipFill>
          <a:blip r:embed="rId4">
            <a:extLst>
              <a:ext uri="{28A0092B-C50C-407E-A947-70E740481C1C}">
                <a14:useLocalDpi xmlns:a14="http://schemas.microsoft.com/office/drawing/2010/main" val="0"/>
              </a:ext>
            </a:extLst>
          </a:blip>
          <a:srcRect l="36172"/>
          <a:stretch/>
        </p:blipFill>
        <p:spPr>
          <a:xfrm>
            <a:off x="5689177" y="3924300"/>
            <a:ext cx="2654310" cy="2362200"/>
          </a:xfrm>
          <a:prstGeom prst="flowChartConnector">
            <a:avLst/>
          </a:prstGeom>
        </p:spPr>
      </p:pic>
      <p:pic>
        <p:nvPicPr>
          <p:cNvPr id="60" name="Picture 59" descr="A camera in a store&#10;&#10;Description automatically generated">
            <a:hlinkClick r:id="rId5" action="ppaction://hlinksldjump"/>
            <a:extLst>
              <a:ext uri="{FF2B5EF4-FFF2-40B4-BE49-F238E27FC236}">
                <a16:creationId xmlns:a16="http://schemas.microsoft.com/office/drawing/2014/main" id="{9F0B6B3C-2D8E-857D-4130-1449B4681C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23466" y="3924300"/>
            <a:ext cx="2362200" cy="2362200"/>
          </a:xfrm>
          <a:prstGeom prst="flowChartConnector">
            <a:avLst/>
          </a:prstGeom>
        </p:spPr>
      </p:pic>
      <p:pic>
        <p:nvPicPr>
          <p:cNvPr id="62" name="Picture 61" descr="A child with a grid on her face&#10;&#10;Description automatically generated">
            <a:hlinkClick r:id="rId7" action="ppaction://hlinksldjump"/>
            <a:extLst>
              <a:ext uri="{FF2B5EF4-FFF2-40B4-BE49-F238E27FC236}">
                <a16:creationId xmlns:a16="http://schemas.microsoft.com/office/drawing/2014/main" id="{6F62E092-9FEC-D834-8D33-E1A0B812AAC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948785" y="3825638"/>
            <a:ext cx="2460862" cy="2460862"/>
          </a:xfrm>
          <a:prstGeom prst="flowChartConnector">
            <a:avLst/>
          </a:prstGeom>
        </p:spPr>
      </p:pic>
      <p:pic>
        <p:nvPicPr>
          <p:cNvPr id="65" name="Picture 64" descr="A hand holding a phone with a person on it&#10;&#10;Description automatically generated">
            <a:hlinkClick r:id="rId9" action="ppaction://hlinksldjump"/>
            <a:extLst>
              <a:ext uri="{FF2B5EF4-FFF2-40B4-BE49-F238E27FC236}">
                <a16:creationId xmlns:a16="http://schemas.microsoft.com/office/drawing/2014/main" id="{BA87ACAC-7382-69E8-8BB8-7A20009E8B2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52600" y="3873052"/>
            <a:ext cx="2426067" cy="2394864"/>
          </a:xfrm>
          <a:prstGeom prst="flowChartConnector">
            <a:avLst/>
          </a:prstGeom>
        </p:spPr>
      </p:pic>
      <p:sp>
        <p:nvSpPr>
          <p:cNvPr id="5" name="Freeform 18">
            <a:extLst>
              <a:ext uri="{FF2B5EF4-FFF2-40B4-BE49-F238E27FC236}">
                <a16:creationId xmlns:a16="http://schemas.microsoft.com/office/drawing/2014/main" id="{31661872-CF41-C9C1-7CB8-0CDABF2B8FFC}"/>
              </a:ext>
            </a:extLst>
          </p:cNvPr>
          <p:cNvSpPr/>
          <p:nvPr/>
        </p:nvSpPr>
        <p:spPr>
          <a:xfrm>
            <a:off x="617887" y="8709988"/>
            <a:ext cx="791146" cy="850506"/>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988"/>
          </a:p>
        </p:txBody>
      </p:sp>
      <p:sp>
        <p:nvSpPr>
          <p:cNvPr id="9" name="Freeform 18">
            <a:extLst>
              <a:ext uri="{FF2B5EF4-FFF2-40B4-BE49-F238E27FC236}">
                <a16:creationId xmlns:a16="http://schemas.microsoft.com/office/drawing/2014/main" id="{4E6C5D1C-E431-AE4F-A4C0-56ECD5483EE0}"/>
              </a:ext>
            </a:extLst>
          </p:cNvPr>
          <p:cNvSpPr/>
          <p:nvPr/>
        </p:nvSpPr>
        <p:spPr>
          <a:xfrm>
            <a:off x="17248318" y="2081871"/>
            <a:ext cx="525333" cy="584775"/>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988"/>
          </a:p>
        </p:txBody>
      </p:sp>
    </p:spTree>
    <p:extLst>
      <p:ext uri="{BB962C8B-B14F-4D97-AF65-F5344CB8AC3E}">
        <p14:creationId xmlns:p14="http://schemas.microsoft.com/office/powerpoint/2010/main" val="280710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46"/>
                                        </p:tgtEl>
                                      </p:cBhvr>
                                    </p:animEffect>
                                    <p:animScale>
                                      <p:cBhvr>
                                        <p:cTn id="7" dur="250" autoRev="1" fill="hold"/>
                                        <p:tgtEl>
                                          <p:spTgt spid="46"/>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6"/>
                                        </p:tgtEl>
                                      </p:cBhvr>
                                    </p:animEffect>
                                    <p:animScale>
                                      <p:cBhvr>
                                        <p:cTn id="10" dur="250" autoRev="1" fill="hold"/>
                                        <p:tgtEl>
                                          <p:spTgt spid="36"/>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31"/>
                                        </p:tgtEl>
                                      </p:cBhvr>
                                    </p:animEffect>
                                    <p:animScale>
                                      <p:cBhvr>
                                        <p:cTn id="13" dur="250" autoRev="1" fill="hold"/>
                                        <p:tgtEl>
                                          <p:spTgt spid="31"/>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41"/>
                                        </p:tgtEl>
                                      </p:cBhvr>
                                    </p:animEffect>
                                    <p:animScale>
                                      <p:cBhvr>
                                        <p:cTn id="16" dur="250" autoRev="1" fill="hold"/>
                                        <p:tgtEl>
                                          <p:spTgt spid="4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9AE233-4137-577A-8F1B-D4BF6287079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32CBE5-3451-115E-8920-B23F2E4A46FD}"/>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E85A198C-2475-0846-5218-150C8390A8FC}"/>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BF2885C3-1231-61E3-E4C2-063D016A91A9}"/>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75DE4C95-FEAE-67BD-3246-2FDE4B077CC8}"/>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0070C24D-808F-8612-E87E-E51C740D886A}"/>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9603FCD4-0B61-1435-835D-9C104AD1A3A1}"/>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301FE055-802D-1D43-19F9-49CEE7B9339F}"/>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3" name="TextBox 13">
            <a:extLst>
              <a:ext uri="{FF2B5EF4-FFF2-40B4-BE49-F238E27FC236}">
                <a16:creationId xmlns:a16="http://schemas.microsoft.com/office/drawing/2014/main" id="{8E461CD1-77B6-2FD5-F9C2-B97122C24911}"/>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4" name="TextBox 14">
            <a:extLst>
              <a:ext uri="{FF2B5EF4-FFF2-40B4-BE49-F238E27FC236}">
                <a16:creationId xmlns:a16="http://schemas.microsoft.com/office/drawing/2014/main" id="{27220F05-824A-234E-AAC5-E5766C0BF985}"/>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5" name="TextBox 15">
            <a:extLst>
              <a:ext uri="{FF2B5EF4-FFF2-40B4-BE49-F238E27FC236}">
                <a16:creationId xmlns:a16="http://schemas.microsoft.com/office/drawing/2014/main" id="{8B0B1D81-9FA5-02BD-0EA1-9A0DCE1BFAA3}"/>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7" name="TextBox 17">
            <a:extLst>
              <a:ext uri="{FF2B5EF4-FFF2-40B4-BE49-F238E27FC236}">
                <a16:creationId xmlns:a16="http://schemas.microsoft.com/office/drawing/2014/main" id="{F774220A-0CEB-9818-B0B5-0777AA369395}"/>
              </a:ext>
            </a:extLst>
          </p:cNvPr>
          <p:cNvSpPr txBox="1"/>
          <p:nvPr/>
        </p:nvSpPr>
        <p:spPr>
          <a:xfrm>
            <a:off x="-1219200" y="1527641"/>
            <a:ext cx="8792919" cy="1114536"/>
          </a:xfrm>
          <a:prstGeom prst="rect">
            <a:avLst/>
          </a:prstGeom>
        </p:spPr>
        <p:txBody>
          <a:bodyPr wrap="square" lIns="0" tIns="0" rIns="0" bIns="0" rtlCol="0" anchor="t">
            <a:spAutoFit/>
          </a:bodyPr>
          <a:lstStyle/>
          <a:p>
            <a:pPr algn="ctr">
              <a:lnSpc>
                <a:spcPts val="8560"/>
              </a:lnSpc>
            </a:pPr>
            <a:r>
              <a:rPr lang="en-US" sz="8000" b="1" dirty="0">
                <a:solidFill>
                  <a:srgbClr val="FFFFFF"/>
                </a:solidFill>
                <a:latin typeface="Bebas Neue Cyrillic" panose="020B0604020202020204" charset="0"/>
                <a:ea typeface="Poppins Bold"/>
                <a:cs typeface="Poppins Bold"/>
                <a:sym typeface="Poppins Bold"/>
              </a:rPr>
              <a:t>Applications</a:t>
            </a:r>
          </a:p>
        </p:txBody>
      </p:sp>
      <p:grpSp>
        <p:nvGrpSpPr>
          <p:cNvPr id="18" name="Group 18">
            <a:extLst>
              <a:ext uri="{FF2B5EF4-FFF2-40B4-BE49-F238E27FC236}">
                <a16:creationId xmlns:a16="http://schemas.microsoft.com/office/drawing/2014/main" id="{85EAE0A6-801B-7EFD-1A95-034062995FAE}"/>
              </a:ext>
            </a:extLst>
          </p:cNvPr>
          <p:cNvGrpSpPr/>
          <p:nvPr/>
        </p:nvGrpSpPr>
        <p:grpSpPr>
          <a:xfrm>
            <a:off x="1013460" y="2642177"/>
            <a:ext cx="2931669" cy="48939"/>
            <a:chOff x="0" y="0"/>
            <a:chExt cx="772127" cy="12889"/>
          </a:xfrm>
        </p:grpSpPr>
        <p:sp>
          <p:nvSpPr>
            <p:cNvPr id="19" name="Freeform 19">
              <a:extLst>
                <a:ext uri="{FF2B5EF4-FFF2-40B4-BE49-F238E27FC236}">
                  <a16:creationId xmlns:a16="http://schemas.microsoft.com/office/drawing/2014/main" id="{9DCF6C56-FC2E-4680-EF77-EFFBFC444907}"/>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0" name="TextBox 20">
              <a:extLst>
                <a:ext uri="{FF2B5EF4-FFF2-40B4-BE49-F238E27FC236}">
                  <a16:creationId xmlns:a16="http://schemas.microsoft.com/office/drawing/2014/main" id="{D37DF552-61C2-97E7-FE02-1FDEF3B4ABA5}"/>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grpSp>
        <p:nvGrpSpPr>
          <p:cNvPr id="29" name="Group 28">
            <a:extLst>
              <a:ext uri="{FF2B5EF4-FFF2-40B4-BE49-F238E27FC236}">
                <a16:creationId xmlns:a16="http://schemas.microsoft.com/office/drawing/2014/main" id="{7355AEB6-1970-5860-40FF-E4D31E0A94D6}"/>
              </a:ext>
            </a:extLst>
          </p:cNvPr>
          <p:cNvGrpSpPr/>
          <p:nvPr/>
        </p:nvGrpSpPr>
        <p:grpSpPr>
          <a:xfrm>
            <a:off x="1197429" y="3586836"/>
            <a:ext cx="3286121" cy="3916877"/>
            <a:chOff x="3352800" y="2856962"/>
            <a:chExt cx="3286121" cy="3916877"/>
          </a:xfrm>
        </p:grpSpPr>
        <p:pic>
          <p:nvPicPr>
            <p:cNvPr id="46" name="Picture 45" descr="A set of blue circular shapes&#10;&#10;Description automatically generated">
              <a:extLst>
                <a:ext uri="{FF2B5EF4-FFF2-40B4-BE49-F238E27FC236}">
                  <a16:creationId xmlns:a16="http://schemas.microsoft.com/office/drawing/2014/main" id="{C12F1668-A617-70A8-947B-7B4FD29C113F}"/>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3352800" y="2856962"/>
              <a:ext cx="3286121" cy="3130585"/>
            </a:xfrm>
            <a:prstGeom prst="rect">
              <a:avLst/>
            </a:prstGeom>
          </p:spPr>
        </p:pic>
        <p:grpSp>
          <p:nvGrpSpPr>
            <p:cNvPr id="26" name="Group 5">
              <a:extLst>
                <a:ext uri="{FF2B5EF4-FFF2-40B4-BE49-F238E27FC236}">
                  <a16:creationId xmlns:a16="http://schemas.microsoft.com/office/drawing/2014/main" id="{6FB86F21-AB37-DB8F-2AE7-9D0100F405D4}"/>
                </a:ext>
              </a:extLst>
            </p:cNvPr>
            <p:cNvGrpSpPr/>
            <p:nvPr/>
          </p:nvGrpSpPr>
          <p:grpSpPr>
            <a:xfrm flipV="1">
              <a:off x="4038600" y="6180646"/>
              <a:ext cx="2103323" cy="593193"/>
              <a:chOff x="0" y="0"/>
              <a:chExt cx="812800" cy="200228"/>
            </a:xfrm>
          </p:grpSpPr>
          <p:sp>
            <p:nvSpPr>
              <p:cNvPr id="27" name="Freeform 6">
                <a:extLst>
                  <a:ext uri="{FF2B5EF4-FFF2-40B4-BE49-F238E27FC236}">
                    <a16:creationId xmlns:a16="http://schemas.microsoft.com/office/drawing/2014/main" id="{B84B214D-75DF-281D-E695-6D9E63F85D40}"/>
                  </a:ext>
                </a:extLst>
              </p:cNvPr>
              <p:cNvSpPr/>
              <p:nvPr/>
            </p:nvSpPr>
            <p:spPr>
              <a:xfrm>
                <a:off x="0" y="0"/>
                <a:ext cx="812800" cy="200228"/>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endParaRPr lang="en-US" sz="988"/>
              </a:p>
            </p:txBody>
          </p:sp>
          <p:sp>
            <p:nvSpPr>
              <p:cNvPr id="28" name="TextBox 7">
                <a:extLst>
                  <a:ext uri="{FF2B5EF4-FFF2-40B4-BE49-F238E27FC236}">
                    <a16:creationId xmlns:a16="http://schemas.microsoft.com/office/drawing/2014/main" id="{326EAC36-59E9-39E3-47FE-CCCD4A606F6B}"/>
                  </a:ext>
                </a:extLst>
              </p:cNvPr>
              <p:cNvSpPr txBox="1"/>
              <p:nvPr/>
            </p:nvSpPr>
            <p:spPr>
              <a:xfrm>
                <a:off x="0" y="-66675"/>
                <a:ext cx="812800" cy="266903"/>
              </a:xfrm>
              <a:prstGeom prst="rect">
                <a:avLst/>
              </a:prstGeom>
            </p:spPr>
            <p:txBody>
              <a:bodyPr lIns="35560" tIns="35560" rIns="35560" bIns="35560" rtlCol="0" anchor="ctr"/>
              <a:lstStyle/>
              <a:p>
                <a:pPr algn="ctr">
                  <a:lnSpc>
                    <a:spcPts val="1960"/>
                  </a:lnSpc>
                </a:pPr>
                <a:endParaRPr sz="988"/>
              </a:p>
            </p:txBody>
          </p:sp>
        </p:grpSp>
      </p:grpSp>
      <p:sp>
        <p:nvSpPr>
          <p:cNvPr id="51" name="TextBox 50">
            <a:extLst>
              <a:ext uri="{FF2B5EF4-FFF2-40B4-BE49-F238E27FC236}">
                <a16:creationId xmlns:a16="http://schemas.microsoft.com/office/drawing/2014/main" id="{32C9F40F-E96E-B157-7243-57DB845742B5}"/>
              </a:ext>
            </a:extLst>
          </p:cNvPr>
          <p:cNvSpPr txBox="1"/>
          <p:nvPr/>
        </p:nvSpPr>
        <p:spPr>
          <a:xfrm>
            <a:off x="1953782" y="6976283"/>
            <a:ext cx="2103323" cy="461665"/>
          </a:xfrm>
          <a:prstGeom prst="rect">
            <a:avLst/>
          </a:prstGeom>
          <a:noFill/>
        </p:spPr>
        <p:txBody>
          <a:bodyPr wrap="square">
            <a:spAutoFit/>
          </a:bodyPr>
          <a:lstStyle/>
          <a:p>
            <a:r>
              <a:rPr lang="en-US" sz="2400" b="1" dirty="0">
                <a:solidFill>
                  <a:schemeClr val="bg1"/>
                </a:solidFill>
              </a:rPr>
              <a:t>Mental Health</a:t>
            </a:r>
          </a:p>
        </p:txBody>
      </p:sp>
      <p:sp>
        <p:nvSpPr>
          <p:cNvPr id="54" name="Rectangle 1">
            <a:extLst>
              <a:ext uri="{FF2B5EF4-FFF2-40B4-BE49-F238E27FC236}">
                <a16:creationId xmlns:a16="http://schemas.microsoft.com/office/drawing/2014/main" id="{99CF5B06-6128-DFBA-9686-5316A4D2BC3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Rectangle 4">
            <a:extLst>
              <a:ext uri="{FF2B5EF4-FFF2-40B4-BE49-F238E27FC236}">
                <a16:creationId xmlns:a16="http://schemas.microsoft.com/office/drawing/2014/main" id="{CCCE5B3E-13F5-A569-EC78-3B3B810E1215}"/>
              </a:ext>
            </a:extLst>
          </p:cNvPr>
          <p:cNvSpPr>
            <a:spLocks noChangeArrowheads="1"/>
          </p:cNvSpPr>
          <p:nvPr/>
        </p:nvSpPr>
        <p:spPr bwMode="auto">
          <a:xfrm>
            <a:off x="4888178" y="3586836"/>
            <a:ext cx="13399822" cy="424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3600" b="0" i="0" u="none" strike="noStrike" cap="none" normalizeH="0" baseline="0" dirty="0">
              <a:ln>
                <a:noFill/>
              </a:ln>
              <a:solidFill>
                <a:schemeClr val="bg1"/>
              </a:solidFill>
              <a:effectLst/>
              <a:latin typeface="Arial" panose="020B0604020202020204" pitchFamily="34" charset="0"/>
            </a:endParaRPr>
          </a:p>
          <a:p>
            <a:pPr marL="571500" marR="0" lvl="0" indent="-5715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Deep learning supports mental health using facial recognition models.</a:t>
            </a:r>
          </a:p>
          <a:p>
            <a:pPr marL="571500" marR="0" lvl="0" indent="-5715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It detects expressions of sadness, anxiety, and depression.</a:t>
            </a:r>
          </a:p>
          <a:p>
            <a:pPr marL="571500" marR="0" lvl="0" indent="-5715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Analyzes facial features to understand emotional states.</a:t>
            </a:r>
          </a:p>
          <a:p>
            <a:pPr marL="571500" marR="0" lvl="0" indent="-5715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Sends alerts or suggests seeking help when needed.</a:t>
            </a:r>
          </a:p>
          <a:p>
            <a:pPr marL="571500" marR="0" lvl="0" indent="-5715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Acts as a preventive tool for mental health. </a:t>
            </a:r>
          </a:p>
        </p:txBody>
      </p:sp>
      <p:pic>
        <p:nvPicPr>
          <p:cNvPr id="24" name="Picture 23" descr="A hand holding a phone with a person on it&#10;&#10;Description automatically generated">
            <a:extLst>
              <a:ext uri="{FF2B5EF4-FFF2-40B4-BE49-F238E27FC236}">
                <a16:creationId xmlns:a16="http://schemas.microsoft.com/office/drawing/2014/main" id="{CA198440-5993-DB76-2962-288CD35C49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2600" y="3873052"/>
            <a:ext cx="2426067" cy="2394864"/>
          </a:xfrm>
          <a:prstGeom prst="flowChartConnector">
            <a:avLst/>
          </a:prstGeom>
        </p:spPr>
      </p:pic>
      <p:pic>
        <p:nvPicPr>
          <p:cNvPr id="1028" name="Picture 4">
            <a:hlinkClick r:id="rId4" action="ppaction://hlinksldjump"/>
            <a:extLst>
              <a:ext uri="{FF2B5EF4-FFF2-40B4-BE49-F238E27FC236}">
                <a16:creationId xmlns:a16="http://schemas.microsoft.com/office/drawing/2014/main" id="{82872BAC-5A1D-6F68-B438-7A560F9F7A5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37020" y="8188351"/>
            <a:ext cx="1607645" cy="1339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75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36222FD-2AB3-F28E-5089-966F79EF9B5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91C795-C455-868C-624D-53163587BDC8}"/>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CFE3CEB2-3EC9-1AF3-97FE-8F8F345E910F}"/>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E7CD60C1-CFAD-45DD-9B7D-00E590326489}"/>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E5F2AED2-EDCC-0B51-7500-F21DADAF52C6}"/>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5A68175B-B81F-06C2-C1FB-50B3F47233D7}"/>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FFE32FEB-07CF-7537-C804-F5DBC391B9C7}"/>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F5F3A41A-124C-D08E-258B-69DDA252069C}"/>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3" name="TextBox 13">
            <a:extLst>
              <a:ext uri="{FF2B5EF4-FFF2-40B4-BE49-F238E27FC236}">
                <a16:creationId xmlns:a16="http://schemas.microsoft.com/office/drawing/2014/main" id="{E0B4ED35-3BFC-537D-9F4A-5A48E43BB412}"/>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4" name="TextBox 14">
            <a:extLst>
              <a:ext uri="{FF2B5EF4-FFF2-40B4-BE49-F238E27FC236}">
                <a16:creationId xmlns:a16="http://schemas.microsoft.com/office/drawing/2014/main" id="{9A0961B3-AAF9-329C-D05F-C2EF24E23A1C}"/>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5" name="TextBox 15">
            <a:extLst>
              <a:ext uri="{FF2B5EF4-FFF2-40B4-BE49-F238E27FC236}">
                <a16:creationId xmlns:a16="http://schemas.microsoft.com/office/drawing/2014/main" id="{A9DB1CDB-70BB-9A6A-5FC9-3DFB29250268}"/>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7" name="TextBox 17">
            <a:extLst>
              <a:ext uri="{FF2B5EF4-FFF2-40B4-BE49-F238E27FC236}">
                <a16:creationId xmlns:a16="http://schemas.microsoft.com/office/drawing/2014/main" id="{94FAC515-4D02-7166-B2AA-326B5C1D7B64}"/>
              </a:ext>
            </a:extLst>
          </p:cNvPr>
          <p:cNvSpPr txBox="1"/>
          <p:nvPr/>
        </p:nvSpPr>
        <p:spPr>
          <a:xfrm>
            <a:off x="-1219200" y="1456918"/>
            <a:ext cx="8792919" cy="1114536"/>
          </a:xfrm>
          <a:prstGeom prst="rect">
            <a:avLst/>
          </a:prstGeom>
        </p:spPr>
        <p:txBody>
          <a:bodyPr wrap="square" lIns="0" tIns="0" rIns="0" bIns="0" rtlCol="0" anchor="t">
            <a:spAutoFit/>
          </a:bodyPr>
          <a:lstStyle/>
          <a:p>
            <a:pPr algn="ctr">
              <a:lnSpc>
                <a:spcPts val="8560"/>
              </a:lnSpc>
            </a:pPr>
            <a:r>
              <a:rPr lang="en-US" sz="8000" b="1" dirty="0">
                <a:solidFill>
                  <a:srgbClr val="FFFFFF"/>
                </a:solidFill>
                <a:latin typeface="Bebas Neue Cyrillic" panose="020B0604020202020204" charset="0"/>
                <a:ea typeface="Poppins Bold"/>
                <a:cs typeface="Poppins Bold"/>
                <a:sym typeface="Poppins Bold"/>
              </a:rPr>
              <a:t>Applications</a:t>
            </a:r>
          </a:p>
        </p:txBody>
      </p:sp>
      <p:grpSp>
        <p:nvGrpSpPr>
          <p:cNvPr id="18" name="Group 18">
            <a:extLst>
              <a:ext uri="{FF2B5EF4-FFF2-40B4-BE49-F238E27FC236}">
                <a16:creationId xmlns:a16="http://schemas.microsoft.com/office/drawing/2014/main" id="{8FC47443-CE66-5CB5-EFAF-545772BC4773}"/>
              </a:ext>
            </a:extLst>
          </p:cNvPr>
          <p:cNvGrpSpPr/>
          <p:nvPr/>
        </p:nvGrpSpPr>
        <p:grpSpPr>
          <a:xfrm>
            <a:off x="1013460" y="2642177"/>
            <a:ext cx="2931669" cy="48939"/>
            <a:chOff x="0" y="0"/>
            <a:chExt cx="772127" cy="12889"/>
          </a:xfrm>
        </p:grpSpPr>
        <p:sp>
          <p:nvSpPr>
            <p:cNvPr id="19" name="Freeform 19">
              <a:extLst>
                <a:ext uri="{FF2B5EF4-FFF2-40B4-BE49-F238E27FC236}">
                  <a16:creationId xmlns:a16="http://schemas.microsoft.com/office/drawing/2014/main" id="{C02BFAEE-C55C-138A-8DF4-7DF01871E372}"/>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0" name="TextBox 20">
              <a:extLst>
                <a:ext uri="{FF2B5EF4-FFF2-40B4-BE49-F238E27FC236}">
                  <a16:creationId xmlns:a16="http://schemas.microsoft.com/office/drawing/2014/main" id="{D87D29F3-2577-90A9-2D7E-CF9D00D9E6FC}"/>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grpSp>
        <p:nvGrpSpPr>
          <p:cNvPr id="35" name="Group 34">
            <a:extLst>
              <a:ext uri="{FF2B5EF4-FFF2-40B4-BE49-F238E27FC236}">
                <a16:creationId xmlns:a16="http://schemas.microsoft.com/office/drawing/2014/main" id="{3281825B-2811-9461-6B67-E43B52E285D8}"/>
              </a:ext>
            </a:extLst>
          </p:cNvPr>
          <p:cNvGrpSpPr/>
          <p:nvPr/>
        </p:nvGrpSpPr>
        <p:grpSpPr>
          <a:xfrm>
            <a:off x="561856" y="3492455"/>
            <a:ext cx="3383273" cy="4114408"/>
            <a:chOff x="3352800" y="2856962"/>
            <a:chExt cx="3383273" cy="4114408"/>
          </a:xfrm>
        </p:grpSpPr>
        <p:pic>
          <p:nvPicPr>
            <p:cNvPr id="36" name="Picture 35" descr="A set of blue circular shapes&#10;&#10;Description automatically generated">
              <a:extLst>
                <a:ext uri="{FF2B5EF4-FFF2-40B4-BE49-F238E27FC236}">
                  <a16:creationId xmlns:a16="http://schemas.microsoft.com/office/drawing/2014/main" id="{E0E57633-EBDF-E59E-C0C4-5F375F3C374B}"/>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3352800" y="2856962"/>
              <a:ext cx="3286121" cy="3130585"/>
            </a:xfrm>
            <a:prstGeom prst="rect">
              <a:avLst/>
            </a:prstGeom>
          </p:spPr>
        </p:pic>
        <p:grpSp>
          <p:nvGrpSpPr>
            <p:cNvPr id="37" name="Group 5">
              <a:extLst>
                <a:ext uri="{FF2B5EF4-FFF2-40B4-BE49-F238E27FC236}">
                  <a16:creationId xmlns:a16="http://schemas.microsoft.com/office/drawing/2014/main" id="{7F85A301-2249-3429-EC4E-03CFA70099BC}"/>
                </a:ext>
              </a:extLst>
            </p:cNvPr>
            <p:cNvGrpSpPr/>
            <p:nvPr/>
          </p:nvGrpSpPr>
          <p:grpSpPr>
            <a:xfrm flipV="1">
              <a:off x="3449952" y="6180646"/>
              <a:ext cx="3286121" cy="790724"/>
              <a:chOff x="-227475" y="-66675"/>
              <a:chExt cx="1269876" cy="266903"/>
            </a:xfrm>
          </p:grpSpPr>
          <p:sp>
            <p:nvSpPr>
              <p:cNvPr id="38" name="Freeform 6">
                <a:extLst>
                  <a:ext uri="{FF2B5EF4-FFF2-40B4-BE49-F238E27FC236}">
                    <a16:creationId xmlns:a16="http://schemas.microsoft.com/office/drawing/2014/main" id="{5FE18921-4EBC-0599-6896-C168B092F06E}"/>
                  </a:ext>
                </a:extLst>
              </p:cNvPr>
              <p:cNvSpPr/>
              <p:nvPr/>
            </p:nvSpPr>
            <p:spPr>
              <a:xfrm rot="10800000">
                <a:off x="-227475" y="12318"/>
                <a:ext cx="1269876" cy="178029"/>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r>
                  <a:rPr lang="en-US" sz="2800" b="1" dirty="0">
                    <a:solidFill>
                      <a:schemeClr val="bg1"/>
                    </a:solidFill>
                  </a:rPr>
                  <a:t>Safety, Surveillance</a:t>
                </a:r>
              </a:p>
            </p:txBody>
          </p:sp>
          <p:sp>
            <p:nvSpPr>
              <p:cNvPr id="39" name="TextBox 7">
                <a:extLst>
                  <a:ext uri="{FF2B5EF4-FFF2-40B4-BE49-F238E27FC236}">
                    <a16:creationId xmlns:a16="http://schemas.microsoft.com/office/drawing/2014/main" id="{C9671A4B-05D0-DB03-B147-6F5E5FDE88F4}"/>
                  </a:ext>
                </a:extLst>
              </p:cNvPr>
              <p:cNvSpPr txBox="1"/>
              <p:nvPr/>
            </p:nvSpPr>
            <p:spPr>
              <a:xfrm>
                <a:off x="0" y="-66675"/>
                <a:ext cx="812800" cy="266903"/>
              </a:xfrm>
              <a:prstGeom prst="rect">
                <a:avLst/>
              </a:prstGeom>
            </p:spPr>
            <p:txBody>
              <a:bodyPr lIns="35560" tIns="35560" rIns="35560" bIns="35560" rtlCol="0" anchor="ctr"/>
              <a:lstStyle/>
              <a:p>
                <a:pPr algn="ctr">
                  <a:lnSpc>
                    <a:spcPts val="1960"/>
                  </a:lnSpc>
                </a:pPr>
                <a:endParaRPr sz="988"/>
              </a:p>
            </p:txBody>
          </p:sp>
        </p:grpSp>
      </p:grpSp>
      <p:sp>
        <p:nvSpPr>
          <p:cNvPr id="54" name="Rectangle 1">
            <a:extLst>
              <a:ext uri="{FF2B5EF4-FFF2-40B4-BE49-F238E27FC236}">
                <a16:creationId xmlns:a16="http://schemas.microsoft.com/office/drawing/2014/main" id="{CF57ECC5-9053-ADDF-32AE-79189A7B3C4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6" name="Picture 55" descr="A camera with a crowd of people&#10;&#10;Description automatically generated">
            <a:extLst>
              <a:ext uri="{FF2B5EF4-FFF2-40B4-BE49-F238E27FC236}">
                <a16:creationId xmlns:a16="http://schemas.microsoft.com/office/drawing/2014/main" id="{85543DD3-9660-C31D-536D-F6E7E3EDF82E}"/>
              </a:ext>
            </a:extLst>
          </p:cNvPr>
          <p:cNvPicPr>
            <a:picLocks noChangeAspect="1"/>
          </p:cNvPicPr>
          <p:nvPr/>
        </p:nvPicPr>
        <p:blipFill>
          <a:blip r:embed="rId3">
            <a:extLst>
              <a:ext uri="{28A0092B-C50C-407E-A947-70E740481C1C}">
                <a14:useLocalDpi xmlns:a14="http://schemas.microsoft.com/office/drawing/2010/main" val="0"/>
              </a:ext>
            </a:extLst>
          </a:blip>
          <a:srcRect l="36172"/>
          <a:stretch/>
        </p:blipFill>
        <p:spPr>
          <a:xfrm>
            <a:off x="972162" y="3829919"/>
            <a:ext cx="2654310" cy="2362200"/>
          </a:xfrm>
          <a:prstGeom prst="flowChartConnector">
            <a:avLst/>
          </a:prstGeom>
        </p:spPr>
      </p:pic>
      <p:sp>
        <p:nvSpPr>
          <p:cNvPr id="25" name="TextBox 24">
            <a:extLst>
              <a:ext uri="{FF2B5EF4-FFF2-40B4-BE49-F238E27FC236}">
                <a16:creationId xmlns:a16="http://schemas.microsoft.com/office/drawing/2014/main" id="{7C78889A-503E-467E-AD81-CB1F373AB02A}"/>
              </a:ext>
            </a:extLst>
          </p:cNvPr>
          <p:cNvSpPr txBox="1"/>
          <p:nvPr/>
        </p:nvSpPr>
        <p:spPr>
          <a:xfrm>
            <a:off x="4118920" y="3121730"/>
            <a:ext cx="13849350" cy="3694409"/>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Deep learning monitors for stress, discomfort, or suspicious behavior.</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Facial expression analysis detects emotional distress or unusual actions.</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Real-time alerts are sent to security for investigation.</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Proactive approach enhances safety with immediate behavioral insights. </a:t>
            </a:r>
          </a:p>
        </p:txBody>
      </p:sp>
      <p:pic>
        <p:nvPicPr>
          <p:cNvPr id="5" name="Picture 4">
            <a:hlinkClick r:id="rId4" action="ppaction://hlinksldjump"/>
            <a:extLst>
              <a:ext uri="{FF2B5EF4-FFF2-40B4-BE49-F238E27FC236}">
                <a16:creationId xmlns:a16="http://schemas.microsoft.com/office/drawing/2014/main" id="{21F20241-F233-1BC7-A8D9-9195BC72100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37020" y="8188351"/>
            <a:ext cx="1607645" cy="1339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02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1E5F40-006A-9F63-6094-CA47F5D0C4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6813C41-A5A9-9A44-0E33-AFE5C3209B96}"/>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FF46A723-24D4-B941-8781-0F3859B5F51B}"/>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52A5F7FE-2D54-FCD8-255D-9AB1F2E94B77}"/>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14F7D1A9-B453-10BE-703A-000B116CA074}"/>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138E2F23-9791-A19A-BD1A-251C375421D3}"/>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834990F9-1437-213D-DE7A-42704307E17E}"/>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6D1B2BAC-9B13-0853-9C06-D919E86B7CE9}"/>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3" name="TextBox 13">
            <a:extLst>
              <a:ext uri="{FF2B5EF4-FFF2-40B4-BE49-F238E27FC236}">
                <a16:creationId xmlns:a16="http://schemas.microsoft.com/office/drawing/2014/main" id="{6FFCDD14-1B04-26B1-CDB2-CE8E0D4B6A85}"/>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4" name="TextBox 14">
            <a:extLst>
              <a:ext uri="{FF2B5EF4-FFF2-40B4-BE49-F238E27FC236}">
                <a16:creationId xmlns:a16="http://schemas.microsoft.com/office/drawing/2014/main" id="{52B50051-6C36-DCE9-E5FC-6CE882AC8EBB}"/>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5" name="TextBox 15">
            <a:extLst>
              <a:ext uri="{FF2B5EF4-FFF2-40B4-BE49-F238E27FC236}">
                <a16:creationId xmlns:a16="http://schemas.microsoft.com/office/drawing/2014/main" id="{A8433A1B-23F8-0783-C266-BE1EA6E4A1B2}"/>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7" name="TextBox 17">
            <a:extLst>
              <a:ext uri="{FF2B5EF4-FFF2-40B4-BE49-F238E27FC236}">
                <a16:creationId xmlns:a16="http://schemas.microsoft.com/office/drawing/2014/main" id="{A99D4233-DB94-2169-37F2-4A7631B06CDA}"/>
              </a:ext>
            </a:extLst>
          </p:cNvPr>
          <p:cNvSpPr txBox="1"/>
          <p:nvPr/>
        </p:nvSpPr>
        <p:spPr>
          <a:xfrm>
            <a:off x="-1195619" y="1541455"/>
            <a:ext cx="8792919" cy="1114536"/>
          </a:xfrm>
          <a:prstGeom prst="rect">
            <a:avLst/>
          </a:prstGeom>
        </p:spPr>
        <p:txBody>
          <a:bodyPr wrap="square" lIns="0" tIns="0" rIns="0" bIns="0" rtlCol="0" anchor="t">
            <a:spAutoFit/>
          </a:bodyPr>
          <a:lstStyle/>
          <a:p>
            <a:pPr algn="ctr">
              <a:lnSpc>
                <a:spcPts val="8560"/>
              </a:lnSpc>
            </a:pPr>
            <a:r>
              <a:rPr lang="en-US" sz="8000" b="1" dirty="0">
                <a:solidFill>
                  <a:srgbClr val="FFFFFF"/>
                </a:solidFill>
                <a:latin typeface="Bebas Neue Cyrillic" panose="020B0604020202020204" charset="0"/>
                <a:ea typeface="Poppins Bold"/>
                <a:cs typeface="Poppins Bold"/>
                <a:sym typeface="Poppins Bold"/>
              </a:rPr>
              <a:t>Applications</a:t>
            </a:r>
          </a:p>
        </p:txBody>
      </p:sp>
      <p:grpSp>
        <p:nvGrpSpPr>
          <p:cNvPr id="18" name="Group 18">
            <a:extLst>
              <a:ext uri="{FF2B5EF4-FFF2-40B4-BE49-F238E27FC236}">
                <a16:creationId xmlns:a16="http://schemas.microsoft.com/office/drawing/2014/main" id="{ECB10575-9FA4-C8EC-E0CA-E18A6F09F876}"/>
              </a:ext>
            </a:extLst>
          </p:cNvPr>
          <p:cNvGrpSpPr/>
          <p:nvPr/>
        </p:nvGrpSpPr>
        <p:grpSpPr>
          <a:xfrm>
            <a:off x="1013460" y="2642177"/>
            <a:ext cx="2931669" cy="48939"/>
            <a:chOff x="0" y="0"/>
            <a:chExt cx="772127" cy="12889"/>
          </a:xfrm>
        </p:grpSpPr>
        <p:sp>
          <p:nvSpPr>
            <p:cNvPr id="19" name="Freeform 19">
              <a:extLst>
                <a:ext uri="{FF2B5EF4-FFF2-40B4-BE49-F238E27FC236}">
                  <a16:creationId xmlns:a16="http://schemas.microsoft.com/office/drawing/2014/main" id="{F26F2538-92B4-A711-7590-50AA046444A2}"/>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0" name="TextBox 20">
              <a:extLst>
                <a:ext uri="{FF2B5EF4-FFF2-40B4-BE49-F238E27FC236}">
                  <a16:creationId xmlns:a16="http://schemas.microsoft.com/office/drawing/2014/main" id="{8E6098CC-0EE1-B9E2-AECF-088CCCF25B13}"/>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grpSp>
        <p:nvGrpSpPr>
          <p:cNvPr id="35" name="Group 34">
            <a:extLst>
              <a:ext uri="{FF2B5EF4-FFF2-40B4-BE49-F238E27FC236}">
                <a16:creationId xmlns:a16="http://schemas.microsoft.com/office/drawing/2014/main" id="{EF32F8E1-E93D-F7BC-A755-F11054B21AD7}"/>
              </a:ext>
            </a:extLst>
          </p:cNvPr>
          <p:cNvGrpSpPr/>
          <p:nvPr/>
        </p:nvGrpSpPr>
        <p:grpSpPr>
          <a:xfrm>
            <a:off x="411718" y="3481477"/>
            <a:ext cx="3286121" cy="4114408"/>
            <a:chOff x="3352800" y="2856962"/>
            <a:chExt cx="3286121" cy="4114408"/>
          </a:xfrm>
        </p:grpSpPr>
        <p:pic>
          <p:nvPicPr>
            <p:cNvPr id="36" name="Picture 35" descr="A set of blue circular shapes&#10;&#10;Description automatically generated">
              <a:extLst>
                <a:ext uri="{FF2B5EF4-FFF2-40B4-BE49-F238E27FC236}">
                  <a16:creationId xmlns:a16="http://schemas.microsoft.com/office/drawing/2014/main" id="{999502A7-70B0-C398-38B3-001CA34A716E}"/>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3352800" y="2856962"/>
              <a:ext cx="3286121" cy="3130585"/>
            </a:xfrm>
            <a:prstGeom prst="rect">
              <a:avLst/>
            </a:prstGeom>
          </p:spPr>
        </p:pic>
        <p:sp>
          <p:nvSpPr>
            <p:cNvPr id="39" name="TextBox 7">
              <a:extLst>
                <a:ext uri="{FF2B5EF4-FFF2-40B4-BE49-F238E27FC236}">
                  <a16:creationId xmlns:a16="http://schemas.microsoft.com/office/drawing/2014/main" id="{5F57D77C-D203-C3B1-E31B-6347B50BFF6F}"/>
                </a:ext>
              </a:extLst>
            </p:cNvPr>
            <p:cNvSpPr txBox="1"/>
            <p:nvPr/>
          </p:nvSpPr>
          <p:spPr>
            <a:xfrm flipV="1">
              <a:off x="4038600" y="6180646"/>
              <a:ext cx="2103323" cy="790724"/>
            </a:xfrm>
            <a:prstGeom prst="rect">
              <a:avLst/>
            </a:prstGeom>
          </p:spPr>
          <p:txBody>
            <a:bodyPr lIns="35560" tIns="35560" rIns="35560" bIns="35560" rtlCol="0" anchor="ctr"/>
            <a:lstStyle/>
            <a:p>
              <a:pPr algn="ctr">
                <a:lnSpc>
                  <a:spcPts val="1960"/>
                </a:lnSpc>
              </a:pPr>
              <a:endParaRPr sz="988"/>
            </a:p>
          </p:txBody>
        </p:sp>
      </p:grpSp>
      <p:sp>
        <p:nvSpPr>
          <p:cNvPr id="54" name="Rectangle 1">
            <a:extLst>
              <a:ext uri="{FF2B5EF4-FFF2-40B4-BE49-F238E27FC236}">
                <a16:creationId xmlns:a16="http://schemas.microsoft.com/office/drawing/2014/main" id="{38C6B27B-F9BC-8C12-3876-57488391F3C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descr="A camera in a store&#10;&#10;Description automatically generated">
            <a:extLst>
              <a:ext uri="{FF2B5EF4-FFF2-40B4-BE49-F238E27FC236}">
                <a16:creationId xmlns:a16="http://schemas.microsoft.com/office/drawing/2014/main" id="{1495ACFD-9FE6-88E0-5F48-74ACFF3CF7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551" y="3804910"/>
            <a:ext cx="2362200" cy="2362200"/>
          </a:xfrm>
          <a:prstGeom prst="flowChartConnector">
            <a:avLst/>
          </a:prstGeom>
        </p:spPr>
      </p:pic>
      <p:sp>
        <p:nvSpPr>
          <p:cNvPr id="10" name="Freeform 6">
            <a:extLst>
              <a:ext uri="{FF2B5EF4-FFF2-40B4-BE49-F238E27FC236}">
                <a16:creationId xmlns:a16="http://schemas.microsoft.com/office/drawing/2014/main" id="{D596ED7A-78D4-CB34-1AA6-7E961391962B}"/>
              </a:ext>
            </a:extLst>
          </p:cNvPr>
          <p:cNvSpPr/>
          <p:nvPr/>
        </p:nvSpPr>
        <p:spPr>
          <a:xfrm rot="10800000" flipV="1">
            <a:off x="453985" y="6763214"/>
            <a:ext cx="3472217" cy="604170"/>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r>
              <a:rPr lang="en-US" sz="2800" b="1" dirty="0">
                <a:solidFill>
                  <a:schemeClr val="bg1"/>
                </a:solidFill>
              </a:rPr>
              <a:t>Customer Experience</a:t>
            </a:r>
          </a:p>
        </p:txBody>
      </p:sp>
      <p:sp>
        <p:nvSpPr>
          <p:cNvPr id="21" name="Rectangle 1">
            <a:extLst>
              <a:ext uri="{FF2B5EF4-FFF2-40B4-BE49-F238E27FC236}">
                <a16:creationId xmlns:a16="http://schemas.microsoft.com/office/drawing/2014/main" id="{15E823F0-A364-0548-6843-E7B924E91A9D}"/>
              </a:ext>
            </a:extLst>
          </p:cNvPr>
          <p:cNvSpPr>
            <a:spLocks noChangeArrowheads="1"/>
          </p:cNvSpPr>
          <p:nvPr/>
        </p:nvSpPr>
        <p:spPr bwMode="auto">
          <a:xfrm>
            <a:off x="3844374" y="2769043"/>
            <a:ext cx="14528282" cy="5910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3200" b="1"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Retailers can use deep learning to monitor facial expressions while shopping.</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Analyzing emotions like happiness or frustration helps improve customer service.</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Store design, displays, and sales strategies can be adjusted based on emotional insights.</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This analysis enhances marketing strategies and customer satisfaction.</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bg1"/>
              </a:solidFill>
              <a:effectLst/>
              <a:latin typeface="Arial" panose="020B0604020202020204" pitchFamily="34" charset="0"/>
            </a:endParaRPr>
          </a:p>
        </p:txBody>
      </p:sp>
      <p:pic>
        <p:nvPicPr>
          <p:cNvPr id="5" name="Picture 4">
            <a:hlinkClick r:id="rId4" action="ppaction://hlinksldjump"/>
            <a:extLst>
              <a:ext uri="{FF2B5EF4-FFF2-40B4-BE49-F238E27FC236}">
                <a16:creationId xmlns:a16="http://schemas.microsoft.com/office/drawing/2014/main" id="{A08F7B93-CFBD-F7A9-C192-C24AD07A2E3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37020" y="8188351"/>
            <a:ext cx="1607645" cy="1339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856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FCAFDA-D6A9-F82B-C651-A21D265869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45E7602-BDAA-7A5B-D729-B1317FA84269}"/>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C4407486-F180-A1AE-5CD2-D16A652AC0BA}"/>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F31A866D-B92C-E72B-D93C-D1204C764703}"/>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7287C260-4F2B-2E15-303D-F07BE27E5F10}"/>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8CBB11D8-0DD6-16D6-8B97-91B57C8EA487}"/>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602E1E7E-B9AB-B992-CFA4-8E918FB48CA7}"/>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C7E9EF55-8FDE-0EAD-6859-307D656E19D0}"/>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3" name="TextBox 13">
            <a:extLst>
              <a:ext uri="{FF2B5EF4-FFF2-40B4-BE49-F238E27FC236}">
                <a16:creationId xmlns:a16="http://schemas.microsoft.com/office/drawing/2014/main" id="{16EFF413-F2D0-88D2-FBEA-2B4B829E4A96}"/>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4" name="TextBox 14">
            <a:extLst>
              <a:ext uri="{FF2B5EF4-FFF2-40B4-BE49-F238E27FC236}">
                <a16:creationId xmlns:a16="http://schemas.microsoft.com/office/drawing/2014/main" id="{1825FEB7-3BA8-A981-AA6D-DD9867C849A8}"/>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5" name="TextBox 15">
            <a:extLst>
              <a:ext uri="{FF2B5EF4-FFF2-40B4-BE49-F238E27FC236}">
                <a16:creationId xmlns:a16="http://schemas.microsoft.com/office/drawing/2014/main" id="{492972EF-C235-7A84-290C-C4AA8D0F2428}"/>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7" name="TextBox 17">
            <a:extLst>
              <a:ext uri="{FF2B5EF4-FFF2-40B4-BE49-F238E27FC236}">
                <a16:creationId xmlns:a16="http://schemas.microsoft.com/office/drawing/2014/main" id="{794ED00B-5DB6-85E1-3B6D-34111559938F}"/>
              </a:ext>
            </a:extLst>
          </p:cNvPr>
          <p:cNvSpPr txBox="1"/>
          <p:nvPr/>
        </p:nvSpPr>
        <p:spPr>
          <a:xfrm>
            <a:off x="-1282296" y="1527641"/>
            <a:ext cx="8792919" cy="1114536"/>
          </a:xfrm>
          <a:prstGeom prst="rect">
            <a:avLst/>
          </a:prstGeom>
        </p:spPr>
        <p:txBody>
          <a:bodyPr wrap="square" lIns="0" tIns="0" rIns="0" bIns="0" rtlCol="0" anchor="t">
            <a:spAutoFit/>
          </a:bodyPr>
          <a:lstStyle/>
          <a:p>
            <a:pPr algn="ctr">
              <a:lnSpc>
                <a:spcPts val="8560"/>
              </a:lnSpc>
            </a:pPr>
            <a:r>
              <a:rPr lang="en-US" sz="8000" b="1" dirty="0">
                <a:solidFill>
                  <a:srgbClr val="FFFFFF"/>
                </a:solidFill>
                <a:latin typeface="Bebas Neue Cyrillic" panose="020B0604020202020204" charset="0"/>
                <a:ea typeface="Poppins Bold"/>
                <a:cs typeface="Poppins Bold"/>
                <a:sym typeface="Poppins Bold"/>
              </a:rPr>
              <a:t>Applications</a:t>
            </a:r>
          </a:p>
        </p:txBody>
      </p:sp>
      <p:grpSp>
        <p:nvGrpSpPr>
          <p:cNvPr id="18" name="Group 18">
            <a:extLst>
              <a:ext uri="{FF2B5EF4-FFF2-40B4-BE49-F238E27FC236}">
                <a16:creationId xmlns:a16="http://schemas.microsoft.com/office/drawing/2014/main" id="{4D7E6EE7-43EE-A155-77DD-D9F9C34854A4}"/>
              </a:ext>
            </a:extLst>
          </p:cNvPr>
          <p:cNvGrpSpPr/>
          <p:nvPr/>
        </p:nvGrpSpPr>
        <p:grpSpPr>
          <a:xfrm>
            <a:off x="1013460" y="2642177"/>
            <a:ext cx="2931669" cy="48939"/>
            <a:chOff x="0" y="0"/>
            <a:chExt cx="772127" cy="12889"/>
          </a:xfrm>
        </p:grpSpPr>
        <p:sp>
          <p:nvSpPr>
            <p:cNvPr id="19" name="Freeform 19">
              <a:extLst>
                <a:ext uri="{FF2B5EF4-FFF2-40B4-BE49-F238E27FC236}">
                  <a16:creationId xmlns:a16="http://schemas.microsoft.com/office/drawing/2014/main" id="{38E9BD1F-4EC1-F847-C81E-C9717258F620}"/>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0" name="TextBox 20">
              <a:extLst>
                <a:ext uri="{FF2B5EF4-FFF2-40B4-BE49-F238E27FC236}">
                  <a16:creationId xmlns:a16="http://schemas.microsoft.com/office/drawing/2014/main" id="{6E0DC6BE-FA73-3C6A-C404-BB71A1009695}"/>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grpSp>
        <p:nvGrpSpPr>
          <p:cNvPr id="35" name="Group 34">
            <a:extLst>
              <a:ext uri="{FF2B5EF4-FFF2-40B4-BE49-F238E27FC236}">
                <a16:creationId xmlns:a16="http://schemas.microsoft.com/office/drawing/2014/main" id="{ED096E4F-D1F3-F92B-C606-A1E9E0B8D257}"/>
              </a:ext>
            </a:extLst>
          </p:cNvPr>
          <p:cNvGrpSpPr/>
          <p:nvPr/>
        </p:nvGrpSpPr>
        <p:grpSpPr>
          <a:xfrm>
            <a:off x="411718" y="3481477"/>
            <a:ext cx="3286121" cy="4114408"/>
            <a:chOff x="3352800" y="2856962"/>
            <a:chExt cx="3286121" cy="4114408"/>
          </a:xfrm>
        </p:grpSpPr>
        <p:pic>
          <p:nvPicPr>
            <p:cNvPr id="36" name="Picture 35" descr="A set of blue circular shapes&#10;&#10;Description automatically generated">
              <a:extLst>
                <a:ext uri="{FF2B5EF4-FFF2-40B4-BE49-F238E27FC236}">
                  <a16:creationId xmlns:a16="http://schemas.microsoft.com/office/drawing/2014/main" id="{D7CCFFF0-E906-7559-B488-B01815BA5A9A}"/>
                </a:ext>
              </a:extLst>
            </p:cNvPr>
            <p:cNvPicPr>
              <a:picLocks noChangeAspect="1"/>
            </p:cNvPicPr>
            <p:nvPr/>
          </p:nvPicPr>
          <p:blipFill>
            <a:blip r:embed="rId2">
              <a:extLst>
                <a:ext uri="{28A0092B-C50C-407E-A947-70E740481C1C}">
                  <a14:useLocalDpi xmlns:a14="http://schemas.microsoft.com/office/drawing/2010/main" val="0"/>
                </a:ext>
              </a:extLst>
            </a:blip>
            <a:srcRect l="50000" t="36147" r="4791" b="35257"/>
            <a:stretch/>
          </p:blipFill>
          <p:spPr>
            <a:xfrm>
              <a:off x="3352800" y="2856962"/>
              <a:ext cx="3286121" cy="3130585"/>
            </a:xfrm>
            <a:prstGeom prst="rect">
              <a:avLst/>
            </a:prstGeom>
          </p:spPr>
        </p:pic>
        <p:sp>
          <p:nvSpPr>
            <p:cNvPr id="39" name="TextBox 7">
              <a:extLst>
                <a:ext uri="{FF2B5EF4-FFF2-40B4-BE49-F238E27FC236}">
                  <a16:creationId xmlns:a16="http://schemas.microsoft.com/office/drawing/2014/main" id="{560613A6-FDC0-5941-A6C3-8D46C9554BC8}"/>
                </a:ext>
              </a:extLst>
            </p:cNvPr>
            <p:cNvSpPr txBox="1"/>
            <p:nvPr/>
          </p:nvSpPr>
          <p:spPr>
            <a:xfrm flipV="1">
              <a:off x="4038600" y="6180646"/>
              <a:ext cx="2103323" cy="790724"/>
            </a:xfrm>
            <a:prstGeom prst="rect">
              <a:avLst/>
            </a:prstGeom>
          </p:spPr>
          <p:txBody>
            <a:bodyPr lIns="35560" tIns="35560" rIns="35560" bIns="35560" rtlCol="0" anchor="ctr"/>
            <a:lstStyle/>
            <a:p>
              <a:pPr algn="ctr">
                <a:lnSpc>
                  <a:spcPts val="1960"/>
                </a:lnSpc>
              </a:pPr>
              <a:endParaRPr sz="988"/>
            </a:p>
          </p:txBody>
        </p:sp>
      </p:grpSp>
      <p:sp>
        <p:nvSpPr>
          <p:cNvPr id="54" name="Rectangle 1">
            <a:extLst>
              <a:ext uri="{FF2B5EF4-FFF2-40B4-BE49-F238E27FC236}">
                <a16:creationId xmlns:a16="http://schemas.microsoft.com/office/drawing/2014/main" id="{D82B87BE-1798-3A73-CB32-CB899B322E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Freeform 6">
            <a:extLst>
              <a:ext uri="{FF2B5EF4-FFF2-40B4-BE49-F238E27FC236}">
                <a16:creationId xmlns:a16="http://schemas.microsoft.com/office/drawing/2014/main" id="{EA9EB8A4-17E2-A30C-2947-C05E03DDC479}"/>
              </a:ext>
            </a:extLst>
          </p:cNvPr>
          <p:cNvSpPr/>
          <p:nvPr/>
        </p:nvSpPr>
        <p:spPr>
          <a:xfrm rot="10800000" flipV="1">
            <a:off x="1266021" y="6763214"/>
            <a:ext cx="1848143" cy="610082"/>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txBody>
          <a:bodyPr/>
          <a:lstStyle/>
          <a:p>
            <a:r>
              <a:rPr lang="en-US" sz="2800" b="1" i="0" dirty="0">
                <a:solidFill>
                  <a:srgbClr val="FFFFFF"/>
                </a:solidFill>
                <a:effectLst/>
              </a:rPr>
              <a:t>Education</a:t>
            </a:r>
            <a:endParaRPr lang="en-US" sz="2800" b="1" dirty="0">
              <a:solidFill>
                <a:schemeClr val="bg1"/>
              </a:solidFill>
            </a:endParaRPr>
          </a:p>
        </p:txBody>
      </p:sp>
      <p:pic>
        <p:nvPicPr>
          <p:cNvPr id="22" name="Picture 21" descr="A child with a grid on her face&#10;&#10;Description automatically generated">
            <a:extLst>
              <a:ext uri="{FF2B5EF4-FFF2-40B4-BE49-F238E27FC236}">
                <a16:creationId xmlns:a16="http://schemas.microsoft.com/office/drawing/2014/main" id="{5E1BC4F1-AC9D-76DE-2192-827854A492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9662" y="3761881"/>
            <a:ext cx="2460862" cy="2460862"/>
          </a:xfrm>
          <a:prstGeom prst="flowChartConnector">
            <a:avLst/>
          </a:prstGeom>
        </p:spPr>
      </p:pic>
      <p:sp>
        <p:nvSpPr>
          <p:cNvPr id="23" name="Rectangle 1">
            <a:extLst>
              <a:ext uri="{FF2B5EF4-FFF2-40B4-BE49-F238E27FC236}">
                <a16:creationId xmlns:a16="http://schemas.microsoft.com/office/drawing/2014/main" id="{7DD965DE-9EDD-4CA8-351F-7D465160D743}"/>
              </a:ext>
            </a:extLst>
          </p:cNvPr>
          <p:cNvSpPr>
            <a:spLocks noChangeArrowheads="1"/>
          </p:cNvSpPr>
          <p:nvPr/>
        </p:nvSpPr>
        <p:spPr bwMode="auto">
          <a:xfrm>
            <a:off x="3949418" y="3199564"/>
            <a:ext cx="13646685" cy="3694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Deep learning with CNNs detects emotional cues from students' faces.</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Identifies expressions of attention, boredom, confusion, or engagement.</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Provides real-time feedback to teachers on student engagement.</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bg1"/>
                </a:solidFill>
                <a:effectLst/>
                <a:latin typeface="Arial" panose="020B0604020202020204" pitchFamily="34" charset="0"/>
              </a:rPr>
              <a:t>Enables personalized and adaptive teaching methods. </a:t>
            </a:r>
          </a:p>
        </p:txBody>
      </p:sp>
      <p:pic>
        <p:nvPicPr>
          <p:cNvPr id="5" name="Picture 4">
            <a:hlinkClick r:id="rId4" action="ppaction://hlinksldjump"/>
            <a:extLst>
              <a:ext uri="{FF2B5EF4-FFF2-40B4-BE49-F238E27FC236}">
                <a16:creationId xmlns:a16="http://schemas.microsoft.com/office/drawing/2014/main" id="{B796597A-79A2-71E3-E0B5-BB7253ACDA7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37020" y="8188351"/>
            <a:ext cx="1607645" cy="1339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1189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5C3AE-0C4D-CD8B-6586-EB25501A562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6699ADE-9A27-6B56-FC77-C5C71D341B36}"/>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A49074D7-41AE-0903-088F-D710FB517C67}"/>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468DA641-B327-FAFC-5FDB-264D75A72902}"/>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09AA4740-64DD-FD6C-C1C9-0EBB3E285636}"/>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275153FE-9987-DF5E-A4FB-462749FBB2B8}"/>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683694F0-B927-D0E0-A304-013151C2DC95}"/>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02785CA7-CD3B-BEEC-9519-3DA35F77428A}"/>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3" name="TextBox 13">
            <a:extLst>
              <a:ext uri="{FF2B5EF4-FFF2-40B4-BE49-F238E27FC236}">
                <a16:creationId xmlns:a16="http://schemas.microsoft.com/office/drawing/2014/main" id="{3CA3C02F-A399-1190-B0DE-CD0F75AF6589}"/>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4" name="TextBox 14">
            <a:extLst>
              <a:ext uri="{FF2B5EF4-FFF2-40B4-BE49-F238E27FC236}">
                <a16:creationId xmlns:a16="http://schemas.microsoft.com/office/drawing/2014/main" id="{B5BDECC7-8A84-6615-09C5-168527BB6793}"/>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5" name="TextBox 15">
            <a:extLst>
              <a:ext uri="{FF2B5EF4-FFF2-40B4-BE49-F238E27FC236}">
                <a16:creationId xmlns:a16="http://schemas.microsoft.com/office/drawing/2014/main" id="{4F7E52DB-EA8F-155F-795F-6B736E97D587}"/>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6" name="TextBox 16">
            <a:extLst>
              <a:ext uri="{FF2B5EF4-FFF2-40B4-BE49-F238E27FC236}">
                <a16:creationId xmlns:a16="http://schemas.microsoft.com/office/drawing/2014/main" id="{C9963DB3-92A5-FDA4-44CA-BC29CAED53F1}"/>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en-US" sz="1400" b="1" dirty="0">
                <a:solidFill>
                  <a:srgbClr val="FFFFFF"/>
                </a:solidFill>
                <a:latin typeface="Open Sans Bold"/>
                <a:ea typeface="Open Sans Bold"/>
                <a:cs typeface="Open Sans Bold"/>
                <a:sym typeface="Open Sans Bold"/>
              </a:rPr>
              <a:t>0</a:t>
            </a:r>
            <a:r>
              <a:rPr lang="ar-BH" sz="1400" b="1" dirty="0">
                <a:solidFill>
                  <a:srgbClr val="FFFFFF"/>
                </a:solidFill>
                <a:latin typeface="Open Sans Bold"/>
                <a:ea typeface="Open Sans Bold"/>
                <a:cs typeface="Open Sans Bold"/>
                <a:sym typeface="Open Sans Bold"/>
              </a:rPr>
              <a:t>8</a:t>
            </a:r>
            <a:endParaRPr lang="en-US" sz="1400" b="1" dirty="0">
              <a:solidFill>
                <a:srgbClr val="FFFFFF"/>
              </a:solidFill>
              <a:latin typeface="Open Sans Bold"/>
              <a:ea typeface="Open Sans Bold"/>
              <a:cs typeface="Open Sans Bold"/>
              <a:sym typeface="Open Sans Bold"/>
            </a:endParaRPr>
          </a:p>
        </p:txBody>
      </p:sp>
      <p:sp>
        <p:nvSpPr>
          <p:cNvPr id="54" name="Rectangle 1">
            <a:extLst>
              <a:ext uri="{FF2B5EF4-FFF2-40B4-BE49-F238E27FC236}">
                <a16:creationId xmlns:a16="http://schemas.microsoft.com/office/drawing/2014/main" id="{A882E3DD-FFB9-A947-6AE5-81EF4CEA1B7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146" name="Picture 2">
            <a:extLst>
              <a:ext uri="{FF2B5EF4-FFF2-40B4-BE49-F238E27FC236}">
                <a16:creationId xmlns:a16="http://schemas.microsoft.com/office/drawing/2014/main" id="{DA3FA11D-249B-3CE4-85B3-8577DAC2E639}"/>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64260"/>
          <a:stretch/>
        </p:blipFill>
        <p:spPr bwMode="auto">
          <a:xfrm>
            <a:off x="248241" y="787897"/>
            <a:ext cx="5334000" cy="8965379"/>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F1B63E50-50B7-DA2A-A319-1F6F352975FC}"/>
              </a:ext>
            </a:extLst>
          </p:cNvPr>
          <p:cNvSpPr/>
          <p:nvPr/>
        </p:nvSpPr>
        <p:spPr>
          <a:xfrm>
            <a:off x="4149129" y="3704503"/>
            <a:ext cx="9989742" cy="2338461"/>
          </a:xfrm>
          <a:prstGeom prst="rect">
            <a:avLst/>
          </a:prstGeom>
          <a:noFill/>
        </p:spPr>
        <p:txBody>
          <a:bodyPr wrap="square" lIns="91440" tIns="45720" rIns="91440" bIns="45720">
            <a:spAutoFit/>
            <a:scene3d>
              <a:camera prst="orthographicFront"/>
              <a:lightRig rig="threePt" dir="t"/>
            </a:scene3d>
            <a:sp3d extrusionH="57150">
              <a:bevelT w="38100" h="38100"/>
            </a:sp3d>
          </a:bodyPr>
          <a:lstStyle/>
          <a:p>
            <a:pPr algn="ctr">
              <a:lnSpc>
                <a:spcPts val="8560"/>
              </a:lnSpc>
            </a:pPr>
            <a:r>
              <a:rPr lang="en-US" sz="8800" b="1" dirty="0">
                <a:ln w="0"/>
                <a:solidFill>
                  <a:schemeClr val="bg2">
                    <a:lumMod val="90000"/>
                  </a:schemeClr>
                </a:solidFill>
                <a:effectLst>
                  <a:reflection blurRad="6350" stA="53000" endA="300" endPos="35500" dir="5400000" sy="-90000" algn="bl" rotWithShape="0"/>
                </a:effectLst>
                <a:latin typeface="Poppins Bold "/>
                <a:ea typeface="Poppins Bold"/>
                <a:cs typeface="Poppins Bold"/>
                <a:sym typeface="Poppins Bold"/>
              </a:rPr>
              <a:t>Dataset Description</a:t>
            </a:r>
          </a:p>
        </p:txBody>
      </p:sp>
      <p:pic>
        <p:nvPicPr>
          <p:cNvPr id="22" name="Picture 2">
            <a:extLst>
              <a:ext uri="{FF2B5EF4-FFF2-40B4-BE49-F238E27FC236}">
                <a16:creationId xmlns:a16="http://schemas.microsoft.com/office/drawing/2014/main" id="{338691A5-9610-92FC-ECE6-88D0640FFB68}"/>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64260"/>
          <a:stretch/>
        </p:blipFill>
        <p:spPr bwMode="auto">
          <a:xfrm>
            <a:off x="11811869" y="720935"/>
            <a:ext cx="5334000" cy="8965379"/>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560AD125-BA19-5EF2-B744-E68A4740575B}"/>
              </a:ext>
            </a:extLst>
          </p:cNvPr>
          <p:cNvSpPr txBox="1"/>
          <p:nvPr/>
        </p:nvSpPr>
        <p:spPr>
          <a:xfrm>
            <a:off x="2002853" y="2088707"/>
            <a:ext cx="2301045" cy="163121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Dataset Overview:</a:t>
            </a:r>
            <a:r>
              <a:rPr kumimoji="0" lang="en-US" altLang="en-US" sz="2000" b="0" i="0" u="none" strike="noStrike" cap="none" normalizeH="0" baseline="0" dirty="0">
                <a:ln>
                  <a:noFill/>
                </a:ln>
                <a:solidFill>
                  <a:schemeClr val="bg1"/>
                </a:solidFill>
                <a:effectLst/>
                <a:latin typeface="Arial" panose="020B0604020202020204" pitchFamily="34" charset="0"/>
              </a:rPr>
              <a:t> 5000 images for classifying human facial expressions.</a:t>
            </a:r>
          </a:p>
        </p:txBody>
      </p:sp>
      <p:sp>
        <p:nvSpPr>
          <p:cNvPr id="27" name="TextBox 26">
            <a:extLst>
              <a:ext uri="{FF2B5EF4-FFF2-40B4-BE49-F238E27FC236}">
                <a16:creationId xmlns:a16="http://schemas.microsoft.com/office/drawing/2014/main" id="{DBD6B10D-EEA1-192F-2081-DD11C0F68ACC}"/>
              </a:ext>
            </a:extLst>
          </p:cNvPr>
          <p:cNvSpPr txBox="1"/>
          <p:nvPr/>
        </p:nvSpPr>
        <p:spPr>
          <a:xfrm>
            <a:off x="1988068" y="3740008"/>
            <a:ext cx="2865666" cy="163121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Categorical Distribution:</a:t>
            </a:r>
            <a:r>
              <a:rPr kumimoji="0" lang="en-US" altLang="en-US" sz="2000" b="0" i="0" u="none" strike="noStrike" cap="none" normalizeH="0" baseline="0" dirty="0">
                <a:ln>
                  <a:noFill/>
                </a:ln>
                <a:solidFill>
                  <a:schemeClr val="bg1"/>
                </a:solidFill>
                <a:effectLst/>
                <a:latin typeface="Arial" panose="020B0604020202020204" pitchFamily="34" charset="0"/>
              </a:rPr>
              <a:t> Divided into six classes: Angry, Fear, Happy, Neutral, Sad, Surprise.</a:t>
            </a:r>
          </a:p>
        </p:txBody>
      </p:sp>
      <p:sp>
        <p:nvSpPr>
          <p:cNvPr id="28" name="TextBox 27">
            <a:extLst>
              <a:ext uri="{FF2B5EF4-FFF2-40B4-BE49-F238E27FC236}">
                <a16:creationId xmlns:a16="http://schemas.microsoft.com/office/drawing/2014/main" id="{39382923-CA3E-8C28-50DD-CF8F9CB667B6}"/>
              </a:ext>
            </a:extLst>
          </p:cNvPr>
          <p:cNvSpPr txBox="1"/>
          <p:nvPr/>
        </p:nvSpPr>
        <p:spPr>
          <a:xfrm>
            <a:off x="1662854" y="5496085"/>
            <a:ext cx="3441321"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Dataset Structure:</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Training (Train):</a:t>
            </a:r>
            <a:r>
              <a:rPr kumimoji="0" lang="en-US" altLang="en-US" sz="1800" b="0" i="0" u="none" strike="noStrike" cap="none" normalizeH="0" baseline="0" dirty="0">
                <a:ln>
                  <a:noFill/>
                </a:ln>
                <a:solidFill>
                  <a:schemeClr val="bg1"/>
                </a:solidFill>
                <a:effectLst/>
                <a:latin typeface="Arial" panose="020B0604020202020204" pitchFamily="34" charset="0"/>
              </a:rPr>
              <a:t> Used to train the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Testing (Test):</a:t>
            </a:r>
            <a:r>
              <a:rPr kumimoji="0" lang="en-US" altLang="en-US" sz="1800" b="0" i="0" u="none" strike="noStrike" cap="none" normalizeH="0" baseline="0" dirty="0">
                <a:ln>
                  <a:noFill/>
                </a:ln>
                <a:solidFill>
                  <a:schemeClr val="bg1"/>
                </a:solidFill>
                <a:effectLst/>
                <a:latin typeface="Arial" panose="020B0604020202020204" pitchFamily="34" charset="0"/>
              </a:rPr>
              <a:t> Used to evaluate the model's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Validation:</a:t>
            </a:r>
            <a:r>
              <a:rPr kumimoji="0" lang="en-US" altLang="en-US" sz="1800" b="0" i="0" u="none" strike="noStrike" cap="none" normalizeH="0" baseline="0" dirty="0">
                <a:ln>
                  <a:noFill/>
                </a:ln>
                <a:solidFill>
                  <a:schemeClr val="bg1"/>
                </a:solidFill>
                <a:effectLst/>
                <a:latin typeface="Arial" panose="020B0604020202020204" pitchFamily="34" charset="0"/>
              </a:rPr>
              <a:t> Used to fine-tune parameters during training.</a:t>
            </a:r>
          </a:p>
        </p:txBody>
      </p:sp>
      <p:sp>
        <p:nvSpPr>
          <p:cNvPr id="30" name="TextBox 29">
            <a:extLst>
              <a:ext uri="{FF2B5EF4-FFF2-40B4-BE49-F238E27FC236}">
                <a16:creationId xmlns:a16="http://schemas.microsoft.com/office/drawing/2014/main" id="{EB8892E5-C54D-B05B-D4B4-EDC230400ACE}"/>
              </a:ext>
            </a:extLst>
          </p:cNvPr>
          <p:cNvSpPr txBox="1"/>
          <p:nvPr/>
        </p:nvSpPr>
        <p:spPr>
          <a:xfrm>
            <a:off x="13372393" y="2506523"/>
            <a:ext cx="3062115"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Image Analysis:</a:t>
            </a:r>
            <a:r>
              <a:rPr kumimoji="0" lang="en-US" altLang="en-US" sz="2000" b="0" i="0" u="none" strike="noStrike" cap="none" normalizeH="0" baseline="0" dirty="0">
                <a:ln>
                  <a:noFill/>
                </a:ln>
                <a:solidFill>
                  <a:schemeClr val="bg1"/>
                </a:solidFill>
                <a:effectLst/>
                <a:latin typeface="Arial" panose="020B0604020202020204" pitchFamily="34" charset="0"/>
              </a:rPr>
              <a:t> Tools like OpenCV or PIL are used to analyze the class distribution.</a:t>
            </a:r>
          </a:p>
        </p:txBody>
      </p:sp>
      <p:sp>
        <p:nvSpPr>
          <p:cNvPr id="31" name="TextBox 30">
            <a:extLst>
              <a:ext uri="{FF2B5EF4-FFF2-40B4-BE49-F238E27FC236}">
                <a16:creationId xmlns:a16="http://schemas.microsoft.com/office/drawing/2014/main" id="{56D1C3AF-E743-4DB3-51AC-230BA45710E4}"/>
              </a:ext>
            </a:extLst>
          </p:cNvPr>
          <p:cNvSpPr txBox="1"/>
          <p:nvPr/>
        </p:nvSpPr>
        <p:spPr>
          <a:xfrm>
            <a:off x="13306975" y="4285321"/>
            <a:ext cx="3315882" cy="163121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Image Organization:</a:t>
            </a:r>
            <a:r>
              <a:rPr kumimoji="0" lang="en-US" altLang="en-US" sz="2000" b="0" i="0" u="none" strike="noStrike" cap="none" normalizeH="0" baseline="0" dirty="0">
                <a:ln>
                  <a:noFill/>
                </a:ln>
                <a:solidFill>
                  <a:schemeClr val="bg1"/>
                </a:solidFill>
                <a:effectLst/>
                <a:latin typeface="Arial" panose="020B0604020202020204" pitchFamily="34" charset="0"/>
              </a:rPr>
              <a:t> Images stored in .jpg format, organized in folders for Train, Test, and Validation sets.</a:t>
            </a:r>
          </a:p>
        </p:txBody>
      </p:sp>
      <p:sp>
        <p:nvSpPr>
          <p:cNvPr id="32" name="Rectangle 3">
            <a:extLst>
              <a:ext uri="{FF2B5EF4-FFF2-40B4-BE49-F238E27FC236}">
                <a16:creationId xmlns:a16="http://schemas.microsoft.com/office/drawing/2014/main" id="{A12B5270-D27B-81E9-4A93-7F9860EC44AF}"/>
              </a:ext>
            </a:extLst>
          </p:cNvPr>
          <p:cNvSpPr>
            <a:spLocks noChangeArrowheads="1"/>
          </p:cNvSpPr>
          <p:nvPr/>
        </p:nvSpPr>
        <p:spPr bwMode="auto">
          <a:xfrm>
            <a:off x="13319485" y="5886465"/>
            <a:ext cx="3315882"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AI Model Development:</a:t>
            </a:r>
            <a:r>
              <a:rPr kumimoji="0" lang="en-US" altLang="en-US" sz="2000" b="0" i="0" u="none" strike="noStrike" cap="none" normalizeH="0" baseline="0" dirty="0">
                <a:ln>
                  <a:noFill/>
                </a:ln>
                <a:solidFill>
                  <a:schemeClr val="bg1"/>
                </a:solidFill>
                <a:effectLst/>
                <a:latin typeface="Arial" panose="020B0604020202020204" pitchFamily="34" charset="0"/>
              </a:rPr>
              <a:t> Model is trained with the training set, fine-tuned with the validation set, and evaluated on the test set. </a:t>
            </a:r>
          </a:p>
        </p:txBody>
      </p:sp>
      <p:sp>
        <p:nvSpPr>
          <p:cNvPr id="33" name="Freeform 18">
            <a:extLst>
              <a:ext uri="{FF2B5EF4-FFF2-40B4-BE49-F238E27FC236}">
                <a16:creationId xmlns:a16="http://schemas.microsoft.com/office/drawing/2014/main" id="{2FE75B80-D938-FEEB-BB88-5199AA84026A}"/>
              </a:ext>
            </a:extLst>
          </p:cNvPr>
          <p:cNvSpPr/>
          <p:nvPr/>
        </p:nvSpPr>
        <p:spPr>
          <a:xfrm>
            <a:off x="351854" y="194051"/>
            <a:ext cx="791146" cy="850506"/>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988"/>
          </a:p>
        </p:txBody>
      </p:sp>
      <p:pic>
        <p:nvPicPr>
          <p:cNvPr id="6148" name="Picture 4">
            <a:extLst>
              <a:ext uri="{FF2B5EF4-FFF2-40B4-BE49-F238E27FC236}">
                <a16:creationId xmlns:a16="http://schemas.microsoft.com/office/drawing/2014/main" id="{3F507914-A07E-50C6-CD5E-7B7C2B20244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999" t="2267" r="62316" b="79379"/>
          <a:stretch/>
        </p:blipFill>
        <p:spPr bwMode="auto">
          <a:xfrm>
            <a:off x="5195244" y="2184443"/>
            <a:ext cx="1295400" cy="1645519"/>
          </a:xfrm>
          <a:prstGeom prst="rect">
            <a:avLst/>
          </a:prstGeom>
          <a:ln>
            <a:noFill/>
          </a:ln>
          <a:effectLst>
            <a:softEdge rad="112500"/>
          </a:effectLst>
          <a:scene3d>
            <a:camera prst="perspectiveContrastingRightFacing"/>
            <a:lightRig rig="threePt" dir="t"/>
          </a:scene3d>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B82448F5-F865-37A0-3231-42AB573FD6E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9590" t="2484" r="5374" b="78916"/>
          <a:stretch/>
        </p:blipFill>
        <p:spPr bwMode="auto">
          <a:xfrm>
            <a:off x="11811869" y="6763898"/>
            <a:ext cx="1052678" cy="1323440"/>
          </a:xfrm>
          <a:prstGeom prst="rect">
            <a:avLst/>
          </a:prstGeom>
          <a:ln>
            <a:noFill/>
          </a:ln>
          <a:effectLst>
            <a:softEdge rad="112500"/>
          </a:effectLst>
          <a:scene3d>
            <a:camera prst="perspectiveContrastingLeftFacing"/>
            <a:lightRig rig="threePt" dir="t"/>
          </a:scene3d>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674EE2A2-896A-35BD-6617-7A1AD697A8A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374" t="75703" r="79341" b="6091"/>
          <a:stretch/>
        </p:blipFill>
        <p:spPr bwMode="auto">
          <a:xfrm>
            <a:off x="5116685" y="6714723"/>
            <a:ext cx="1070058" cy="1295400"/>
          </a:xfrm>
          <a:prstGeom prst="rect">
            <a:avLst/>
          </a:prstGeom>
          <a:ln>
            <a:noFill/>
          </a:ln>
          <a:effectLst>
            <a:softEdge rad="112500"/>
          </a:effectLst>
          <a:scene3d>
            <a:camera prst="perspectiveContrastingRightFacing"/>
            <a:lightRig rig="threePt" dir="t"/>
          </a:scene3d>
          <a:extLst>
            <a:ext uri="{909E8E84-426E-40DD-AFC4-6F175D3DCCD1}">
              <a14:hiddenFill xmlns:a14="http://schemas.microsoft.com/office/drawing/2010/main">
                <a:solidFill>
                  <a:srgbClr val="FFFFFF"/>
                </a:solidFill>
              </a14:hiddenFill>
            </a:ext>
          </a:extLst>
        </p:spPr>
      </p:pic>
      <p:pic>
        <p:nvPicPr>
          <p:cNvPr id="6158" name="Picture 14">
            <a:extLst>
              <a:ext uri="{FF2B5EF4-FFF2-40B4-BE49-F238E27FC236}">
                <a16:creationId xmlns:a16="http://schemas.microsoft.com/office/drawing/2014/main" id="{61CC86E4-37AA-FA2F-949C-68F7045A7CB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1293" r="43671" b="80357"/>
          <a:stretch/>
        </p:blipFill>
        <p:spPr bwMode="auto">
          <a:xfrm>
            <a:off x="11828662" y="2100700"/>
            <a:ext cx="1052678" cy="1397651"/>
          </a:xfrm>
          <a:prstGeom prst="rect">
            <a:avLst/>
          </a:prstGeom>
          <a:ln>
            <a:noFill/>
          </a:ln>
          <a:effectLst>
            <a:softEdge rad="112500"/>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188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500" fill="hold"/>
                                        <p:tgtEl>
                                          <p:spTgt spid="15"/>
                                        </p:tgtEl>
                                        <p:attrNameLst>
                                          <p:attrName>ppt_w</p:attrName>
                                        </p:attrNameLst>
                                      </p:cBhvr>
                                      <p:tavLst>
                                        <p:tav tm="0">
                                          <p:val>
                                            <p:fltVal val="0"/>
                                          </p:val>
                                        </p:tav>
                                        <p:tav tm="100000">
                                          <p:val>
                                            <p:strVal val="#ppt_w"/>
                                          </p:val>
                                        </p:tav>
                                      </p:tavLst>
                                    </p:anim>
                                    <p:anim calcmode="lin" valueType="num">
                                      <p:cBhvr>
                                        <p:cTn id="33" dur="500" fill="hold"/>
                                        <p:tgtEl>
                                          <p:spTgt spid="15"/>
                                        </p:tgtEl>
                                        <p:attrNameLst>
                                          <p:attrName>ppt_h</p:attrName>
                                        </p:attrNameLst>
                                      </p:cBhvr>
                                      <p:tavLst>
                                        <p:tav tm="0">
                                          <p:val>
                                            <p:fltVal val="0"/>
                                          </p:val>
                                        </p:tav>
                                        <p:tav tm="100000">
                                          <p:val>
                                            <p:strVal val="#ppt_h"/>
                                          </p:val>
                                        </p:tav>
                                      </p:tavLst>
                                    </p:anim>
                                    <p:animEffect transition="in" filter="fade">
                                      <p:cBhvr>
                                        <p:cTn id="34" dur="500"/>
                                        <p:tgtEl>
                                          <p:spTgt spid="15"/>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54"/>
                                        </p:tgtEl>
                                        <p:attrNameLst>
                                          <p:attrName>style.visibility</p:attrName>
                                        </p:attrNameLst>
                                      </p:cBhvr>
                                      <p:to>
                                        <p:strVal val="visible"/>
                                      </p:to>
                                    </p:set>
                                    <p:anim calcmode="lin" valueType="num">
                                      <p:cBhvr>
                                        <p:cTn id="42" dur="500" fill="hold"/>
                                        <p:tgtEl>
                                          <p:spTgt spid="54"/>
                                        </p:tgtEl>
                                        <p:attrNameLst>
                                          <p:attrName>ppt_w</p:attrName>
                                        </p:attrNameLst>
                                      </p:cBhvr>
                                      <p:tavLst>
                                        <p:tav tm="0">
                                          <p:val>
                                            <p:fltVal val="0"/>
                                          </p:val>
                                        </p:tav>
                                        <p:tav tm="100000">
                                          <p:val>
                                            <p:strVal val="#ppt_w"/>
                                          </p:val>
                                        </p:tav>
                                      </p:tavLst>
                                    </p:anim>
                                    <p:anim calcmode="lin" valueType="num">
                                      <p:cBhvr>
                                        <p:cTn id="43" dur="500" fill="hold"/>
                                        <p:tgtEl>
                                          <p:spTgt spid="54"/>
                                        </p:tgtEl>
                                        <p:attrNameLst>
                                          <p:attrName>ppt_h</p:attrName>
                                        </p:attrNameLst>
                                      </p:cBhvr>
                                      <p:tavLst>
                                        <p:tav tm="0">
                                          <p:val>
                                            <p:fltVal val="0"/>
                                          </p:val>
                                        </p:tav>
                                        <p:tav tm="100000">
                                          <p:val>
                                            <p:strVal val="#ppt_h"/>
                                          </p:val>
                                        </p:tav>
                                      </p:tavLst>
                                    </p:anim>
                                    <p:animEffect transition="in" filter="fade">
                                      <p:cBhvr>
                                        <p:cTn id="44" dur="500"/>
                                        <p:tgtEl>
                                          <p:spTgt spid="54"/>
                                        </p:tgtEl>
                                      </p:cBhvr>
                                    </p:animEffect>
                                  </p:childTnLst>
                                </p:cTn>
                              </p:par>
                              <p:par>
                                <p:cTn id="45" presetID="53" presetClass="entr" presetSubtype="16" fill="hold" nodeType="withEffect">
                                  <p:stCondLst>
                                    <p:cond delay="0"/>
                                  </p:stCondLst>
                                  <p:childTnLst>
                                    <p:set>
                                      <p:cBhvr>
                                        <p:cTn id="46" dur="1" fill="hold">
                                          <p:stCondLst>
                                            <p:cond delay="0"/>
                                          </p:stCondLst>
                                        </p:cTn>
                                        <p:tgtEl>
                                          <p:spTgt spid="6146"/>
                                        </p:tgtEl>
                                        <p:attrNameLst>
                                          <p:attrName>style.visibility</p:attrName>
                                        </p:attrNameLst>
                                      </p:cBhvr>
                                      <p:to>
                                        <p:strVal val="visible"/>
                                      </p:to>
                                    </p:set>
                                    <p:anim calcmode="lin" valueType="num">
                                      <p:cBhvr>
                                        <p:cTn id="47" dur="500" fill="hold"/>
                                        <p:tgtEl>
                                          <p:spTgt spid="6146"/>
                                        </p:tgtEl>
                                        <p:attrNameLst>
                                          <p:attrName>ppt_w</p:attrName>
                                        </p:attrNameLst>
                                      </p:cBhvr>
                                      <p:tavLst>
                                        <p:tav tm="0">
                                          <p:val>
                                            <p:fltVal val="0"/>
                                          </p:val>
                                        </p:tav>
                                        <p:tav tm="100000">
                                          <p:val>
                                            <p:strVal val="#ppt_w"/>
                                          </p:val>
                                        </p:tav>
                                      </p:tavLst>
                                    </p:anim>
                                    <p:anim calcmode="lin" valueType="num">
                                      <p:cBhvr>
                                        <p:cTn id="48" dur="500" fill="hold"/>
                                        <p:tgtEl>
                                          <p:spTgt spid="6146"/>
                                        </p:tgtEl>
                                        <p:attrNameLst>
                                          <p:attrName>ppt_h</p:attrName>
                                        </p:attrNameLst>
                                      </p:cBhvr>
                                      <p:tavLst>
                                        <p:tav tm="0">
                                          <p:val>
                                            <p:fltVal val="0"/>
                                          </p:val>
                                        </p:tav>
                                        <p:tav tm="100000">
                                          <p:val>
                                            <p:strVal val="#ppt_h"/>
                                          </p:val>
                                        </p:tav>
                                      </p:tavLst>
                                    </p:anim>
                                    <p:animEffect transition="in" filter="fade">
                                      <p:cBhvr>
                                        <p:cTn id="49" dur="500"/>
                                        <p:tgtEl>
                                          <p:spTgt spid="6146"/>
                                        </p:tgtEl>
                                      </p:cBhvr>
                                    </p:animEffect>
                                  </p:childTnLst>
                                </p:cTn>
                              </p:par>
                              <p:par>
                                <p:cTn id="50" presetID="53" presetClass="entr" presetSubtype="16"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p:cTn id="52" dur="500" fill="hold"/>
                                        <p:tgtEl>
                                          <p:spTgt spid="22"/>
                                        </p:tgtEl>
                                        <p:attrNameLst>
                                          <p:attrName>ppt_w</p:attrName>
                                        </p:attrNameLst>
                                      </p:cBhvr>
                                      <p:tavLst>
                                        <p:tav tm="0">
                                          <p:val>
                                            <p:fltVal val="0"/>
                                          </p:val>
                                        </p:tav>
                                        <p:tav tm="100000">
                                          <p:val>
                                            <p:strVal val="#ppt_w"/>
                                          </p:val>
                                        </p:tav>
                                      </p:tavLst>
                                    </p:anim>
                                    <p:anim calcmode="lin" valueType="num">
                                      <p:cBhvr>
                                        <p:cTn id="53" dur="500" fill="hold"/>
                                        <p:tgtEl>
                                          <p:spTgt spid="22"/>
                                        </p:tgtEl>
                                        <p:attrNameLst>
                                          <p:attrName>ppt_h</p:attrName>
                                        </p:attrNameLst>
                                      </p:cBhvr>
                                      <p:tavLst>
                                        <p:tav tm="0">
                                          <p:val>
                                            <p:fltVal val="0"/>
                                          </p:val>
                                        </p:tav>
                                        <p:tav tm="100000">
                                          <p:val>
                                            <p:strVal val="#ppt_h"/>
                                          </p:val>
                                        </p:tav>
                                      </p:tavLst>
                                    </p:anim>
                                    <p:animEffect transition="in" filter="fade">
                                      <p:cBhvr>
                                        <p:cTn id="54" dur="500"/>
                                        <p:tgtEl>
                                          <p:spTgt spid="22"/>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p:cTn id="57" dur="500" fill="hold"/>
                                        <p:tgtEl>
                                          <p:spTgt spid="18"/>
                                        </p:tgtEl>
                                        <p:attrNameLst>
                                          <p:attrName>ppt_w</p:attrName>
                                        </p:attrNameLst>
                                      </p:cBhvr>
                                      <p:tavLst>
                                        <p:tav tm="0">
                                          <p:val>
                                            <p:fltVal val="0"/>
                                          </p:val>
                                        </p:tav>
                                        <p:tav tm="100000">
                                          <p:val>
                                            <p:strVal val="#ppt_w"/>
                                          </p:val>
                                        </p:tav>
                                      </p:tavLst>
                                    </p:anim>
                                    <p:anim calcmode="lin" valueType="num">
                                      <p:cBhvr>
                                        <p:cTn id="58" dur="500" fill="hold"/>
                                        <p:tgtEl>
                                          <p:spTgt spid="18"/>
                                        </p:tgtEl>
                                        <p:attrNameLst>
                                          <p:attrName>ppt_h</p:attrName>
                                        </p:attrNameLst>
                                      </p:cBhvr>
                                      <p:tavLst>
                                        <p:tav tm="0">
                                          <p:val>
                                            <p:fltVal val="0"/>
                                          </p:val>
                                        </p:tav>
                                        <p:tav tm="100000">
                                          <p:val>
                                            <p:strVal val="#ppt_h"/>
                                          </p:val>
                                        </p:tav>
                                      </p:tavLst>
                                    </p:anim>
                                    <p:animEffect transition="in" filter="fade">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500"/>
                                        <p:tgtEl>
                                          <p:spTgt spid="32"/>
                                        </p:tgtEl>
                                      </p:cBhvr>
                                    </p:animEffect>
                                  </p:childTnLst>
                                </p:cTn>
                              </p:par>
                              <p:par>
                                <p:cTn id="90" presetID="10" presetClass="entr" presetSubtype="0" fill="hold" nodeType="withEffect">
                                  <p:stCondLst>
                                    <p:cond delay="0"/>
                                  </p:stCondLst>
                                  <p:childTnLst>
                                    <p:set>
                                      <p:cBhvr>
                                        <p:cTn id="91" dur="1" fill="hold">
                                          <p:stCondLst>
                                            <p:cond delay="0"/>
                                          </p:stCondLst>
                                        </p:cTn>
                                        <p:tgtEl>
                                          <p:spTgt spid="6148"/>
                                        </p:tgtEl>
                                        <p:attrNameLst>
                                          <p:attrName>style.visibility</p:attrName>
                                        </p:attrNameLst>
                                      </p:cBhvr>
                                      <p:to>
                                        <p:strVal val="visible"/>
                                      </p:to>
                                    </p:set>
                                    <p:animEffect transition="in" filter="fade">
                                      <p:cBhvr>
                                        <p:cTn id="92" dur="500"/>
                                        <p:tgtEl>
                                          <p:spTgt spid="6148"/>
                                        </p:tgtEl>
                                      </p:cBhvr>
                                    </p:animEffect>
                                  </p:childTnLst>
                                </p:cTn>
                              </p:par>
                              <p:par>
                                <p:cTn id="93" presetID="10" presetClass="entr" presetSubtype="0" fill="hold" nodeType="withEffect">
                                  <p:stCondLst>
                                    <p:cond delay="0"/>
                                  </p:stCondLst>
                                  <p:childTnLst>
                                    <p:set>
                                      <p:cBhvr>
                                        <p:cTn id="94" dur="1" fill="hold">
                                          <p:stCondLst>
                                            <p:cond delay="0"/>
                                          </p:stCondLst>
                                        </p:cTn>
                                        <p:tgtEl>
                                          <p:spTgt spid="6158"/>
                                        </p:tgtEl>
                                        <p:attrNameLst>
                                          <p:attrName>style.visibility</p:attrName>
                                        </p:attrNameLst>
                                      </p:cBhvr>
                                      <p:to>
                                        <p:strVal val="visible"/>
                                      </p:to>
                                    </p:set>
                                    <p:animEffect transition="in" filter="fade">
                                      <p:cBhvr>
                                        <p:cTn id="95" dur="500"/>
                                        <p:tgtEl>
                                          <p:spTgt spid="6158"/>
                                        </p:tgtEl>
                                      </p:cBhvr>
                                    </p:animEffect>
                                  </p:childTnLst>
                                </p:cTn>
                              </p:par>
                              <p:par>
                                <p:cTn id="96" presetID="10" presetClass="entr" presetSubtype="0" fill="hold" nodeType="withEffect">
                                  <p:stCondLst>
                                    <p:cond delay="0"/>
                                  </p:stCondLst>
                                  <p:childTnLst>
                                    <p:set>
                                      <p:cBhvr>
                                        <p:cTn id="97" dur="1" fill="hold">
                                          <p:stCondLst>
                                            <p:cond delay="0"/>
                                          </p:stCondLst>
                                        </p:cTn>
                                        <p:tgtEl>
                                          <p:spTgt spid="6154"/>
                                        </p:tgtEl>
                                        <p:attrNameLst>
                                          <p:attrName>style.visibility</p:attrName>
                                        </p:attrNameLst>
                                      </p:cBhvr>
                                      <p:to>
                                        <p:strVal val="visible"/>
                                      </p:to>
                                    </p:set>
                                    <p:animEffect transition="in" filter="fade">
                                      <p:cBhvr>
                                        <p:cTn id="98" dur="500"/>
                                        <p:tgtEl>
                                          <p:spTgt spid="6154"/>
                                        </p:tgtEl>
                                      </p:cBhvr>
                                    </p:animEffect>
                                  </p:childTnLst>
                                </p:cTn>
                              </p:par>
                              <p:par>
                                <p:cTn id="99" presetID="10" presetClass="entr" presetSubtype="0" fill="hold" nodeType="withEffect">
                                  <p:stCondLst>
                                    <p:cond delay="0"/>
                                  </p:stCondLst>
                                  <p:childTnLst>
                                    <p:set>
                                      <p:cBhvr>
                                        <p:cTn id="100" dur="1" fill="hold">
                                          <p:stCondLst>
                                            <p:cond delay="0"/>
                                          </p:stCondLst>
                                        </p:cTn>
                                        <p:tgtEl>
                                          <p:spTgt spid="6152"/>
                                        </p:tgtEl>
                                        <p:attrNameLst>
                                          <p:attrName>style.visibility</p:attrName>
                                        </p:attrNameLst>
                                      </p:cBhvr>
                                      <p:to>
                                        <p:strVal val="visible"/>
                                      </p:to>
                                    </p:set>
                                    <p:animEffect transition="in" filter="fade">
                                      <p:cBhvr>
                                        <p:cTn id="101"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54" grpId="0"/>
      <p:bldP spid="18" grpId="0"/>
      <p:bldP spid="26" grpId="0"/>
      <p:bldP spid="27" grpId="0"/>
      <p:bldP spid="28" grpId="0"/>
      <p:bldP spid="30" grpId="0"/>
      <p:bldP spid="31"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D50D-2A60-76C6-D852-B8565C575A6E}"/>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33127E58-0EC8-587C-1B25-7BB7A1BE603B}"/>
              </a:ext>
            </a:extLst>
          </p:cNvPr>
          <p:cNvGrpSpPr/>
          <p:nvPr/>
        </p:nvGrpSpPr>
        <p:grpSpPr>
          <a:xfrm>
            <a:off x="17259301" y="1"/>
            <a:ext cx="1028700" cy="1028700"/>
            <a:chOff x="0" y="0"/>
            <a:chExt cx="270933" cy="270933"/>
          </a:xfrm>
        </p:grpSpPr>
        <p:sp>
          <p:nvSpPr>
            <p:cNvPr id="6" name="Freeform 6">
              <a:extLst>
                <a:ext uri="{FF2B5EF4-FFF2-40B4-BE49-F238E27FC236}">
                  <a16:creationId xmlns:a16="http://schemas.microsoft.com/office/drawing/2014/main" id="{10F0E46C-B653-EF66-E71C-696E748E1EDD}"/>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7" name="TextBox 7">
              <a:extLst>
                <a:ext uri="{FF2B5EF4-FFF2-40B4-BE49-F238E27FC236}">
                  <a16:creationId xmlns:a16="http://schemas.microsoft.com/office/drawing/2014/main" id="{9963196C-25CF-65AC-1E41-3D2E718678AC}"/>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4C8F2747-85EE-4DD6-FFA6-FA6C8F39FC5B}"/>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9" name="TextBox 9">
            <a:extLst>
              <a:ext uri="{FF2B5EF4-FFF2-40B4-BE49-F238E27FC236}">
                <a16:creationId xmlns:a16="http://schemas.microsoft.com/office/drawing/2014/main" id="{9F09C213-89A6-C22A-5806-47B338B6E585}"/>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0" name="TextBox 10">
            <a:extLst>
              <a:ext uri="{FF2B5EF4-FFF2-40B4-BE49-F238E27FC236}">
                <a16:creationId xmlns:a16="http://schemas.microsoft.com/office/drawing/2014/main" id="{28E8D42A-B1A5-6BF3-1FC6-F67CF0775A3F}"/>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1" name="TextBox 11">
            <a:extLst>
              <a:ext uri="{FF2B5EF4-FFF2-40B4-BE49-F238E27FC236}">
                <a16:creationId xmlns:a16="http://schemas.microsoft.com/office/drawing/2014/main" id="{3D0B3588-D25D-7574-1B68-17A7938B015A}"/>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5" name="TextBox 15">
            <a:extLst>
              <a:ext uri="{FF2B5EF4-FFF2-40B4-BE49-F238E27FC236}">
                <a16:creationId xmlns:a16="http://schemas.microsoft.com/office/drawing/2014/main" id="{5A2B75AD-96B9-DED2-60EA-0E30C75CC2D0}"/>
              </a:ext>
            </a:extLst>
          </p:cNvPr>
          <p:cNvSpPr txBox="1"/>
          <p:nvPr/>
        </p:nvSpPr>
        <p:spPr>
          <a:xfrm>
            <a:off x="881400" y="519180"/>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EfficientNet</a:t>
            </a:r>
            <a:r>
              <a:rPr lang="ar-BH" sz="8000" b="1" dirty="0">
                <a:solidFill>
                  <a:schemeClr val="bg1"/>
                </a:solidFill>
                <a:latin typeface="Bebas Neue Cyrillic" panose="020B0604020202020204" charset="0"/>
              </a:rPr>
              <a:t>-</a:t>
            </a:r>
            <a:r>
              <a:rPr lang="en-US" sz="8000" b="1" dirty="0">
                <a:solidFill>
                  <a:schemeClr val="bg1"/>
                </a:solidFill>
                <a:latin typeface="Bebas Neue Cyrillic" panose="020B0604020202020204" charset="0"/>
              </a:rPr>
              <a:t>B0</a:t>
            </a:r>
          </a:p>
        </p:txBody>
      </p:sp>
      <p:grpSp>
        <p:nvGrpSpPr>
          <p:cNvPr id="16" name="Group 16">
            <a:extLst>
              <a:ext uri="{FF2B5EF4-FFF2-40B4-BE49-F238E27FC236}">
                <a16:creationId xmlns:a16="http://schemas.microsoft.com/office/drawing/2014/main" id="{0C56E0CB-3086-8722-C260-00927BB845B9}"/>
              </a:ext>
            </a:extLst>
          </p:cNvPr>
          <p:cNvGrpSpPr/>
          <p:nvPr/>
        </p:nvGrpSpPr>
        <p:grpSpPr>
          <a:xfrm>
            <a:off x="881400" y="1701347"/>
            <a:ext cx="2931669" cy="48939"/>
            <a:chOff x="0" y="0"/>
            <a:chExt cx="772127" cy="12889"/>
          </a:xfrm>
        </p:grpSpPr>
        <p:sp>
          <p:nvSpPr>
            <p:cNvPr id="17" name="Freeform 17">
              <a:extLst>
                <a:ext uri="{FF2B5EF4-FFF2-40B4-BE49-F238E27FC236}">
                  <a16:creationId xmlns:a16="http://schemas.microsoft.com/office/drawing/2014/main" id="{996B77AC-A34A-7C18-DE2D-0E825DB7C39B}"/>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18" name="TextBox 18">
              <a:extLst>
                <a:ext uri="{FF2B5EF4-FFF2-40B4-BE49-F238E27FC236}">
                  <a16:creationId xmlns:a16="http://schemas.microsoft.com/office/drawing/2014/main" id="{6A1F5276-459F-BE9A-971A-93DE050C434B}"/>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sp>
        <p:nvSpPr>
          <p:cNvPr id="43" name="Google Shape;590;p61">
            <a:extLst>
              <a:ext uri="{FF2B5EF4-FFF2-40B4-BE49-F238E27FC236}">
                <a16:creationId xmlns:a16="http://schemas.microsoft.com/office/drawing/2014/main" id="{D75B5710-9F8E-DC6C-0A85-69686DC976DD}"/>
              </a:ext>
            </a:extLst>
          </p:cNvPr>
          <p:cNvSpPr/>
          <p:nvPr/>
        </p:nvSpPr>
        <p:spPr>
          <a:xfrm rot="10800000" flipH="1">
            <a:off x="-2294232" y="7644319"/>
            <a:ext cx="3767667" cy="3630785"/>
          </a:xfrm>
          <a:prstGeom prst="ellipse">
            <a:avLst/>
          </a:prstGeom>
          <a:gradFill>
            <a:gsLst>
              <a:gs pos="0">
                <a:srgbClr val="FFFFFF">
                  <a:alpha val="15294"/>
                </a:srgbClr>
              </a:gs>
              <a:gs pos="100000">
                <a:srgbClr val="FFFFFF">
                  <a:alpha val="0"/>
                </a:srgbClr>
              </a:gs>
            </a:gsLst>
            <a:lin ang="5400012" scaled="0"/>
          </a:gradFill>
          <a:ln>
            <a:noFill/>
          </a:ln>
        </p:spPr>
        <p:txBody>
          <a:bodyPr spcFirstLastPara="1" wrap="square" lIns="91425" tIns="91425" rIns="91425" bIns="91425" anchor="ctr" anchorCtr="0">
            <a:noAutofit/>
          </a:bodyPr>
          <a:lstStyle/>
          <a:p>
            <a:endParaRPr/>
          </a:p>
        </p:txBody>
      </p:sp>
      <p:sp>
        <p:nvSpPr>
          <p:cNvPr id="109" name="Freeform 18">
            <a:extLst>
              <a:ext uri="{FF2B5EF4-FFF2-40B4-BE49-F238E27FC236}">
                <a16:creationId xmlns:a16="http://schemas.microsoft.com/office/drawing/2014/main" id="{740A2E33-EF56-AEAD-5E3F-AFA07955FD7B}"/>
              </a:ext>
            </a:extLst>
          </p:cNvPr>
          <p:cNvSpPr/>
          <p:nvPr/>
        </p:nvSpPr>
        <p:spPr>
          <a:xfrm>
            <a:off x="17676687" y="9368668"/>
            <a:ext cx="791146" cy="850506"/>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112" name="Freeform 19">
            <a:extLst>
              <a:ext uri="{FF2B5EF4-FFF2-40B4-BE49-F238E27FC236}">
                <a16:creationId xmlns:a16="http://schemas.microsoft.com/office/drawing/2014/main" id="{004505F4-683E-4A26-5F07-DA1563CD5FC0}"/>
              </a:ext>
            </a:extLst>
          </p:cNvPr>
          <p:cNvSpPr/>
          <p:nvPr/>
        </p:nvSpPr>
        <p:spPr>
          <a:xfrm>
            <a:off x="16430073" y="1510239"/>
            <a:ext cx="696332" cy="696332"/>
          </a:xfrm>
          <a:custGeom>
            <a:avLst/>
            <a:gdLst/>
            <a:ahLst/>
            <a:cxnLst/>
            <a:rect l="l" t="t" r="r" b="b"/>
            <a:pathLst>
              <a:path w="994760" h="994760">
                <a:moveTo>
                  <a:pt x="0" y="0"/>
                </a:moveTo>
                <a:lnTo>
                  <a:pt x="994760" y="0"/>
                </a:lnTo>
                <a:lnTo>
                  <a:pt x="994760" y="994760"/>
                </a:lnTo>
                <a:lnTo>
                  <a:pt x="0" y="994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35" name="TextBox 34">
            <a:extLst>
              <a:ext uri="{FF2B5EF4-FFF2-40B4-BE49-F238E27FC236}">
                <a16:creationId xmlns:a16="http://schemas.microsoft.com/office/drawing/2014/main" id="{2F44E269-46F5-C381-9325-3989FB12F05C}"/>
              </a:ext>
            </a:extLst>
          </p:cNvPr>
          <p:cNvSpPr txBox="1"/>
          <p:nvPr/>
        </p:nvSpPr>
        <p:spPr>
          <a:xfrm>
            <a:off x="963717" y="2355053"/>
            <a:ext cx="2693883" cy="584775"/>
          </a:xfrm>
          <a:prstGeom prst="rect">
            <a:avLst/>
          </a:prstGeom>
          <a:noFill/>
        </p:spPr>
        <p:txBody>
          <a:bodyPr wrap="square">
            <a:spAutoFit/>
          </a:bodyPr>
          <a:lstStyle/>
          <a:p>
            <a:r>
              <a:rPr lang="en-US" sz="3200" b="1" i="0" dirty="0">
                <a:solidFill>
                  <a:schemeClr val="bg1"/>
                </a:solidFill>
                <a:effectLst/>
                <a:latin typeface="Calibri (Body)"/>
              </a:rPr>
              <a:t>Architecture:</a:t>
            </a:r>
            <a:endParaRPr lang="en-US" sz="3200" b="1" dirty="0">
              <a:solidFill>
                <a:schemeClr val="bg1"/>
              </a:solidFill>
              <a:latin typeface="Calibri (Body)"/>
            </a:endParaRPr>
          </a:p>
        </p:txBody>
      </p:sp>
      <p:sp>
        <p:nvSpPr>
          <p:cNvPr id="36" name="TextBox 35">
            <a:extLst>
              <a:ext uri="{FF2B5EF4-FFF2-40B4-BE49-F238E27FC236}">
                <a16:creationId xmlns:a16="http://schemas.microsoft.com/office/drawing/2014/main" id="{6F3B9D74-2B6B-7003-0328-D7B00AB30928}"/>
              </a:ext>
            </a:extLst>
          </p:cNvPr>
          <p:cNvSpPr txBox="1"/>
          <p:nvPr/>
        </p:nvSpPr>
        <p:spPr>
          <a:xfrm>
            <a:off x="963717" y="2712409"/>
            <a:ext cx="6181684" cy="2246769"/>
          </a:xfrm>
          <a:prstGeom prst="rect">
            <a:avLst/>
          </a:prstGeom>
          <a:noFill/>
        </p:spPr>
        <p:txBody>
          <a:bodyPr wrap="square">
            <a:spAutoFit/>
          </a:bodyPr>
          <a:lstStyle/>
          <a:p>
            <a:br>
              <a:rPr lang="en-US" sz="2000" dirty="0">
                <a:solidFill>
                  <a:schemeClr val="bg1"/>
                </a:solidFill>
              </a:rPr>
            </a:br>
            <a:r>
              <a:rPr lang="en-US" sz="2000" b="0" i="0" dirty="0">
                <a:solidFill>
                  <a:schemeClr val="bg1"/>
                </a:solidFill>
                <a:effectLst/>
                <a:latin typeface="Roboto" panose="02000000000000000000" pitchFamily="2" charset="0"/>
              </a:rPr>
              <a:t>The EfficientNet-B0 model is based on compound scaling techniques that balance the model's depth, width, and image resolution. It is highly efficient, achieving strong performance with limited resources compared to traditional models. </a:t>
            </a:r>
            <a:br>
              <a:rPr lang="en-US" sz="2000" dirty="0">
                <a:solidFill>
                  <a:schemeClr val="bg1"/>
                </a:solidFill>
              </a:rPr>
            </a:br>
            <a:endParaRPr lang="en-US" sz="2000" dirty="0">
              <a:solidFill>
                <a:schemeClr val="bg1"/>
              </a:solidFill>
            </a:endParaRPr>
          </a:p>
        </p:txBody>
      </p:sp>
      <p:sp>
        <p:nvSpPr>
          <p:cNvPr id="37" name="TextBox 36">
            <a:extLst>
              <a:ext uri="{FF2B5EF4-FFF2-40B4-BE49-F238E27FC236}">
                <a16:creationId xmlns:a16="http://schemas.microsoft.com/office/drawing/2014/main" id="{C2FF2CB3-A812-9A75-BC94-430664C0DA8E}"/>
              </a:ext>
            </a:extLst>
          </p:cNvPr>
          <p:cNvSpPr txBox="1"/>
          <p:nvPr/>
        </p:nvSpPr>
        <p:spPr>
          <a:xfrm>
            <a:off x="10795638" y="2611874"/>
            <a:ext cx="7734113" cy="3662541"/>
          </a:xfrm>
          <a:prstGeom prst="rect">
            <a:avLst/>
          </a:prstGeom>
          <a:noFill/>
        </p:spPr>
        <p:txBody>
          <a:bodyPr wrap="square">
            <a:spAutoFit/>
          </a:bodyPr>
          <a:lstStyle/>
          <a:p>
            <a:br>
              <a:rPr lang="en-US" sz="2400" b="1" dirty="0">
                <a:solidFill>
                  <a:schemeClr val="bg1"/>
                </a:solidFill>
              </a:rPr>
            </a:br>
            <a:r>
              <a:rPr lang="en-US" sz="2400" b="1" i="0" dirty="0">
                <a:solidFill>
                  <a:schemeClr val="bg1"/>
                </a:solidFill>
                <a:effectLst/>
                <a:latin typeface="Roboto" panose="02000000000000000000" pitchFamily="2" charset="0"/>
              </a:rPr>
              <a:t>Fine-Tuning: </a:t>
            </a:r>
            <a:r>
              <a:rPr lang="en-US" sz="2000" b="0" i="0" dirty="0">
                <a:solidFill>
                  <a:schemeClr val="bg1"/>
                </a:solidFill>
                <a:effectLst/>
                <a:latin typeface="Roboto" panose="02000000000000000000" pitchFamily="2" charset="0"/>
              </a:rPr>
              <a:t>The base layers responsible for general feature extraction were frozen to reduce the need for full model training. The final layer was customized to fit the six categories. </a:t>
            </a:r>
            <a:endParaRPr lang="ar-BH" sz="2000" b="0" i="0" dirty="0">
              <a:solidFill>
                <a:schemeClr val="bg1"/>
              </a:solidFill>
              <a:effectLst/>
              <a:latin typeface="Roboto" panose="02000000000000000000" pitchFamily="2" charset="0"/>
            </a:endParaRPr>
          </a:p>
          <a:p>
            <a:endParaRPr lang="ar-BH" sz="2000" dirty="0">
              <a:solidFill>
                <a:schemeClr val="bg1"/>
              </a:solidFill>
              <a:latin typeface="Roboto" panose="02000000000000000000" pitchFamily="2" charset="0"/>
            </a:endParaRPr>
          </a:p>
          <a:p>
            <a:r>
              <a:rPr lang="en-US" sz="2000" b="1" i="0" dirty="0">
                <a:solidFill>
                  <a:schemeClr val="bg1"/>
                </a:solidFill>
                <a:effectLst/>
                <a:latin typeface="Roboto" panose="02000000000000000000" pitchFamily="2" charset="0"/>
              </a:rPr>
              <a:t>Significance</a:t>
            </a:r>
            <a:r>
              <a:rPr lang="en-US" sz="2400" b="1" i="0" dirty="0">
                <a:solidFill>
                  <a:schemeClr val="bg1"/>
                </a:solidFill>
                <a:effectLst/>
                <a:latin typeface="Roboto" panose="02000000000000000000" pitchFamily="2" charset="0"/>
              </a:rPr>
              <a:t>: </a:t>
            </a:r>
            <a:r>
              <a:rPr lang="en-US" sz="2000" b="0" i="0" dirty="0">
                <a:solidFill>
                  <a:schemeClr val="bg1"/>
                </a:solidFill>
                <a:effectLst/>
                <a:latin typeface="Roboto" panose="02000000000000000000" pitchFamily="2" charset="0"/>
              </a:rPr>
              <a:t>Reduces training time and leverages pre-extracted features. </a:t>
            </a:r>
            <a:endParaRPr lang="ar-BH" sz="2000" b="0" i="0" dirty="0">
              <a:solidFill>
                <a:schemeClr val="bg1"/>
              </a:solidFill>
              <a:effectLst/>
              <a:latin typeface="Roboto" panose="02000000000000000000" pitchFamily="2" charset="0"/>
            </a:endParaRPr>
          </a:p>
          <a:p>
            <a:endParaRPr lang="ar-BH" sz="2000" dirty="0">
              <a:solidFill>
                <a:schemeClr val="bg1"/>
              </a:solidFill>
              <a:latin typeface="Roboto" panose="02000000000000000000" pitchFamily="2" charset="0"/>
            </a:endParaRPr>
          </a:p>
          <a:p>
            <a:br>
              <a:rPr lang="en-US" sz="2000" dirty="0">
                <a:solidFill>
                  <a:schemeClr val="bg1"/>
                </a:solidFill>
              </a:rPr>
            </a:br>
            <a:br>
              <a:rPr lang="en-US" sz="2000" dirty="0">
                <a:solidFill>
                  <a:schemeClr val="bg1"/>
                </a:solidFill>
              </a:rPr>
            </a:br>
            <a:endParaRPr lang="en-US" sz="2000" dirty="0">
              <a:solidFill>
                <a:schemeClr val="bg1"/>
              </a:solidFill>
            </a:endParaRPr>
          </a:p>
        </p:txBody>
      </p:sp>
      <p:pic>
        <p:nvPicPr>
          <p:cNvPr id="38" name="Google Shape;495;p26">
            <a:extLst>
              <a:ext uri="{FF2B5EF4-FFF2-40B4-BE49-F238E27FC236}">
                <a16:creationId xmlns:a16="http://schemas.microsoft.com/office/drawing/2014/main" id="{11C42C33-6389-8BC9-D118-FA16870A9BEB}"/>
              </a:ext>
            </a:extLst>
          </p:cNvPr>
          <p:cNvPicPr preferRelativeResize="0"/>
          <p:nvPr/>
        </p:nvPicPr>
        <p:blipFill>
          <a:blip r:embed="rId4">
            <a:alphaModFix/>
            <a:duotone>
              <a:prstClr val="black"/>
              <a:schemeClr val="accent3">
                <a:tint val="45000"/>
                <a:satMod val="400000"/>
              </a:scheme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5799756" y="3835792"/>
            <a:ext cx="5605107" cy="3909604"/>
          </a:xfrm>
          <a:prstGeom prst="rect">
            <a:avLst/>
          </a:prstGeom>
          <a:noFill/>
          <a:ln>
            <a:noFill/>
          </a:ln>
        </p:spPr>
      </p:pic>
      <p:cxnSp>
        <p:nvCxnSpPr>
          <p:cNvPr id="39" name="Google Shape;520;p26">
            <a:extLst>
              <a:ext uri="{FF2B5EF4-FFF2-40B4-BE49-F238E27FC236}">
                <a16:creationId xmlns:a16="http://schemas.microsoft.com/office/drawing/2014/main" id="{1D812F84-7996-52D3-C6D1-3C5A052C15C1}"/>
              </a:ext>
            </a:extLst>
          </p:cNvPr>
          <p:cNvCxnSpPr>
            <a:cxnSpLocks/>
          </p:cNvCxnSpPr>
          <p:nvPr/>
        </p:nvCxnSpPr>
        <p:spPr>
          <a:xfrm rot="10800000">
            <a:off x="6811486" y="3215794"/>
            <a:ext cx="1306205" cy="1239997"/>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40" name="Google Shape;520;p26">
            <a:extLst>
              <a:ext uri="{FF2B5EF4-FFF2-40B4-BE49-F238E27FC236}">
                <a16:creationId xmlns:a16="http://schemas.microsoft.com/office/drawing/2014/main" id="{5713541A-8F54-062D-3195-BB80185967D3}"/>
              </a:ext>
            </a:extLst>
          </p:cNvPr>
          <p:cNvCxnSpPr>
            <a:cxnSpLocks/>
          </p:cNvCxnSpPr>
          <p:nvPr/>
        </p:nvCxnSpPr>
        <p:spPr>
          <a:xfrm flipV="1">
            <a:off x="9164987" y="3215794"/>
            <a:ext cx="1567385" cy="1459312"/>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41" name="TextBox 40">
            <a:extLst>
              <a:ext uri="{FF2B5EF4-FFF2-40B4-BE49-F238E27FC236}">
                <a16:creationId xmlns:a16="http://schemas.microsoft.com/office/drawing/2014/main" id="{7CE9EEAC-A31D-E36C-834A-3DC68BE68229}"/>
              </a:ext>
            </a:extLst>
          </p:cNvPr>
          <p:cNvSpPr txBox="1"/>
          <p:nvPr/>
        </p:nvSpPr>
        <p:spPr>
          <a:xfrm>
            <a:off x="11390207" y="5317736"/>
            <a:ext cx="6927056" cy="2000548"/>
          </a:xfrm>
          <a:prstGeom prst="rect">
            <a:avLst/>
          </a:prstGeom>
          <a:noFill/>
        </p:spPr>
        <p:txBody>
          <a:bodyPr wrap="square">
            <a:spAutoFit/>
          </a:bodyPr>
          <a:lstStyle/>
          <a:p>
            <a:r>
              <a:rPr lang="en-US" sz="2400" b="1" i="0" dirty="0">
                <a:solidFill>
                  <a:schemeClr val="bg1"/>
                </a:solidFill>
                <a:effectLst/>
                <a:latin typeface="Roboto" panose="02000000000000000000" pitchFamily="2" charset="0"/>
              </a:rPr>
              <a:t>Dropout</a:t>
            </a:r>
            <a:r>
              <a:rPr lang="en-US" sz="2000" b="1" i="0" dirty="0">
                <a:solidFill>
                  <a:schemeClr val="bg1"/>
                </a:solidFill>
                <a:effectLst/>
                <a:latin typeface="Roboto" panose="02000000000000000000" pitchFamily="2" charset="0"/>
              </a:rPr>
              <a:t>: </a:t>
            </a:r>
            <a:r>
              <a:rPr lang="en-US" sz="2000" b="0" i="0" dirty="0">
                <a:solidFill>
                  <a:schemeClr val="bg1"/>
                </a:solidFill>
                <a:effectLst/>
                <a:latin typeface="Roboto" panose="02000000000000000000" pitchFamily="2" charset="0"/>
              </a:rPr>
              <a:t>A 50% dropout layer was added to the final classification layer. </a:t>
            </a:r>
          </a:p>
          <a:p>
            <a:endParaRPr lang="en-US" sz="2000" b="0" i="0" dirty="0">
              <a:solidFill>
                <a:schemeClr val="bg1"/>
              </a:solidFill>
              <a:effectLst/>
              <a:latin typeface="Roboto" panose="02000000000000000000" pitchFamily="2" charset="0"/>
            </a:endParaRPr>
          </a:p>
          <a:p>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Reduces overfitting by randomly deactivating some connections during training. </a:t>
            </a:r>
            <a:br>
              <a:rPr lang="en-US" sz="2000" dirty="0">
                <a:solidFill>
                  <a:schemeClr val="bg1"/>
                </a:solidFill>
              </a:rPr>
            </a:br>
            <a:endParaRPr lang="en-US" sz="2000" dirty="0">
              <a:solidFill>
                <a:schemeClr val="bg1"/>
              </a:solidFill>
            </a:endParaRPr>
          </a:p>
        </p:txBody>
      </p:sp>
      <p:cxnSp>
        <p:nvCxnSpPr>
          <p:cNvPr id="42" name="Google Shape;520;p26">
            <a:extLst>
              <a:ext uri="{FF2B5EF4-FFF2-40B4-BE49-F238E27FC236}">
                <a16:creationId xmlns:a16="http://schemas.microsoft.com/office/drawing/2014/main" id="{59A7F8D2-37E7-D46B-2B69-283317C10094}"/>
              </a:ext>
            </a:extLst>
          </p:cNvPr>
          <p:cNvCxnSpPr>
            <a:cxnSpLocks/>
          </p:cNvCxnSpPr>
          <p:nvPr/>
        </p:nvCxnSpPr>
        <p:spPr>
          <a:xfrm>
            <a:off x="9948679" y="5183367"/>
            <a:ext cx="1415365" cy="326295"/>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44" name="TextBox 43">
            <a:extLst>
              <a:ext uri="{FF2B5EF4-FFF2-40B4-BE49-F238E27FC236}">
                <a16:creationId xmlns:a16="http://schemas.microsoft.com/office/drawing/2014/main" id="{1E41301E-CEBD-A642-2458-B83F0C5A174D}"/>
              </a:ext>
            </a:extLst>
          </p:cNvPr>
          <p:cNvSpPr txBox="1"/>
          <p:nvPr/>
        </p:nvSpPr>
        <p:spPr>
          <a:xfrm>
            <a:off x="11458606" y="7424415"/>
            <a:ext cx="4717256" cy="2308324"/>
          </a:xfrm>
          <a:prstGeom prst="rect">
            <a:avLst/>
          </a:prstGeom>
          <a:noFill/>
        </p:spPr>
        <p:txBody>
          <a:bodyPr wrap="square">
            <a:spAutoFit/>
          </a:bodyPr>
          <a:lstStyle/>
          <a:p>
            <a:r>
              <a:rPr lang="en-US" sz="2400" b="1" i="0" dirty="0">
                <a:solidFill>
                  <a:schemeClr val="bg1"/>
                </a:solidFill>
                <a:effectLst/>
                <a:latin typeface="Roboto" panose="02000000000000000000" pitchFamily="2" charset="0"/>
              </a:rPr>
              <a:t>Learning Rate Scheduler: </a:t>
            </a:r>
            <a:r>
              <a:rPr lang="en-US" sz="2000" b="0" i="0" dirty="0">
                <a:solidFill>
                  <a:schemeClr val="bg1"/>
                </a:solidFill>
                <a:effectLst/>
                <a:latin typeface="Roboto" panose="02000000000000000000" pitchFamily="2" charset="0"/>
              </a:rPr>
              <a:t>ReduceLROnPlateau was used to dynamically reduce the learning rate when performance plateaus.</a:t>
            </a:r>
          </a:p>
          <a:p>
            <a:endParaRPr lang="en-US" sz="2000" dirty="0">
              <a:solidFill>
                <a:schemeClr val="bg1"/>
              </a:solidFill>
              <a:latin typeface="Roboto" panose="02000000000000000000" pitchFamily="2" charset="0"/>
            </a:endParaRPr>
          </a:p>
          <a:p>
            <a:r>
              <a:rPr lang="en-US" sz="2000" b="0" i="0" dirty="0">
                <a:solidFill>
                  <a:schemeClr val="bg1"/>
                </a:solidFill>
                <a:effectLst/>
                <a:latin typeface="Roboto" panose="02000000000000000000" pitchFamily="2" charset="0"/>
              </a:rPr>
              <a:t> </a:t>
            </a:r>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Prevents resource wastage on inefficient learning rates.</a:t>
            </a:r>
            <a:endParaRPr lang="en-US" sz="2000" dirty="0">
              <a:solidFill>
                <a:schemeClr val="bg1"/>
              </a:solidFill>
            </a:endParaRPr>
          </a:p>
        </p:txBody>
      </p:sp>
      <p:cxnSp>
        <p:nvCxnSpPr>
          <p:cNvPr id="45" name="Google Shape;520;p26">
            <a:extLst>
              <a:ext uri="{FF2B5EF4-FFF2-40B4-BE49-F238E27FC236}">
                <a16:creationId xmlns:a16="http://schemas.microsoft.com/office/drawing/2014/main" id="{F0FF6DE3-6F11-148F-E3E6-8470DC3F3470}"/>
              </a:ext>
            </a:extLst>
          </p:cNvPr>
          <p:cNvCxnSpPr>
            <a:cxnSpLocks/>
          </p:cNvCxnSpPr>
          <p:nvPr/>
        </p:nvCxnSpPr>
        <p:spPr>
          <a:xfrm>
            <a:off x="10225217" y="6738729"/>
            <a:ext cx="1125903" cy="1035998"/>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46" name="TextBox 45">
            <a:extLst>
              <a:ext uri="{FF2B5EF4-FFF2-40B4-BE49-F238E27FC236}">
                <a16:creationId xmlns:a16="http://schemas.microsoft.com/office/drawing/2014/main" id="{641ED0B2-0824-A7EF-500F-CF7F864683C2}"/>
              </a:ext>
            </a:extLst>
          </p:cNvPr>
          <p:cNvSpPr txBox="1"/>
          <p:nvPr/>
        </p:nvSpPr>
        <p:spPr>
          <a:xfrm>
            <a:off x="6231737" y="8046567"/>
            <a:ext cx="5132307" cy="2000548"/>
          </a:xfrm>
          <a:prstGeom prst="rect">
            <a:avLst/>
          </a:prstGeom>
          <a:noFill/>
        </p:spPr>
        <p:txBody>
          <a:bodyPr wrap="square">
            <a:spAutoFit/>
          </a:bodyPr>
          <a:lstStyle/>
          <a:p>
            <a:r>
              <a:rPr lang="en-US" sz="2400" b="1" i="0" dirty="0">
                <a:solidFill>
                  <a:schemeClr val="bg1"/>
                </a:solidFill>
                <a:effectLst/>
                <a:latin typeface="Roboto" panose="02000000000000000000" pitchFamily="2" charset="0"/>
              </a:rPr>
              <a:t>Optimization Using Adam: </a:t>
            </a:r>
            <a:r>
              <a:rPr lang="en-US" sz="2000" b="0" i="0" dirty="0">
                <a:solidFill>
                  <a:schemeClr val="bg1"/>
                </a:solidFill>
                <a:effectLst/>
                <a:latin typeface="Roboto" panose="02000000000000000000" pitchFamily="2" charset="0"/>
              </a:rPr>
              <a:t>Combines the advantages of SGD and RMSProp for stable and fast gradients. </a:t>
            </a:r>
          </a:p>
          <a:p>
            <a:endParaRPr lang="en-US" sz="2000" dirty="0">
              <a:solidFill>
                <a:schemeClr val="bg1"/>
              </a:solidFill>
              <a:latin typeface="Roboto" panose="02000000000000000000" pitchFamily="2" charset="0"/>
            </a:endParaRPr>
          </a:p>
          <a:p>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Enhances the speed of convergence to optimal solutions.</a:t>
            </a:r>
            <a:endParaRPr lang="en-US" sz="2000" dirty="0">
              <a:solidFill>
                <a:schemeClr val="bg1"/>
              </a:solidFill>
            </a:endParaRPr>
          </a:p>
        </p:txBody>
      </p:sp>
      <p:cxnSp>
        <p:nvCxnSpPr>
          <p:cNvPr id="47" name="Google Shape;520;p26">
            <a:extLst>
              <a:ext uri="{FF2B5EF4-FFF2-40B4-BE49-F238E27FC236}">
                <a16:creationId xmlns:a16="http://schemas.microsoft.com/office/drawing/2014/main" id="{5A318110-6FDF-BC5D-3B45-3F7A70DEF4FE}"/>
              </a:ext>
            </a:extLst>
          </p:cNvPr>
          <p:cNvCxnSpPr>
            <a:cxnSpLocks/>
          </p:cNvCxnSpPr>
          <p:nvPr/>
        </p:nvCxnSpPr>
        <p:spPr>
          <a:xfrm rot="5400000">
            <a:off x="6981619" y="7074798"/>
            <a:ext cx="919256" cy="864318"/>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48" name="Freeform 18">
            <a:extLst>
              <a:ext uri="{FF2B5EF4-FFF2-40B4-BE49-F238E27FC236}">
                <a16:creationId xmlns:a16="http://schemas.microsoft.com/office/drawing/2014/main" id="{5EF80CC4-75B4-3DEB-AF80-1573F74790B2}"/>
              </a:ext>
            </a:extLst>
          </p:cNvPr>
          <p:cNvSpPr/>
          <p:nvPr/>
        </p:nvSpPr>
        <p:spPr>
          <a:xfrm>
            <a:off x="17581998" y="9209383"/>
            <a:ext cx="791146" cy="850506"/>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49" name="Freeform 20">
            <a:extLst>
              <a:ext uri="{FF2B5EF4-FFF2-40B4-BE49-F238E27FC236}">
                <a16:creationId xmlns:a16="http://schemas.microsoft.com/office/drawing/2014/main" id="{0C75D480-0290-438D-6A2E-78C478644F1D}"/>
              </a:ext>
            </a:extLst>
          </p:cNvPr>
          <p:cNvSpPr/>
          <p:nvPr/>
        </p:nvSpPr>
        <p:spPr>
          <a:xfrm>
            <a:off x="1949950" y="6739529"/>
            <a:ext cx="378251" cy="378251"/>
          </a:xfrm>
          <a:custGeom>
            <a:avLst/>
            <a:gdLst/>
            <a:ahLst/>
            <a:cxnLst/>
            <a:rect l="l" t="t" r="r" b="b"/>
            <a:pathLst>
              <a:path w="540358" h="540358">
                <a:moveTo>
                  <a:pt x="0" y="0"/>
                </a:moveTo>
                <a:lnTo>
                  <a:pt x="540358" y="0"/>
                </a:lnTo>
                <a:lnTo>
                  <a:pt x="540358" y="540358"/>
                </a:lnTo>
                <a:lnTo>
                  <a:pt x="0" y="5403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pic>
        <p:nvPicPr>
          <p:cNvPr id="50" name="Picture 2" descr="facial recognition software">
            <a:extLst>
              <a:ext uri="{FF2B5EF4-FFF2-40B4-BE49-F238E27FC236}">
                <a16:creationId xmlns:a16="http://schemas.microsoft.com/office/drawing/2014/main" id="{2B8B3334-AB00-AAB9-EE7A-F260798E83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3717" y="5665261"/>
            <a:ext cx="4323807" cy="288253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71A35B03-4F1C-1F22-9EC9-874E48900542}"/>
              </a:ext>
            </a:extLst>
          </p:cNvPr>
          <p:cNvSpPr txBox="1"/>
          <p:nvPr/>
        </p:nvSpPr>
        <p:spPr>
          <a:xfrm>
            <a:off x="16824614" y="9494186"/>
            <a:ext cx="863031" cy="353996"/>
          </a:xfrm>
          <a:prstGeom prst="rect">
            <a:avLst/>
          </a:prstGeom>
          <a:noFill/>
        </p:spPr>
        <p:txBody>
          <a:bodyPr wrap="square">
            <a:spAutoFit/>
          </a:bodyPr>
          <a:lstStyle/>
          <a:p>
            <a:pPr algn="ctr">
              <a:lnSpc>
                <a:spcPts val="1960"/>
              </a:lnSpc>
              <a:spcBef>
                <a:spcPct val="0"/>
              </a:spcBef>
            </a:pPr>
            <a:r>
              <a:rPr lang="en-US" sz="1800" b="1" dirty="0">
                <a:solidFill>
                  <a:srgbClr val="FFFFFF"/>
                </a:solidFill>
                <a:latin typeface="Open Sans Bold"/>
                <a:ea typeface="Open Sans Bold"/>
                <a:cs typeface="Open Sans Bold"/>
                <a:sym typeface="Open Sans Bold"/>
              </a:rPr>
              <a:t>0</a:t>
            </a:r>
            <a:r>
              <a:rPr lang="ar-BH" sz="1800" b="1" dirty="0">
                <a:solidFill>
                  <a:srgbClr val="FFFFFF"/>
                </a:solidFill>
                <a:latin typeface="Open Sans Bold"/>
                <a:ea typeface="Open Sans Bold"/>
                <a:cs typeface="Open Sans Bold"/>
                <a:sym typeface="Open Sans Bold"/>
              </a:rPr>
              <a:t>9</a:t>
            </a:r>
            <a:endParaRPr lang="en-US" sz="1800" b="1" dirty="0">
              <a:solidFill>
                <a:srgbClr val="FFFFFF"/>
              </a:solidFill>
              <a:latin typeface="Open Sans Bold"/>
              <a:ea typeface="Open Sans Bold"/>
              <a:cs typeface="Open Sans Bold"/>
              <a:sym typeface="Open Sans Bold"/>
            </a:endParaRPr>
          </a:p>
        </p:txBody>
      </p:sp>
      <p:sp>
        <p:nvSpPr>
          <p:cNvPr id="52" name="TextBox 51">
            <a:extLst>
              <a:ext uri="{FF2B5EF4-FFF2-40B4-BE49-F238E27FC236}">
                <a16:creationId xmlns:a16="http://schemas.microsoft.com/office/drawing/2014/main" id="{A842D28B-19FF-A634-6D03-0F1C968C3EBB}"/>
              </a:ext>
            </a:extLst>
          </p:cNvPr>
          <p:cNvSpPr txBox="1"/>
          <p:nvPr/>
        </p:nvSpPr>
        <p:spPr>
          <a:xfrm>
            <a:off x="10818648" y="2490973"/>
            <a:ext cx="4123930" cy="584775"/>
          </a:xfrm>
          <a:prstGeom prst="rect">
            <a:avLst/>
          </a:prstGeom>
          <a:noFill/>
        </p:spPr>
        <p:txBody>
          <a:bodyPr wrap="square">
            <a:spAutoFit/>
          </a:bodyPr>
          <a:lstStyle/>
          <a:p>
            <a:r>
              <a:rPr lang="en-US" sz="3200" b="1" i="0" dirty="0">
                <a:solidFill>
                  <a:schemeClr val="bg1"/>
                </a:solidFill>
                <a:effectLst/>
                <a:latin typeface="Calibri (Body)"/>
              </a:rPr>
              <a:t>Techniques Used:</a:t>
            </a:r>
            <a:endParaRPr lang="en-US" sz="3200" b="1" dirty="0">
              <a:solidFill>
                <a:schemeClr val="bg1"/>
              </a:solidFill>
              <a:latin typeface="Calibri (Body)"/>
            </a:endParaRPr>
          </a:p>
        </p:txBody>
      </p:sp>
    </p:spTree>
    <p:extLst>
      <p:ext uri="{BB962C8B-B14F-4D97-AF65-F5344CB8AC3E}">
        <p14:creationId xmlns:p14="http://schemas.microsoft.com/office/powerpoint/2010/main" val="394523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500" fill="hold"/>
                                        <p:tgtEl>
                                          <p:spTgt spid="15"/>
                                        </p:tgtEl>
                                        <p:attrNameLst>
                                          <p:attrName>ppt_w</p:attrName>
                                        </p:attrNameLst>
                                      </p:cBhvr>
                                      <p:tavLst>
                                        <p:tav tm="0">
                                          <p:val>
                                            <p:fltVal val="0"/>
                                          </p:val>
                                        </p:tav>
                                        <p:tav tm="100000">
                                          <p:val>
                                            <p:strVal val="#ppt_w"/>
                                          </p:val>
                                        </p:tav>
                                      </p:tavLst>
                                    </p:anim>
                                    <p:anim calcmode="lin" valueType="num">
                                      <p:cBhvr>
                                        <p:cTn id="33" dur="500" fill="hold"/>
                                        <p:tgtEl>
                                          <p:spTgt spid="15"/>
                                        </p:tgtEl>
                                        <p:attrNameLst>
                                          <p:attrName>ppt_h</p:attrName>
                                        </p:attrNameLst>
                                      </p:cBhvr>
                                      <p:tavLst>
                                        <p:tav tm="0">
                                          <p:val>
                                            <p:fltVal val="0"/>
                                          </p:val>
                                        </p:tav>
                                        <p:tav tm="100000">
                                          <p:val>
                                            <p:strVal val="#ppt_h"/>
                                          </p:val>
                                        </p:tav>
                                      </p:tavLst>
                                    </p:anim>
                                    <p:animEffect transition="in" filter="fade">
                                      <p:cBhvr>
                                        <p:cTn id="34" dur="500"/>
                                        <p:tgtEl>
                                          <p:spTgt spid="15"/>
                                        </p:tgtEl>
                                      </p:cBhvr>
                                    </p:animEffect>
                                  </p:childTnLst>
                                </p:cTn>
                              </p:par>
                              <p:par>
                                <p:cTn id="35" presetID="53" presetClass="entr" presetSubtype="16"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09"/>
                                        </p:tgtEl>
                                        <p:attrNameLst>
                                          <p:attrName>style.visibility</p:attrName>
                                        </p:attrNameLst>
                                      </p:cBhvr>
                                      <p:to>
                                        <p:strVal val="visible"/>
                                      </p:to>
                                    </p:set>
                                    <p:anim calcmode="lin" valueType="num">
                                      <p:cBhvr>
                                        <p:cTn id="42" dur="500" fill="hold"/>
                                        <p:tgtEl>
                                          <p:spTgt spid="109"/>
                                        </p:tgtEl>
                                        <p:attrNameLst>
                                          <p:attrName>ppt_w</p:attrName>
                                        </p:attrNameLst>
                                      </p:cBhvr>
                                      <p:tavLst>
                                        <p:tav tm="0">
                                          <p:val>
                                            <p:fltVal val="0"/>
                                          </p:val>
                                        </p:tav>
                                        <p:tav tm="100000">
                                          <p:val>
                                            <p:strVal val="#ppt_w"/>
                                          </p:val>
                                        </p:tav>
                                      </p:tavLst>
                                    </p:anim>
                                    <p:anim calcmode="lin" valueType="num">
                                      <p:cBhvr>
                                        <p:cTn id="43" dur="500" fill="hold"/>
                                        <p:tgtEl>
                                          <p:spTgt spid="109"/>
                                        </p:tgtEl>
                                        <p:attrNameLst>
                                          <p:attrName>ppt_h</p:attrName>
                                        </p:attrNameLst>
                                      </p:cBhvr>
                                      <p:tavLst>
                                        <p:tav tm="0">
                                          <p:val>
                                            <p:fltVal val="0"/>
                                          </p:val>
                                        </p:tav>
                                        <p:tav tm="100000">
                                          <p:val>
                                            <p:strVal val="#ppt_h"/>
                                          </p:val>
                                        </p:tav>
                                      </p:tavLst>
                                    </p:anim>
                                    <p:animEffect transition="in" filter="fade">
                                      <p:cBhvr>
                                        <p:cTn id="44" dur="500"/>
                                        <p:tgtEl>
                                          <p:spTgt spid="10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12"/>
                                        </p:tgtEl>
                                        <p:attrNameLst>
                                          <p:attrName>style.visibility</p:attrName>
                                        </p:attrNameLst>
                                      </p:cBhvr>
                                      <p:to>
                                        <p:strVal val="visible"/>
                                      </p:to>
                                    </p:set>
                                    <p:anim calcmode="lin" valueType="num">
                                      <p:cBhvr>
                                        <p:cTn id="47" dur="500" fill="hold"/>
                                        <p:tgtEl>
                                          <p:spTgt spid="112"/>
                                        </p:tgtEl>
                                        <p:attrNameLst>
                                          <p:attrName>ppt_w</p:attrName>
                                        </p:attrNameLst>
                                      </p:cBhvr>
                                      <p:tavLst>
                                        <p:tav tm="0">
                                          <p:val>
                                            <p:fltVal val="0"/>
                                          </p:val>
                                        </p:tav>
                                        <p:tav tm="100000">
                                          <p:val>
                                            <p:strVal val="#ppt_w"/>
                                          </p:val>
                                        </p:tav>
                                      </p:tavLst>
                                    </p:anim>
                                    <p:anim calcmode="lin" valueType="num">
                                      <p:cBhvr>
                                        <p:cTn id="48" dur="500" fill="hold"/>
                                        <p:tgtEl>
                                          <p:spTgt spid="112"/>
                                        </p:tgtEl>
                                        <p:attrNameLst>
                                          <p:attrName>ppt_h</p:attrName>
                                        </p:attrNameLst>
                                      </p:cBhvr>
                                      <p:tavLst>
                                        <p:tav tm="0">
                                          <p:val>
                                            <p:fltVal val="0"/>
                                          </p:val>
                                        </p:tav>
                                        <p:tav tm="100000">
                                          <p:val>
                                            <p:strVal val="#ppt_h"/>
                                          </p:val>
                                        </p:tav>
                                      </p:tavLst>
                                    </p:anim>
                                    <p:animEffect transition="in" filter="fade">
                                      <p:cBhvr>
                                        <p:cTn id="49" dur="500"/>
                                        <p:tgtEl>
                                          <p:spTgt spid="11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500"/>
                                        <p:tgtEl>
                                          <p:spTgt spid="39"/>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1000"/>
                                        <p:tgtEl>
                                          <p:spTgt spid="35"/>
                                        </p:tgtEl>
                                      </p:cBhvr>
                                    </p:animEffect>
                                    <p:anim calcmode="lin" valueType="num">
                                      <p:cBhvr>
                                        <p:cTn id="65" dur="1000" fill="hold"/>
                                        <p:tgtEl>
                                          <p:spTgt spid="35"/>
                                        </p:tgtEl>
                                        <p:attrNameLst>
                                          <p:attrName>ppt_x</p:attrName>
                                        </p:attrNameLst>
                                      </p:cBhvr>
                                      <p:tavLst>
                                        <p:tav tm="0">
                                          <p:val>
                                            <p:strVal val="#ppt_x"/>
                                          </p:val>
                                        </p:tav>
                                        <p:tav tm="100000">
                                          <p:val>
                                            <p:strVal val="#ppt_x"/>
                                          </p:val>
                                        </p:tav>
                                      </p:tavLst>
                                    </p:anim>
                                    <p:anim calcmode="lin" valueType="num">
                                      <p:cBhvr>
                                        <p:cTn id="66" dur="1000" fill="hold"/>
                                        <p:tgtEl>
                                          <p:spTgt spid="3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1000"/>
                                        <p:tgtEl>
                                          <p:spTgt spid="36"/>
                                        </p:tgtEl>
                                      </p:cBhvr>
                                    </p:animEffect>
                                    <p:anim calcmode="lin" valueType="num">
                                      <p:cBhvr>
                                        <p:cTn id="70" dur="1000" fill="hold"/>
                                        <p:tgtEl>
                                          <p:spTgt spid="36"/>
                                        </p:tgtEl>
                                        <p:attrNameLst>
                                          <p:attrName>ppt_x</p:attrName>
                                        </p:attrNameLst>
                                      </p:cBhvr>
                                      <p:tavLst>
                                        <p:tav tm="0">
                                          <p:val>
                                            <p:strVal val="#ppt_x"/>
                                          </p:val>
                                        </p:tav>
                                        <p:tav tm="100000">
                                          <p:val>
                                            <p:strVal val="#ppt_x"/>
                                          </p:val>
                                        </p:tav>
                                      </p:tavLst>
                                    </p:anim>
                                    <p:anim calcmode="lin" valueType="num">
                                      <p:cBhvr>
                                        <p:cTn id="7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500"/>
                                        <p:tgtEl>
                                          <p:spTgt spid="40"/>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fade">
                                      <p:cBhvr>
                                        <p:cTn id="81" dur="1000"/>
                                        <p:tgtEl>
                                          <p:spTgt spid="52"/>
                                        </p:tgtEl>
                                      </p:cBhvr>
                                    </p:animEffect>
                                    <p:anim calcmode="lin" valueType="num">
                                      <p:cBhvr>
                                        <p:cTn id="82" dur="1000" fill="hold"/>
                                        <p:tgtEl>
                                          <p:spTgt spid="52"/>
                                        </p:tgtEl>
                                        <p:attrNameLst>
                                          <p:attrName>ppt_x</p:attrName>
                                        </p:attrNameLst>
                                      </p:cBhvr>
                                      <p:tavLst>
                                        <p:tav tm="0">
                                          <p:val>
                                            <p:strVal val="#ppt_x"/>
                                          </p:val>
                                        </p:tav>
                                        <p:tav tm="100000">
                                          <p:val>
                                            <p:strVal val="#ppt_x"/>
                                          </p:val>
                                        </p:tav>
                                      </p:tavLst>
                                    </p:anim>
                                    <p:anim calcmode="lin" valueType="num">
                                      <p:cBhvr>
                                        <p:cTn id="83"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1000"/>
                                        <p:tgtEl>
                                          <p:spTgt spid="37"/>
                                        </p:tgtEl>
                                      </p:cBhvr>
                                    </p:animEffect>
                                    <p:anim calcmode="lin" valueType="num">
                                      <p:cBhvr>
                                        <p:cTn id="89" dur="1000" fill="hold"/>
                                        <p:tgtEl>
                                          <p:spTgt spid="37"/>
                                        </p:tgtEl>
                                        <p:attrNameLst>
                                          <p:attrName>ppt_x</p:attrName>
                                        </p:attrNameLst>
                                      </p:cBhvr>
                                      <p:tavLst>
                                        <p:tav tm="0">
                                          <p:val>
                                            <p:strVal val="#ppt_x"/>
                                          </p:val>
                                        </p:tav>
                                        <p:tav tm="100000">
                                          <p:val>
                                            <p:strVal val="#ppt_x"/>
                                          </p:val>
                                        </p:tav>
                                      </p:tavLst>
                                    </p:anim>
                                    <p:anim calcmode="lin" valueType="num">
                                      <p:cBhvr>
                                        <p:cTn id="90"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500"/>
                                        <p:tgtEl>
                                          <p:spTgt spid="42"/>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1000"/>
                                        <p:tgtEl>
                                          <p:spTgt spid="41"/>
                                        </p:tgtEl>
                                      </p:cBhvr>
                                    </p:animEffect>
                                    <p:anim calcmode="lin" valueType="num">
                                      <p:cBhvr>
                                        <p:cTn id="101" dur="1000" fill="hold"/>
                                        <p:tgtEl>
                                          <p:spTgt spid="41"/>
                                        </p:tgtEl>
                                        <p:attrNameLst>
                                          <p:attrName>ppt_x</p:attrName>
                                        </p:attrNameLst>
                                      </p:cBhvr>
                                      <p:tavLst>
                                        <p:tav tm="0">
                                          <p:val>
                                            <p:strVal val="#ppt_x"/>
                                          </p:val>
                                        </p:tav>
                                        <p:tav tm="100000">
                                          <p:val>
                                            <p:strVal val="#ppt_x"/>
                                          </p:val>
                                        </p:tav>
                                      </p:tavLst>
                                    </p:anim>
                                    <p:anim calcmode="lin" valueType="num">
                                      <p:cBhvr>
                                        <p:cTn id="102"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5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1000"/>
                                        <p:tgtEl>
                                          <p:spTgt spid="44"/>
                                        </p:tgtEl>
                                      </p:cBhvr>
                                    </p:animEffect>
                                    <p:anim calcmode="lin" valueType="num">
                                      <p:cBhvr>
                                        <p:cTn id="113" dur="1000" fill="hold"/>
                                        <p:tgtEl>
                                          <p:spTgt spid="44"/>
                                        </p:tgtEl>
                                        <p:attrNameLst>
                                          <p:attrName>ppt_x</p:attrName>
                                        </p:attrNameLst>
                                      </p:cBhvr>
                                      <p:tavLst>
                                        <p:tav tm="0">
                                          <p:val>
                                            <p:strVal val="#ppt_x"/>
                                          </p:val>
                                        </p:tav>
                                        <p:tav tm="100000">
                                          <p:val>
                                            <p:strVal val="#ppt_x"/>
                                          </p:val>
                                        </p:tav>
                                      </p:tavLst>
                                    </p:anim>
                                    <p:anim calcmode="lin" valueType="num">
                                      <p:cBhvr>
                                        <p:cTn id="114"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500"/>
                                        <p:tgtEl>
                                          <p:spTgt spid="47"/>
                                        </p:tgtEl>
                                      </p:cBhvr>
                                    </p:animEffect>
                                  </p:childTnLst>
                                </p:cTn>
                              </p:par>
                            </p:childTnLst>
                          </p:cTn>
                        </p:par>
                      </p:childTnLst>
                    </p:cTn>
                  </p:par>
                  <p:par>
                    <p:cTn id="120" fill="hold">
                      <p:stCondLst>
                        <p:cond delay="indefinite"/>
                      </p:stCondLst>
                      <p:childTnLst>
                        <p:par>
                          <p:cTn id="121" fill="hold">
                            <p:stCondLst>
                              <p:cond delay="0"/>
                            </p:stCondLst>
                            <p:childTnLst>
                              <p:par>
                                <p:cTn id="122" presetID="42" presetClass="entr" presetSubtype="0" fill="hold" grpId="0" nodeType="click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fade">
                                      <p:cBhvr>
                                        <p:cTn id="124" dur="1000"/>
                                        <p:tgtEl>
                                          <p:spTgt spid="46"/>
                                        </p:tgtEl>
                                      </p:cBhvr>
                                    </p:animEffect>
                                    <p:anim calcmode="lin" valueType="num">
                                      <p:cBhvr>
                                        <p:cTn id="125" dur="1000" fill="hold"/>
                                        <p:tgtEl>
                                          <p:spTgt spid="46"/>
                                        </p:tgtEl>
                                        <p:attrNameLst>
                                          <p:attrName>ppt_x</p:attrName>
                                        </p:attrNameLst>
                                      </p:cBhvr>
                                      <p:tavLst>
                                        <p:tav tm="0">
                                          <p:val>
                                            <p:strVal val="#ppt_x"/>
                                          </p:val>
                                        </p:tav>
                                        <p:tav tm="100000">
                                          <p:val>
                                            <p:strVal val="#ppt_x"/>
                                          </p:val>
                                        </p:tav>
                                      </p:tavLst>
                                    </p:anim>
                                    <p:anim calcmode="lin" valueType="num">
                                      <p:cBhvr>
                                        <p:cTn id="126"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5" grpId="0"/>
      <p:bldP spid="109" grpId="0" animBg="1"/>
      <p:bldP spid="112" grpId="0" animBg="1"/>
      <p:bldP spid="35" grpId="0"/>
      <p:bldP spid="36" grpId="0"/>
      <p:bldP spid="37" grpId="0"/>
      <p:bldP spid="41" grpId="0"/>
      <p:bldP spid="44" grpId="0"/>
      <p:bldP spid="46" grpId="0"/>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BC94F-4777-293A-2518-7B9A2F2B9BB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681B19-9ABF-DE4B-841A-C4018C68EBA1}"/>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1F52D46C-60F3-17C4-550F-8B924A42677A}"/>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85A9F78A-ACDC-A34E-A2E5-BC2FE9321EA3}"/>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4865012D-6B7F-87C5-6DB1-91E03AAF75BA}"/>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98EA8FC7-1BF3-4D1E-40C4-C767B2A6A8BB}"/>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928CC545-CD33-4306-E8C0-2F5B2D38BF08}"/>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0254E16F-B8FE-B9D2-65B7-F66A118248AE}"/>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8DB1835B-867B-5CA9-54E2-C0CCCBCB428A}"/>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D03FA127-67D8-2075-49A0-DC13E8BBBD00}"/>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A2997461-76EB-A2BB-E1CE-847B955EB7FD}"/>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24177083-9398-23A5-5914-CDEC71B0558C}"/>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10</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04B54B2F-ECCE-D37C-D1C4-06C308FC2181}"/>
              </a:ext>
            </a:extLst>
          </p:cNvPr>
          <p:cNvGrpSpPr/>
          <p:nvPr/>
        </p:nvGrpSpPr>
        <p:grpSpPr>
          <a:xfrm>
            <a:off x="762000" y="1679156"/>
            <a:ext cx="2905234" cy="45719"/>
            <a:chOff x="0" y="0"/>
            <a:chExt cx="462932" cy="12543"/>
          </a:xfrm>
        </p:grpSpPr>
        <p:sp>
          <p:nvSpPr>
            <p:cNvPr id="21" name="Freeform 21">
              <a:extLst>
                <a:ext uri="{FF2B5EF4-FFF2-40B4-BE49-F238E27FC236}">
                  <a16:creationId xmlns:a16="http://schemas.microsoft.com/office/drawing/2014/main" id="{F2284F67-4A36-B770-142C-CAD17E4EF57F}"/>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03FC9F21-F3C0-40BE-5417-C6662B86E502}"/>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733C818C-85D5-5084-CEF2-DFB2D4A7012D}"/>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EfficientNet</a:t>
            </a:r>
            <a:r>
              <a:rPr lang="ar-BH" sz="8000" b="1" dirty="0">
                <a:solidFill>
                  <a:schemeClr val="bg1"/>
                </a:solidFill>
                <a:latin typeface="Bebas Neue Cyrillic" panose="020B0604020202020204" charset="0"/>
              </a:rPr>
              <a:t>-</a:t>
            </a:r>
            <a:r>
              <a:rPr lang="en-US" sz="8000" b="1" dirty="0">
                <a:solidFill>
                  <a:schemeClr val="bg1"/>
                </a:solidFill>
                <a:latin typeface="Bebas Neue Cyrillic" panose="020B0604020202020204" charset="0"/>
              </a:rPr>
              <a:t>B0</a:t>
            </a:r>
          </a:p>
        </p:txBody>
      </p:sp>
      <p:sp>
        <p:nvSpPr>
          <p:cNvPr id="40" name="Rectangle 1">
            <a:extLst>
              <a:ext uri="{FF2B5EF4-FFF2-40B4-BE49-F238E27FC236}">
                <a16:creationId xmlns:a16="http://schemas.microsoft.com/office/drawing/2014/main" id="{EF78B1CC-DC1D-AC01-EEA0-8FE60AC80B8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6A4929D4-2ADF-E22B-9ABF-863169683C56}"/>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Google Shape;467;p25">
            <a:extLst>
              <a:ext uri="{FF2B5EF4-FFF2-40B4-BE49-F238E27FC236}">
                <a16:creationId xmlns:a16="http://schemas.microsoft.com/office/drawing/2014/main" id="{0D945FE4-AC70-077C-CC49-D3A46D6EE6D4}"/>
              </a:ext>
            </a:extLst>
          </p:cNvPr>
          <p:cNvSpPr txBox="1"/>
          <p:nvPr/>
        </p:nvSpPr>
        <p:spPr>
          <a:xfrm>
            <a:off x="6659970" y="8711848"/>
            <a:ext cx="1295401"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chemeClr val="bg1"/>
                </a:solidFill>
                <a:effectLst/>
                <a:latin typeface="Roboto" panose="02000000000000000000" pitchFamily="2" charset="0"/>
              </a:rPr>
              <a:t>Train Acc:</a:t>
            </a:r>
            <a:endParaRPr dirty="0">
              <a:solidFill>
                <a:schemeClr val="lt2"/>
              </a:solidFill>
              <a:latin typeface="Fira Sans Condensed"/>
              <a:ea typeface="Fira Sans Condensed"/>
              <a:cs typeface="Fira Sans Condensed"/>
              <a:sym typeface="Fira Sans Condensed"/>
            </a:endParaRPr>
          </a:p>
        </p:txBody>
      </p:sp>
      <p:sp>
        <p:nvSpPr>
          <p:cNvPr id="25" name="Google Shape;470;p25">
            <a:extLst>
              <a:ext uri="{FF2B5EF4-FFF2-40B4-BE49-F238E27FC236}">
                <a16:creationId xmlns:a16="http://schemas.microsoft.com/office/drawing/2014/main" id="{9D024B0C-E019-9222-061B-6ED1A57E8942}"/>
              </a:ext>
            </a:extLst>
          </p:cNvPr>
          <p:cNvSpPr txBox="1"/>
          <p:nvPr/>
        </p:nvSpPr>
        <p:spPr>
          <a:xfrm>
            <a:off x="6858000" y="9076195"/>
            <a:ext cx="1366095"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chemeClr val="bg1"/>
                </a:solidFill>
                <a:effectLst/>
                <a:latin typeface="Roboto" panose="02000000000000000000" pitchFamily="2" charset="0"/>
              </a:rPr>
              <a:t>Val Acc:</a:t>
            </a:r>
            <a:endParaRPr lang="en-US" dirty="0">
              <a:solidFill>
                <a:schemeClr val="bg1"/>
              </a:solidFill>
              <a:latin typeface="Fira Sans Condensed"/>
              <a:ea typeface="Fira Sans Condensed"/>
              <a:cs typeface="Fira Sans Condensed"/>
              <a:sym typeface="Fira Sans Condensed"/>
            </a:endParaRPr>
          </a:p>
        </p:txBody>
      </p:sp>
      <p:grpSp>
        <p:nvGrpSpPr>
          <p:cNvPr id="26" name="Google Shape;471;p25">
            <a:extLst>
              <a:ext uri="{FF2B5EF4-FFF2-40B4-BE49-F238E27FC236}">
                <a16:creationId xmlns:a16="http://schemas.microsoft.com/office/drawing/2014/main" id="{9A44FBD3-1913-5F07-DC65-8578AF364F48}"/>
              </a:ext>
            </a:extLst>
          </p:cNvPr>
          <p:cNvGrpSpPr/>
          <p:nvPr/>
        </p:nvGrpSpPr>
        <p:grpSpPr>
          <a:xfrm>
            <a:off x="6934200" y="9363407"/>
            <a:ext cx="3809543" cy="409414"/>
            <a:chOff x="4159430" y="4225897"/>
            <a:chExt cx="3809543" cy="409414"/>
          </a:xfrm>
        </p:grpSpPr>
        <p:sp>
          <p:nvSpPr>
            <p:cNvPr id="27" name="Google Shape;472;p25">
              <a:extLst>
                <a:ext uri="{FF2B5EF4-FFF2-40B4-BE49-F238E27FC236}">
                  <a16:creationId xmlns:a16="http://schemas.microsoft.com/office/drawing/2014/main" id="{6682BDF1-DDC1-247A-0A76-67A403B8C972}"/>
                </a:ext>
              </a:extLst>
            </p:cNvPr>
            <p:cNvSpPr txBox="1"/>
            <p:nvPr/>
          </p:nvSpPr>
          <p:spPr>
            <a:xfrm>
              <a:off x="7122639" y="4225897"/>
              <a:ext cx="846334" cy="40941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35.07%</a:t>
              </a:r>
              <a:endParaRPr dirty="0">
                <a:solidFill>
                  <a:schemeClr val="lt2"/>
                </a:solidFill>
                <a:latin typeface="Fira Sans Condensed"/>
                <a:ea typeface="Fira Sans Condensed"/>
                <a:cs typeface="Fira Sans Condensed"/>
                <a:sym typeface="Fira Sans Condensed"/>
              </a:endParaRPr>
            </a:p>
          </p:txBody>
        </p:sp>
        <p:sp>
          <p:nvSpPr>
            <p:cNvPr id="28" name="Google Shape;473;p25">
              <a:extLst>
                <a:ext uri="{FF2B5EF4-FFF2-40B4-BE49-F238E27FC236}">
                  <a16:creationId xmlns:a16="http://schemas.microsoft.com/office/drawing/2014/main" id="{C728C557-045E-C951-5E4F-D047D4AA5AA2}"/>
                </a:ext>
              </a:extLst>
            </p:cNvPr>
            <p:cNvSpPr txBox="1"/>
            <p:nvPr/>
          </p:nvSpPr>
          <p:spPr>
            <a:xfrm>
              <a:off x="4159430" y="4225897"/>
              <a:ext cx="1289895"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1"/>
                  </a:solidFill>
                  <a:latin typeface="Fira Sans Condensed"/>
                  <a:ea typeface="Fira Sans Condensed"/>
                  <a:cs typeface="Fira Sans Condensed"/>
                  <a:sym typeface="Fira Sans Condensed"/>
                </a:rPr>
                <a:t>Test Acc:</a:t>
              </a:r>
              <a:endParaRPr dirty="0">
                <a:solidFill>
                  <a:schemeClr val="bg1"/>
                </a:solidFill>
                <a:latin typeface="Fira Sans Condensed"/>
                <a:ea typeface="Fira Sans Condensed"/>
                <a:cs typeface="Fira Sans Condensed"/>
                <a:sym typeface="Fira Sans Condensed"/>
              </a:endParaRPr>
            </a:p>
          </p:txBody>
        </p:sp>
      </p:grpSp>
      <p:sp>
        <p:nvSpPr>
          <p:cNvPr id="29" name="Google Shape;474;p25">
            <a:extLst>
              <a:ext uri="{FF2B5EF4-FFF2-40B4-BE49-F238E27FC236}">
                <a16:creationId xmlns:a16="http://schemas.microsoft.com/office/drawing/2014/main" id="{1044FEFD-96CC-3E1F-1067-4A5E375DCEEE}"/>
              </a:ext>
            </a:extLst>
          </p:cNvPr>
          <p:cNvSpPr/>
          <p:nvPr/>
        </p:nvSpPr>
        <p:spPr>
          <a:xfrm>
            <a:off x="7902590" y="8877110"/>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5;p25">
            <a:extLst>
              <a:ext uri="{FF2B5EF4-FFF2-40B4-BE49-F238E27FC236}">
                <a16:creationId xmlns:a16="http://schemas.microsoft.com/office/drawing/2014/main" id="{7564D438-A4F2-6760-F610-FCA30D990CA6}"/>
              </a:ext>
            </a:extLst>
          </p:cNvPr>
          <p:cNvSpPr/>
          <p:nvPr/>
        </p:nvSpPr>
        <p:spPr>
          <a:xfrm>
            <a:off x="7906340" y="8880496"/>
            <a:ext cx="1022814" cy="12186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6;p25">
            <a:extLst>
              <a:ext uri="{FF2B5EF4-FFF2-40B4-BE49-F238E27FC236}">
                <a16:creationId xmlns:a16="http://schemas.microsoft.com/office/drawing/2014/main" id="{38A76CCC-9FD2-1C03-8F90-A7E04B6F092E}"/>
              </a:ext>
            </a:extLst>
          </p:cNvPr>
          <p:cNvSpPr/>
          <p:nvPr/>
        </p:nvSpPr>
        <p:spPr>
          <a:xfrm>
            <a:off x="7902590" y="9502871"/>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7;p25">
            <a:extLst>
              <a:ext uri="{FF2B5EF4-FFF2-40B4-BE49-F238E27FC236}">
                <a16:creationId xmlns:a16="http://schemas.microsoft.com/office/drawing/2014/main" id="{475D5EC6-6F4C-7816-2029-98EC1C24B84D}"/>
              </a:ext>
            </a:extLst>
          </p:cNvPr>
          <p:cNvSpPr/>
          <p:nvPr/>
        </p:nvSpPr>
        <p:spPr>
          <a:xfrm>
            <a:off x="7902580" y="9502871"/>
            <a:ext cx="397716"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TextBox 36">
            <a:extLst>
              <a:ext uri="{FF2B5EF4-FFF2-40B4-BE49-F238E27FC236}">
                <a16:creationId xmlns:a16="http://schemas.microsoft.com/office/drawing/2014/main" id="{94FA19A0-F4E6-4E06-20B5-6B37F2056836}"/>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43" name="Google Shape;476;p25">
            <a:extLst>
              <a:ext uri="{FF2B5EF4-FFF2-40B4-BE49-F238E27FC236}">
                <a16:creationId xmlns:a16="http://schemas.microsoft.com/office/drawing/2014/main" id="{92C2566A-FC26-B86E-6470-12ED6008DF00}"/>
              </a:ext>
            </a:extLst>
          </p:cNvPr>
          <p:cNvSpPr/>
          <p:nvPr/>
        </p:nvSpPr>
        <p:spPr>
          <a:xfrm>
            <a:off x="7902590" y="9235263"/>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77;p25">
            <a:extLst>
              <a:ext uri="{FF2B5EF4-FFF2-40B4-BE49-F238E27FC236}">
                <a16:creationId xmlns:a16="http://schemas.microsoft.com/office/drawing/2014/main" id="{306FEF8A-F005-7A7D-6972-2805079EBF4F}"/>
              </a:ext>
            </a:extLst>
          </p:cNvPr>
          <p:cNvSpPr/>
          <p:nvPr/>
        </p:nvSpPr>
        <p:spPr>
          <a:xfrm>
            <a:off x="7902580" y="9235262"/>
            <a:ext cx="488014" cy="151048"/>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 name="Picture 45" descr="A collage of a person's face&#10;&#10;Description automatically generated">
            <a:hlinkClick r:id="rId2" action="ppaction://hlinksldjump"/>
            <a:extLst>
              <a:ext uri="{FF2B5EF4-FFF2-40B4-BE49-F238E27FC236}">
                <a16:creationId xmlns:a16="http://schemas.microsoft.com/office/drawing/2014/main" id="{52F18C1E-1F45-93C7-2332-D5A805882F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0103" y="6856459"/>
            <a:ext cx="13372594" cy="1796942"/>
          </a:xfrm>
          <a:prstGeom prst="rect">
            <a:avLst/>
          </a:prstGeom>
        </p:spPr>
      </p:pic>
      <p:pic>
        <p:nvPicPr>
          <p:cNvPr id="48" name="Picture 47" descr="A graph showing the difference between a train and validation accuracy&#10;&#10;Description automatically generated">
            <a:hlinkClick r:id="rId4" action="ppaction://hlinksldjump"/>
            <a:extLst>
              <a:ext uri="{FF2B5EF4-FFF2-40B4-BE49-F238E27FC236}">
                <a16:creationId xmlns:a16="http://schemas.microsoft.com/office/drawing/2014/main" id="{FEBCA47B-921C-D546-B586-823385310C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8749" y="3062849"/>
            <a:ext cx="5201924" cy="2898215"/>
          </a:xfrm>
          <a:prstGeom prst="rect">
            <a:avLst/>
          </a:prstGeom>
        </p:spPr>
      </p:pic>
      <p:pic>
        <p:nvPicPr>
          <p:cNvPr id="51" name="Picture 50" descr="A diagram of different emotions&#10;&#10;Description automatically generated with medium confidence">
            <a:hlinkClick r:id="rId6" action="ppaction://hlinksldjump"/>
            <a:extLst>
              <a:ext uri="{FF2B5EF4-FFF2-40B4-BE49-F238E27FC236}">
                <a16:creationId xmlns:a16="http://schemas.microsoft.com/office/drawing/2014/main" id="{0ECC1315-0827-6461-629B-9405B5C87F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20038" y="2979546"/>
            <a:ext cx="3587642" cy="3064820"/>
          </a:xfrm>
          <a:prstGeom prst="rect">
            <a:avLst/>
          </a:prstGeom>
        </p:spPr>
      </p:pic>
      <p:pic>
        <p:nvPicPr>
          <p:cNvPr id="55" name="Picture 54" descr="A screenshot of a computer screen&#10;&#10;Description automatically generated">
            <a:hlinkClick r:id="rId8" action="ppaction://hlinksldjump"/>
            <a:extLst>
              <a:ext uri="{FF2B5EF4-FFF2-40B4-BE49-F238E27FC236}">
                <a16:creationId xmlns:a16="http://schemas.microsoft.com/office/drawing/2014/main" id="{0597F124-DE42-8B1A-52F5-FD4E1E8996A4}"/>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9604242" y="3013969"/>
            <a:ext cx="4698433" cy="2993019"/>
          </a:xfrm>
          <a:prstGeom prst="rect">
            <a:avLst/>
          </a:prstGeom>
        </p:spPr>
      </p:pic>
      <p:pic>
        <p:nvPicPr>
          <p:cNvPr id="57" name="Picture 56" descr="A person with a frowning face&#10;&#10;Description automatically generated">
            <a:hlinkClick r:id="rId11" action="ppaction://hlinksldjump"/>
            <a:extLst>
              <a:ext uri="{FF2B5EF4-FFF2-40B4-BE49-F238E27FC236}">
                <a16:creationId xmlns:a16="http://schemas.microsoft.com/office/drawing/2014/main" id="{0D521A56-CB5F-FFAB-C990-18421EEB24F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4589782" y="3013969"/>
            <a:ext cx="1711523" cy="1830429"/>
          </a:xfrm>
          <a:prstGeom prst="rect">
            <a:avLst/>
          </a:prstGeom>
        </p:spPr>
      </p:pic>
      <p:pic>
        <p:nvPicPr>
          <p:cNvPr id="59" name="Picture 58" descr="A person laughing with his mouth open&#10;&#10;Description automatically generated">
            <a:hlinkClick r:id="rId11" action="ppaction://hlinksldjump"/>
            <a:extLst>
              <a:ext uri="{FF2B5EF4-FFF2-40B4-BE49-F238E27FC236}">
                <a16:creationId xmlns:a16="http://schemas.microsoft.com/office/drawing/2014/main" id="{4E67805F-B523-B5BF-B787-FAEF2FBC3DF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4589781" y="4922924"/>
            <a:ext cx="1711523" cy="1796392"/>
          </a:xfrm>
          <a:prstGeom prst="rect">
            <a:avLst/>
          </a:prstGeom>
        </p:spPr>
      </p:pic>
      <p:sp>
        <p:nvSpPr>
          <p:cNvPr id="60" name="Google Shape;472;p25">
            <a:extLst>
              <a:ext uri="{FF2B5EF4-FFF2-40B4-BE49-F238E27FC236}">
                <a16:creationId xmlns:a16="http://schemas.microsoft.com/office/drawing/2014/main" id="{F39BA405-4880-CC36-A368-C5D376366F4B}"/>
              </a:ext>
            </a:extLst>
          </p:cNvPr>
          <p:cNvSpPr txBox="1"/>
          <p:nvPr/>
        </p:nvSpPr>
        <p:spPr>
          <a:xfrm>
            <a:off x="9897408" y="9099611"/>
            <a:ext cx="1322794" cy="4223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36.00%</a:t>
            </a:r>
            <a:endParaRPr dirty="0">
              <a:solidFill>
                <a:schemeClr val="lt2"/>
              </a:solidFill>
              <a:latin typeface="Fira Sans Condensed"/>
              <a:ea typeface="Fira Sans Condensed"/>
              <a:cs typeface="Fira Sans Condensed"/>
              <a:sym typeface="Fira Sans Condensed"/>
            </a:endParaRPr>
          </a:p>
        </p:txBody>
      </p:sp>
      <p:sp>
        <p:nvSpPr>
          <p:cNvPr id="61" name="Google Shape;472;p25">
            <a:extLst>
              <a:ext uri="{FF2B5EF4-FFF2-40B4-BE49-F238E27FC236}">
                <a16:creationId xmlns:a16="http://schemas.microsoft.com/office/drawing/2014/main" id="{11DF31BD-19C5-44D7-4B55-905164A26D1B}"/>
              </a:ext>
            </a:extLst>
          </p:cNvPr>
          <p:cNvSpPr txBox="1"/>
          <p:nvPr/>
        </p:nvSpPr>
        <p:spPr>
          <a:xfrm>
            <a:off x="9897407" y="8732064"/>
            <a:ext cx="846334" cy="40941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62.75%</a:t>
            </a:r>
            <a:endParaRPr dirty="0">
              <a:solidFill>
                <a:schemeClr val="lt2"/>
              </a:solidFill>
              <a:latin typeface="Fira Sans Condensed"/>
              <a:ea typeface="Fira Sans Condensed"/>
              <a:cs typeface="Fira Sans Condensed"/>
              <a:sym typeface="Fira Sans Condensed"/>
            </a:endParaRPr>
          </a:p>
        </p:txBody>
      </p:sp>
    </p:spTree>
    <p:extLst>
      <p:ext uri="{BB962C8B-B14F-4D97-AF65-F5344CB8AC3E}">
        <p14:creationId xmlns:p14="http://schemas.microsoft.com/office/powerpoint/2010/main" val="3951002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4CFC926-197E-670D-1B87-46BC148485B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E57BBC-AA5E-816C-1DD5-A25FAE20F3D0}"/>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2F20F950-3EFF-A6C7-416F-322DEB3D7650}"/>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43AF2009-457F-5015-6F8D-956FFF12ECCD}"/>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615BDBE1-F48A-065E-44DC-7ED171D38A88}"/>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2CF41292-068F-FF07-146C-FD6A7EF0D5A9}"/>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B565D78E-8AD3-ADDE-5EEC-E13D9DA8ECED}"/>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73579565-AD62-2AA0-ABBD-C07A7B26050A}"/>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D603ECD4-F54E-4900-6441-388C060DB853}"/>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68F91353-E450-926D-D7B8-BE72C2A64A65}"/>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91349891-0058-8321-A3AC-7F2363652CA6}"/>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68431CAF-9DDB-89C1-5803-46842FE5A319}"/>
              </a:ext>
            </a:extLst>
          </p:cNvPr>
          <p:cNvGrpSpPr/>
          <p:nvPr/>
        </p:nvGrpSpPr>
        <p:grpSpPr>
          <a:xfrm>
            <a:off x="762000" y="1679156"/>
            <a:ext cx="2905234" cy="45719"/>
            <a:chOff x="0" y="0"/>
            <a:chExt cx="462932" cy="12543"/>
          </a:xfrm>
        </p:grpSpPr>
        <p:sp>
          <p:nvSpPr>
            <p:cNvPr id="21" name="Freeform 21">
              <a:extLst>
                <a:ext uri="{FF2B5EF4-FFF2-40B4-BE49-F238E27FC236}">
                  <a16:creationId xmlns:a16="http://schemas.microsoft.com/office/drawing/2014/main" id="{F5CEC659-FA21-1CAD-8F46-0E15F46B7CEB}"/>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70E2D692-756A-367F-6AB8-D19A683536F0}"/>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C84C99B5-5EA6-56CC-1441-9C01F1669C8C}"/>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EfficientNet</a:t>
            </a:r>
            <a:r>
              <a:rPr lang="ar-BH" sz="8000" b="1" dirty="0">
                <a:solidFill>
                  <a:schemeClr val="bg1"/>
                </a:solidFill>
                <a:latin typeface="Bebas Neue Cyrillic" panose="020B0604020202020204" charset="0"/>
              </a:rPr>
              <a:t>-</a:t>
            </a:r>
            <a:r>
              <a:rPr lang="en-US" sz="8000" b="1" dirty="0">
                <a:solidFill>
                  <a:schemeClr val="bg1"/>
                </a:solidFill>
                <a:latin typeface="Bebas Neue Cyrillic" panose="020B0604020202020204" charset="0"/>
              </a:rPr>
              <a:t>B0</a:t>
            </a:r>
          </a:p>
        </p:txBody>
      </p:sp>
      <p:sp>
        <p:nvSpPr>
          <p:cNvPr id="40" name="Rectangle 1">
            <a:extLst>
              <a:ext uri="{FF2B5EF4-FFF2-40B4-BE49-F238E27FC236}">
                <a16:creationId xmlns:a16="http://schemas.microsoft.com/office/drawing/2014/main" id="{49985E46-9D71-3572-1380-0777B92181D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30DB57D0-1AED-652A-09C5-BC0224D4AE1B}"/>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7FEC5799-E86B-A683-4572-DBD283F08F81}"/>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pic>
        <p:nvPicPr>
          <p:cNvPr id="48" name="Picture 47" descr="A graph showing the difference between a train and validation accuracy&#10;&#10;Description automatically generated">
            <a:extLst>
              <a:ext uri="{FF2B5EF4-FFF2-40B4-BE49-F238E27FC236}">
                <a16:creationId xmlns:a16="http://schemas.microsoft.com/office/drawing/2014/main" id="{D00B16AF-3816-E95A-68FE-877F6A074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4229" y="2324100"/>
            <a:ext cx="12119542" cy="6752317"/>
          </a:xfrm>
          <a:prstGeom prst="rect">
            <a:avLst/>
          </a:prstGeom>
        </p:spPr>
      </p:pic>
      <p:sp>
        <p:nvSpPr>
          <p:cNvPr id="5" name="Rectangle 4">
            <a:hlinkClick r:id="rId3" action="ppaction://hlinksldjump"/>
            <a:extLst>
              <a:ext uri="{FF2B5EF4-FFF2-40B4-BE49-F238E27FC236}">
                <a16:creationId xmlns:a16="http://schemas.microsoft.com/office/drawing/2014/main" id="{CCADDC8F-EFBE-DD83-919E-7C6B2F21C821}"/>
              </a:ext>
            </a:extLst>
          </p:cNvPr>
          <p:cNvSpPr/>
          <p:nvPr/>
        </p:nvSpPr>
        <p:spPr>
          <a:xfrm>
            <a:off x="0" y="5143500"/>
            <a:ext cx="3036604" cy="5490357"/>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5377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CC3C92-AD5A-E699-AAAA-87B254686A6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D8D7B69-CE58-BCE1-987E-068D8D2604E4}"/>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F35B0BFB-D449-9C39-4E27-25393B7C939D}"/>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763A7EFB-0491-653C-6C4D-4840FDAC76B0}"/>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C1D0FA72-228C-EAE3-D5D9-3C5F94F324D4}"/>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5947F820-4989-3C8E-D4DA-FFD4271C4087}"/>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3A7B4013-07BC-A14E-2525-2422705EE6F8}"/>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C459FCE7-CDA5-ABB2-E387-C610340BFA5D}"/>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8E9B2D1E-A89E-47D4-3475-12680432F76B}"/>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2925984D-A99D-F18A-9A83-AFF719162314}"/>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EC8D5D19-5B64-5167-6794-B139363F7624}"/>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A17E8B9C-3B58-F543-051B-A8E39984A9F4}"/>
              </a:ext>
            </a:extLst>
          </p:cNvPr>
          <p:cNvGrpSpPr/>
          <p:nvPr/>
        </p:nvGrpSpPr>
        <p:grpSpPr>
          <a:xfrm>
            <a:off x="762000" y="1679156"/>
            <a:ext cx="2905234" cy="45719"/>
            <a:chOff x="0" y="0"/>
            <a:chExt cx="462932" cy="12543"/>
          </a:xfrm>
        </p:grpSpPr>
        <p:sp>
          <p:nvSpPr>
            <p:cNvPr id="21" name="Freeform 21">
              <a:extLst>
                <a:ext uri="{FF2B5EF4-FFF2-40B4-BE49-F238E27FC236}">
                  <a16:creationId xmlns:a16="http://schemas.microsoft.com/office/drawing/2014/main" id="{14497949-4068-00D1-55FA-2300627A159D}"/>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169B9A14-6ABE-F7F6-2513-D184D2AEF8EC}"/>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CE243F8A-1843-71F2-4899-B4E2ADE62FEE}"/>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EfficientNet</a:t>
            </a:r>
            <a:r>
              <a:rPr lang="ar-BH" sz="8000" b="1" dirty="0">
                <a:solidFill>
                  <a:schemeClr val="bg1"/>
                </a:solidFill>
                <a:latin typeface="Bebas Neue Cyrillic" panose="020B0604020202020204" charset="0"/>
              </a:rPr>
              <a:t>-</a:t>
            </a:r>
            <a:r>
              <a:rPr lang="en-US" sz="8000" b="1" dirty="0">
                <a:solidFill>
                  <a:schemeClr val="bg1"/>
                </a:solidFill>
                <a:latin typeface="Bebas Neue Cyrillic" panose="020B0604020202020204" charset="0"/>
              </a:rPr>
              <a:t>B0</a:t>
            </a:r>
          </a:p>
        </p:txBody>
      </p:sp>
      <p:sp>
        <p:nvSpPr>
          <p:cNvPr id="40" name="Rectangle 1">
            <a:extLst>
              <a:ext uri="{FF2B5EF4-FFF2-40B4-BE49-F238E27FC236}">
                <a16:creationId xmlns:a16="http://schemas.microsoft.com/office/drawing/2014/main" id="{C3D325CC-1FAB-06B0-E5D7-058D4AA410E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36094AB6-EEBF-8E9D-9B25-51A7252C9F23}"/>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53BAD214-0152-B1F4-BCFA-952130A9AFB4}"/>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2" action="ppaction://hlinksldjump"/>
            <a:extLst>
              <a:ext uri="{FF2B5EF4-FFF2-40B4-BE49-F238E27FC236}">
                <a16:creationId xmlns:a16="http://schemas.microsoft.com/office/drawing/2014/main" id="{14DD6F30-5A3B-CC0A-9547-3DE223D130A1}"/>
              </a:ext>
            </a:extLst>
          </p:cNvPr>
          <p:cNvSpPr/>
          <p:nvPr/>
        </p:nvSpPr>
        <p:spPr>
          <a:xfrm>
            <a:off x="0" y="5143500"/>
            <a:ext cx="3036604" cy="5490357"/>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diagram of different emotions&#10;&#10;Description automatically generated with medium confidence">
            <a:extLst>
              <a:ext uri="{FF2B5EF4-FFF2-40B4-BE49-F238E27FC236}">
                <a16:creationId xmlns:a16="http://schemas.microsoft.com/office/drawing/2014/main" id="{FA58200A-B193-FE35-3A15-2DD82816E5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8408" y="1886166"/>
            <a:ext cx="8891337" cy="7595615"/>
          </a:xfrm>
          <a:prstGeom prst="rect">
            <a:avLst/>
          </a:prstGeom>
        </p:spPr>
      </p:pic>
    </p:spTree>
    <p:extLst>
      <p:ext uri="{BB962C8B-B14F-4D97-AF65-F5344CB8AC3E}">
        <p14:creationId xmlns:p14="http://schemas.microsoft.com/office/powerpoint/2010/main" val="3767946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811653-1C51-8CCB-996F-1F0E8871AAB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4E178C0-642E-50B1-22FD-6BD977118D21}"/>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19978DBD-592D-2558-AC49-EE72766891CD}"/>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4BFC5329-685C-78AD-E9C8-E79C97E34E5A}"/>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91462272-A9D5-1C09-11EB-8C18B6879640}"/>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0D954372-6D8F-D400-5D2A-42DAE7DD1B8B}"/>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8AA1FE4F-75AB-127C-AC77-F644D9FE7820}"/>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F9AFE149-F034-4A68-FFDF-29585E2749E0}"/>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4D54EF80-E29C-1684-D09A-84C1AFE494B5}"/>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9DC245BE-A5C5-8C29-7EB3-9C276BA0F11A}"/>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287916A5-7B3D-C803-1B38-DFCBC2B75095}"/>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2731EC9D-6097-A566-CCFA-345A797C74E2}"/>
              </a:ext>
            </a:extLst>
          </p:cNvPr>
          <p:cNvGrpSpPr/>
          <p:nvPr/>
        </p:nvGrpSpPr>
        <p:grpSpPr>
          <a:xfrm>
            <a:off x="762000" y="1679156"/>
            <a:ext cx="2905234" cy="45719"/>
            <a:chOff x="0" y="0"/>
            <a:chExt cx="462932" cy="12543"/>
          </a:xfrm>
        </p:grpSpPr>
        <p:sp>
          <p:nvSpPr>
            <p:cNvPr id="21" name="Freeform 21">
              <a:extLst>
                <a:ext uri="{FF2B5EF4-FFF2-40B4-BE49-F238E27FC236}">
                  <a16:creationId xmlns:a16="http://schemas.microsoft.com/office/drawing/2014/main" id="{3021810A-B7F5-9279-F350-AE14F9993869}"/>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92A4A30F-773C-5183-3266-3293C6719882}"/>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4B4FE732-C05F-5F5A-9981-83FDEAA9129F}"/>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EfficientNet</a:t>
            </a:r>
            <a:r>
              <a:rPr lang="ar-BH" sz="8000" b="1" dirty="0">
                <a:solidFill>
                  <a:schemeClr val="bg1"/>
                </a:solidFill>
                <a:latin typeface="Bebas Neue Cyrillic" panose="020B0604020202020204" charset="0"/>
              </a:rPr>
              <a:t>-</a:t>
            </a:r>
            <a:r>
              <a:rPr lang="en-US" sz="8000" b="1" dirty="0">
                <a:solidFill>
                  <a:schemeClr val="bg1"/>
                </a:solidFill>
                <a:latin typeface="Bebas Neue Cyrillic" panose="020B0604020202020204" charset="0"/>
              </a:rPr>
              <a:t>B0</a:t>
            </a:r>
          </a:p>
        </p:txBody>
      </p:sp>
      <p:sp>
        <p:nvSpPr>
          <p:cNvPr id="40" name="Rectangle 1">
            <a:extLst>
              <a:ext uri="{FF2B5EF4-FFF2-40B4-BE49-F238E27FC236}">
                <a16:creationId xmlns:a16="http://schemas.microsoft.com/office/drawing/2014/main" id="{FB386552-81A2-5D5C-A6F3-26B5ACDEA259}"/>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C301A3EA-1F24-0F0E-7D13-A84A50BBE374}"/>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676A1F76-0608-C526-009D-0962453906CE}"/>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2" action="ppaction://hlinksldjump"/>
            <a:extLst>
              <a:ext uri="{FF2B5EF4-FFF2-40B4-BE49-F238E27FC236}">
                <a16:creationId xmlns:a16="http://schemas.microsoft.com/office/drawing/2014/main" id="{0B95BA92-D47F-9E38-CB97-35E695F88405}"/>
              </a:ext>
            </a:extLst>
          </p:cNvPr>
          <p:cNvSpPr/>
          <p:nvPr/>
        </p:nvSpPr>
        <p:spPr>
          <a:xfrm>
            <a:off x="0" y="5143500"/>
            <a:ext cx="3036604" cy="5490357"/>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computer screen&#10;&#10;Description automatically generated">
            <a:extLst>
              <a:ext uri="{FF2B5EF4-FFF2-40B4-BE49-F238E27FC236}">
                <a16:creationId xmlns:a16="http://schemas.microsoft.com/office/drawing/2014/main" id="{0409B3BE-4DD5-5507-E7D2-A9A60E31EF7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3592862" y="2172160"/>
            <a:ext cx="11102275" cy="7072426"/>
          </a:xfrm>
          <a:prstGeom prst="rect">
            <a:avLst/>
          </a:prstGeom>
        </p:spPr>
      </p:pic>
    </p:spTree>
    <p:extLst>
      <p:ext uri="{BB962C8B-B14F-4D97-AF65-F5344CB8AC3E}">
        <p14:creationId xmlns:p14="http://schemas.microsoft.com/office/powerpoint/2010/main" val="4063578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B32DE5-802A-9158-012E-6DD5F149098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3096BE5-226D-5B23-CA13-D0EC14C0502A}"/>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F9D066BF-AA7D-C2F7-2AB0-74A09E73282E}"/>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C85BD1C8-D88F-151E-7AAB-C0111815BFCD}"/>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FAC157F3-3CDD-B576-CB6B-DAF6A5D98797}"/>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EAAC7D18-C95F-B267-6BC5-B705BCB9C5BE}"/>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E3F5B068-AA24-2EDB-0834-7E84ADE36D9F}"/>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05F6077F-492C-A394-313E-366046E4BDF8}"/>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109086E3-E35D-4ACA-EFAF-C452A223CCF7}"/>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34507A3D-3322-69B1-D51B-0C84FB98BD00}"/>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4821BA57-FC8E-198E-A0BB-821C52751332}"/>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E58A05B6-570B-E860-4FBB-FB4520DFB2DC}"/>
              </a:ext>
            </a:extLst>
          </p:cNvPr>
          <p:cNvGrpSpPr/>
          <p:nvPr/>
        </p:nvGrpSpPr>
        <p:grpSpPr>
          <a:xfrm>
            <a:off x="762000" y="1679156"/>
            <a:ext cx="2905234" cy="45719"/>
            <a:chOff x="0" y="0"/>
            <a:chExt cx="462932" cy="12543"/>
          </a:xfrm>
        </p:grpSpPr>
        <p:sp>
          <p:nvSpPr>
            <p:cNvPr id="21" name="Freeform 21">
              <a:extLst>
                <a:ext uri="{FF2B5EF4-FFF2-40B4-BE49-F238E27FC236}">
                  <a16:creationId xmlns:a16="http://schemas.microsoft.com/office/drawing/2014/main" id="{346B6FB8-C666-0BAF-FA45-12680C51DFF4}"/>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919AA9A6-B715-C570-BE7E-C9C5EE740A1F}"/>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0256ED85-57D2-248F-8598-B59743E6F907}"/>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EfficientNet</a:t>
            </a:r>
            <a:r>
              <a:rPr lang="ar-BH" sz="8000" b="1" dirty="0">
                <a:solidFill>
                  <a:schemeClr val="bg1"/>
                </a:solidFill>
                <a:latin typeface="Bebas Neue Cyrillic" panose="020B0604020202020204" charset="0"/>
              </a:rPr>
              <a:t>-</a:t>
            </a:r>
            <a:r>
              <a:rPr lang="en-US" sz="8000" b="1" dirty="0">
                <a:solidFill>
                  <a:schemeClr val="bg1"/>
                </a:solidFill>
                <a:latin typeface="Bebas Neue Cyrillic" panose="020B0604020202020204" charset="0"/>
              </a:rPr>
              <a:t>B0</a:t>
            </a:r>
          </a:p>
        </p:txBody>
      </p:sp>
      <p:sp>
        <p:nvSpPr>
          <p:cNvPr id="40" name="Rectangle 1">
            <a:extLst>
              <a:ext uri="{FF2B5EF4-FFF2-40B4-BE49-F238E27FC236}">
                <a16:creationId xmlns:a16="http://schemas.microsoft.com/office/drawing/2014/main" id="{1094FFAF-BE3A-265E-3952-D860B7DE421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454D1E0E-400B-D5AA-E9C4-ACB935A0AD9E}"/>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2F296306-09E8-61CC-FC60-2FEB1B425E40}"/>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2" action="ppaction://hlinksldjump"/>
            <a:extLst>
              <a:ext uri="{FF2B5EF4-FFF2-40B4-BE49-F238E27FC236}">
                <a16:creationId xmlns:a16="http://schemas.microsoft.com/office/drawing/2014/main" id="{8A5739DC-9DC5-4DFB-74CB-459FEF8FBC3E}"/>
              </a:ext>
            </a:extLst>
          </p:cNvPr>
          <p:cNvSpPr/>
          <p:nvPr/>
        </p:nvSpPr>
        <p:spPr>
          <a:xfrm>
            <a:off x="0" y="5143500"/>
            <a:ext cx="3036604" cy="5490357"/>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collage of a person's face&#10;&#10;Description automatically generated">
            <a:extLst>
              <a:ext uri="{FF2B5EF4-FFF2-40B4-BE49-F238E27FC236}">
                <a16:creationId xmlns:a16="http://schemas.microsoft.com/office/drawing/2014/main" id="{950CE6F7-174A-A4D4-2B64-AD959EEEC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151" y="4159114"/>
            <a:ext cx="17887697" cy="2403659"/>
          </a:xfrm>
          <a:prstGeom prst="rect">
            <a:avLst/>
          </a:prstGeom>
        </p:spPr>
      </p:pic>
    </p:spTree>
    <p:extLst>
      <p:ext uri="{BB962C8B-B14F-4D97-AF65-F5344CB8AC3E}">
        <p14:creationId xmlns:p14="http://schemas.microsoft.com/office/powerpoint/2010/main" val="389625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FF0698-0A17-5AB3-AAEB-40E9B5295E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B8B5095-2C0F-4DC1-54DD-CFCC5330B84D}"/>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5D9AB05E-BFA7-7EB5-BE24-DF75A4F5B329}"/>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F9DC3A59-DA13-08CE-CA1F-5DEAFC19EB96}"/>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6A6DDF90-C2DF-E738-2061-1F129A1EB83B}"/>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F281F0BD-99D3-0B3F-1EDF-67C569E535AC}"/>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0E56E958-D8E8-35CB-DB3E-E39A8A86B871}"/>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4B2EC723-2D49-4065-AFE1-1211D2CFDF3E}"/>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56DCCFB3-F595-7132-331F-101FCB78349D}"/>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A2EE26CD-C989-7F3E-EFCD-2C7C05C4FDBF}"/>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3B700A29-3B42-069D-F03B-EF149E2C801C}"/>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B3481BCA-1625-E203-E5CC-6B2E5E0072C0}"/>
              </a:ext>
            </a:extLst>
          </p:cNvPr>
          <p:cNvGrpSpPr/>
          <p:nvPr/>
        </p:nvGrpSpPr>
        <p:grpSpPr>
          <a:xfrm>
            <a:off x="762000" y="1679156"/>
            <a:ext cx="2905234" cy="45719"/>
            <a:chOff x="0" y="0"/>
            <a:chExt cx="462932" cy="12543"/>
          </a:xfrm>
        </p:grpSpPr>
        <p:sp>
          <p:nvSpPr>
            <p:cNvPr id="21" name="Freeform 21">
              <a:extLst>
                <a:ext uri="{FF2B5EF4-FFF2-40B4-BE49-F238E27FC236}">
                  <a16:creationId xmlns:a16="http://schemas.microsoft.com/office/drawing/2014/main" id="{6E703F24-9E3E-4603-9E70-1B9D886FA98B}"/>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B5D52112-E06F-C111-24B7-CE02D841670F}"/>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6A33B272-F5F6-9C8B-E5AE-5E6F9B1619DA}"/>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EfficientNet</a:t>
            </a:r>
            <a:r>
              <a:rPr lang="ar-BH" sz="8000" b="1" dirty="0">
                <a:solidFill>
                  <a:schemeClr val="bg1"/>
                </a:solidFill>
                <a:latin typeface="Bebas Neue Cyrillic" panose="020B0604020202020204" charset="0"/>
              </a:rPr>
              <a:t>-</a:t>
            </a:r>
            <a:r>
              <a:rPr lang="en-US" sz="8000" b="1" dirty="0">
                <a:solidFill>
                  <a:schemeClr val="bg1"/>
                </a:solidFill>
                <a:latin typeface="Bebas Neue Cyrillic" panose="020B0604020202020204" charset="0"/>
              </a:rPr>
              <a:t>B0</a:t>
            </a:r>
          </a:p>
        </p:txBody>
      </p:sp>
      <p:sp>
        <p:nvSpPr>
          <p:cNvPr id="40" name="Rectangle 1">
            <a:extLst>
              <a:ext uri="{FF2B5EF4-FFF2-40B4-BE49-F238E27FC236}">
                <a16:creationId xmlns:a16="http://schemas.microsoft.com/office/drawing/2014/main" id="{72B95B8C-18FB-4DAE-9D54-0F759AED37F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0D27321F-5B7D-6787-8BD0-323E2EFB21C5}"/>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60901121-43C4-8A69-A330-9624F6B9489E}"/>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2" action="ppaction://hlinksldjump"/>
            <a:extLst>
              <a:ext uri="{FF2B5EF4-FFF2-40B4-BE49-F238E27FC236}">
                <a16:creationId xmlns:a16="http://schemas.microsoft.com/office/drawing/2014/main" id="{A6A8FE28-04E8-3B92-DC0A-9F28F3910175}"/>
              </a:ext>
            </a:extLst>
          </p:cNvPr>
          <p:cNvSpPr/>
          <p:nvPr/>
        </p:nvSpPr>
        <p:spPr>
          <a:xfrm>
            <a:off x="0" y="5143500"/>
            <a:ext cx="3036604" cy="5490357"/>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erson with a frowning face&#10;&#10;Description automatically generated">
            <a:extLst>
              <a:ext uri="{FF2B5EF4-FFF2-40B4-BE49-F238E27FC236}">
                <a16:creationId xmlns:a16="http://schemas.microsoft.com/office/drawing/2014/main" id="{7529413A-03EA-85EC-410C-5C3F9C7BB2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2800" y="3119527"/>
            <a:ext cx="4425729" cy="4733201"/>
          </a:xfrm>
          <a:prstGeom prst="rect">
            <a:avLst/>
          </a:prstGeom>
        </p:spPr>
      </p:pic>
      <p:pic>
        <p:nvPicPr>
          <p:cNvPr id="15" name="Picture 14" descr="A person laughing with his mouth open&#10;&#10;Description automatically generated">
            <a:extLst>
              <a:ext uri="{FF2B5EF4-FFF2-40B4-BE49-F238E27FC236}">
                <a16:creationId xmlns:a16="http://schemas.microsoft.com/office/drawing/2014/main" id="{98CFD9FA-565C-D8E2-306B-A73E075599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3274" y="3118003"/>
            <a:ext cx="4425729" cy="4645187"/>
          </a:xfrm>
          <a:prstGeom prst="rect">
            <a:avLst/>
          </a:prstGeom>
        </p:spPr>
      </p:pic>
    </p:spTree>
    <p:extLst>
      <p:ext uri="{BB962C8B-B14F-4D97-AF65-F5344CB8AC3E}">
        <p14:creationId xmlns:p14="http://schemas.microsoft.com/office/powerpoint/2010/main" val="788693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57E58-27E4-760E-E879-AE88FB9BF421}"/>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EC101509-8CFA-F7DD-BFA3-41993655A8A9}"/>
              </a:ext>
            </a:extLst>
          </p:cNvPr>
          <p:cNvGrpSpPr/>
          <p:nvPr/>
        </p:nvGrpSpPr>
        <p:grpSpPr>
          <a:xfrm>
            <a:off x="17259301" y="1"/>
            <a:ext cx="1028700" cy="1028700"/>
            <a:chOff x="0" y="0"/>
            <a:chExt cx="270933" cy="270933"/>
          </a:xfrm>
        </p:grpSpPr>
        <p:sp>
          <p:nvSpPr>
            <p:cNvPr id="6" name="Freeform 6">
              <a:extLst>
                <a:ext uri="{FF2B5EF4-FFF2-40B4-BE49-F238E27FC236}">
                  <a16:creationId xmlns:a16="http://schemas.microsoft.com/office/drawing/2014/main" id="{0C6C609D-0B09-20E0-E753-8B4F0109B7E0}"/>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7" name="TextBox 7">
              <a:extLst>
                <a:ext uri="{FF2B5EF4-FFF2-40B4-BE49-F238E27FC236}">
                  <a16:creationId xmlns:a16="http://schemas.microsoft.com/office/drawing/2014/main" id="{6ABEF9B2-1713-6AF8-C351-38011D6F98E6}"/>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8DFFE9C7-7363-5BB9-DD97-888729F9F208}"/>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9" name="TextBox 9">
            <a:extLst>
              <a:ext uri="{FF2B5EF4-FFF2-40B4-BE49-F238E27FC236}">
                <a16:creationId xmlns:a16="http://schemas.microsoft.com/office/drawing/2014/main" id="{88FC05C9-0175-D401-5B51-A95FE725A2ED}"/>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0" name="TextBox 10">
            <a:extLst>
              <a:ext uri="{FF2B5EF4-FFF2-40B4-BE49-F238E27FC236}">
                <a16:creationId xmlns:a16="http://schemas.microsoft.com/office/drawing/2014/main" id="{8D85718B-9CD5-9F92-9FC9-4391F4326FDD}"/>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1" name="TextBox 11">
            <a:extLst>
              <a:ext uri="{FF2B5EF4-FFF2-40B4-BE49-F238E27FC236}">
                <a16:creationId xmlns:a16="http://schemas.microsoft.com/office/drawing/2014/main" id="{E891E70A-1D03-60A7-7B42-3BE9052D9F97}"/>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5" name="TextBox 15">
            <a:extLst>
              <a:ext uri="{FF2B5EF4-FFF2-40B4-BE49-F238E27FC236}">
                <a16:creationId xmlns:a16="http://schemas.microsoft.com/office/drawing/2014/main" id="{95B6790C-7923-8190-A331-502E14DB9BF0}"/>
              </a:ext>
            </a:extLst>
          </p:cNvPr>
          <p:cNvSpPr txBox="1"/>
          <p:nvPr/>
        </p:nvSpPr>
        <p:spPr>
          <a:xfrm>
            <a:off x="881400" y="519180"/>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ResNet-50</a:t>
            </a:r>
          </a:p>
        </p:txBody>
      </p:sp>
      <p:grpSp>
        <p:nvGrpSpPr>
          <p:cNvPr id="16" name="Group 16">
            <a:extLst>
              <a:ext uri="{FF2B5EF4-FFF2-40B4-BE49-F238E27FC236}">
                <a16:creationId xmlns:a16="http://schemas.microsoft.com/office/drawing/2014/main" id="{D21D23C0-A848-8324-9B78-7104CE226FA8}"/>
              </a:ext>
            </a:extLst>
          </p:cNvPr>
          <p:cNvGrpSpPr/>
          <p:nvPr/>
        </p:nvGrpSpPr>
        <p:grpSpPr>
          <a:xfrm>
            <a:off x="881400" y="1725816"/>
            <a:ext cx="2931669" cy="48939"/>
            <a:chOff x="0" y="0"/>
            <a:chExt cx="772127" cy="12889"/>
          </a:xfrm>
        </p:grpSpPr>
        <p:sp>
          <p:nvSpPr>
            <p:cNvPr id="17" name="Freeform 17">
              <a:extLst>
                <a:ext uri="{FF2B5EF4-FFF2-40B4-BE49-F238E27FC236}">
                  <a16:creationId xmlns:a16="http://schemas.microsoft.com/office/drawing/2014/main" id="{7F0011CF-BEB8-F54B-422A-ED75DB84A566}"/>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18" name="TextBox 18">
              <a:extLst>
                <a:ext uri="{FF2B5EF4-FFF2-40B4-BE49-F238E27FC236}">
                  <a16:creationId xmlns:a16="http://schemas.microsoft.com/office/drawing/2014/main" id="{02209BB0-7830-19D5-96C5-12EA158CAF32}"/>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sp>
        <p:nvSpPr>
          <p:cNvPr id="109" name="Freeform 18">
            <a:extLst>
              <a:ext uri="{FF2B5EF4-FFF2-40B4-BE49-F238E27FC236}">
                <a16:creationId xmlns:a16="http://schemas.microsoft.com/office/drawing/2014/main" id="{B6F03F47-5600-E122-3E5C-CA73386C8966}"/>
              </a:ext>
            </a:extLst>
          </p:cNvPr>
          <p:cNvSpPr/>
          <p:nvPr/>
        </p:nvSpPr>
        <p:spPr>
          <a:xfrm>
            <a:off x="17378078" y="8343900"/>
            <a:ext cx="791146" cy="850506"/>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988" dirty="0"/>
          </a:p>
        </p:txBody>
      </p:sp>
      <p:sp>
        <p:nvSpPr>
          <p:cNvPr id="112" name="Freeform 19">
            <a:extLst>
              <a:ext uri="{FF2B5EF4-FFF2-40B4-BE49-F238E27FC236}">
                <a16:creationId xmlns:a16="http://schemas.microsoft.com/office/drawing/2014/main" id="{A3D26793-45C6-4472-1817-EF3A1AD17283}"/>
              </a:ext>
            </a:extLst>
          </p:cNvPr>
          <p:cNvSpPr/>
          <p:nvPr/>
        </p:nvSpPr>
        <p:spPr>
          <a:xfrm>
            <a:off x="16430073" y="1510239"/>
            <a:ext cx="696332" cy="696332"/>
          </a:xfrm>
          <a:custGeom>
            <a:avLst/>
            <a:gdLst/>
            <a:ahLst/>
            <a:cxnLst/>
            <a:rect l="l" t="t" r="r" b="b"/>
            <a:pathLst>
              <a:path w="994760" h="994760">
                <a:moveTo>
                  <a:pt x="0" y="0"/>
                </a:moveTo>
                <a:lnTo>
                  <a:pt x="994760" y="0"/>
                </a:lnTo>
                <a:lnTo>
                  <a:pt x="994760" y="994760"/>
                </a:lnTo>
                <a:lnTo>
                  <a:pt x="0" y="994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988"/>
          </a:p>
        </p:txBody>
      </p:sp>
      <p:sp>
        <p:nvSpPr>
          <p:cNvPr id="48" name="Google Shape;590;p61">
            <a:extLst>
              <a:ext uri="{FF2B5EF4-FFF2-40B4-BE49-F238E27FC236}">
                <a16:creationId xmlns:a16="http://schemas.microsoft.com/office/drawing/2014/main" id="{F0EC5DBD-4E05-6007-5D40-899E1D1719D8}"/>
              </a:ext>
            </a:extLst>
          </p:cNvPr>
          <p:cNvSpPr/>
          <p:nvPr/>
        </p:nvSpPr>
        <p:spPr>
          <a:xfrm rot="10800000" flipH="1">
            <a:off x="-2709261" y="7210747"/>
            <a:ext cx="3767667" cy="3630785"/>
          </a:xfrm>
          <a:prstGeom prst="ellipse">
            <a:avLst/>
          </a:prstGeom>
          <a:gradFill>
            <a:gsLst>
              <a:gs pos="0">
                <a:srgbClr val="FFFFFF">
                  <a:alpha val="15294"/>
                </a:srgbClr>
              </a:gs>
              <a:gs pos="100000">
                <a:srgbClr val="FFFFFF">
                  <a:alpha val="0"/>
                </a:srgbClr>
              </a:gs>
            </a:gsLst>
            <a:lin ang="5400012" scaled="0"/>
          </a:gradFill>
          <a:ln>
            <a:noFill/>
          </a:ln>
        </p:spPr>
        <p:txBody>
          <a:bodyPr spcFirstLastPara="1" wrap="square" lIns="91425" tIns="91425" rIns="91425" bIns="91425" anchor="ctr" anchorCtr="0">
            <a:noAutofit/>
          </a:bodyPr>
          <a:lstStyle/>
          <a:p>
            <a:endParaRPr/>
          </a:p>
        </p:txBody>
      </p:sp>
      <p:sp>
        <p:nvSpPr>
          <p:cNvPr id="57" name="TextBox 56">
            <a:extLst>
              <a:ext uri="{FF2B5EF4-FFF2-40B4-BE49-F238E27FC236}">
                <a16:creationId xmlns:a16="http://schemas.microsoft.com/office/drawing/2014/main" id="{2BEAA02A-EB19-49C6-C821-FD96996F0EE3}"/>
              </a:ext>
            </a:extLst>
          </p:cNvPr>
          <p:cNvSpPr txBox="1"/>
          <p:nvPr/>
        </p:nvSpPr>
        <p:spPr>
          <a:xfrm>
            <a:off x="17172215" y="9639300"/>
            <a:ext cx="863031" cy="337721"/>
          </a:xfrm>
          <a:prstGeom prst="rect">
            <a:avLst/>
          </a:prstGeom>
          <a:noFill/>
        </p:spPr>
        <p:txBody>
          <a:bodyPr wrap="square">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11</a:t>
            </a:r>
            <a:endParaRPr lang="en-US" sz="1800" b="1" dirty="0">
              <a:solidFill>
                <a:srgbClr val="FFFFFF"/>
              </a:solidFill>
              <a:latin typeface="Open Sans Bold"/>
              <a:ea typeface="Open Sans Bold"/>
              <a:cs typeface="Open Sans Bold"/>
              <a:sym typeface="Open Sans Bold"/>
            </a:endParaRPr>
          </a:p>
        </p:txBody>
      </p:sp>
      <p:sp>
        <p:nvSpPr>
          <p:cNvPr id="2" name="TextBox 1">
            <a:extLst>
              <a:ext uri="{FF2B5EF4-FFF2-40B4-BE49-F238E27FC236}">
                <a16:creationId xmlns:a16="http://schemas.microsoft.com/office/drawing/2014/main" id="{A83A41A1-9A8C-BD25-27D5-6C17E6EAA1B6}"/>
              </a:ext>
            </a:extLst>
          </p:cNvPr>
          <p:cNvSpPr txBox="1"/>
          <p:nvPr/>
        </p:nvSpPr>
        <p:spPr>
          <a:xfrm>
            <a:off x="224019" y="2551546"/>
            <a:ext cx="2411717" cy="584775"/>
          </a:xfrm>
          <a:prstGeom prst="rect">
            <a:avLst/>
          </a:prstGeom>
          <a:noFill/>
        </p:spPr>
        <p:txBody>
          <a:bodyPr wrap="square">
            <a:spAutoFit/>
          </a:bodyPr>
          <a:lstStyle/>
          <a:p>
            <a:r>
              <a:rPr lang="en-US" sz="3200" b="1" i="0" dirty="0">
                <a:solidFill>
                  <a:schemeClr val="bg1"/>
                </a:solidFill>
                <a:effectLst/>
                <a:latin typeface="Calibri (Body)"/>
              </a:rPr>
              <a:t>Architecture:</a:t>
            </a:r>
            <a:endParaRPr lang="en-US" sz="3200" b="1" dirty="0">
              <a:solidFill>
                <a:schemeClr val="bg1"/>
              </a:solidFill>
              <a:latin typeface="Calibri (Body)"/>
            </a:endParaRPr>
          </a:p>
        </p:txBody>
      </p:sp>
      <p:sp>
        <p:nvSpPr>
          <p:cNvPr id="13" name="TextBox 12">
            <a:extLst>
              <a:ext uri="{FF2B5EF4-FFF2-40B4-BE49-F238E27FC236}">
                <a16:creationId xmlns:a16="http://schemas.microsoft.com/office/drawing/2014/main" id="{4EC35CB2-4DF3-1A59-F313-53335143749D}"/>
              </a:ext>
            </a:extLst>
          </p:cNvPr>
          <p:cNvSpPr txBox="1"/>
          <p:nvPr/>
        </p:nvSpPr>
        <p:spPr>
          <a:xfrm>
            <a:off x="256676" y="3074359"/>
            <a:ext cx="6532173" cy="1323439"/>
          </a:xfrm>
          <a:prstGeom prst="rect">
            <a:avLst/>
          </a:prstGeom>
          <a:noFill/>
        </p:spPr>
        <p:txBody>
          <a:bodyPr wrap="square">
            <a:spAutoFit/>
          </a:bodyPr>
          <a:lstStyle/>
          <a:p>
            <a:r>
              <a:rPr lang="en-US" sz="2000" b="0" i="0" dirty="0">
                <a:solidFill>
                  <a:schemeClr val="bg1"/>
                </a:solidFill>
                <a:effectLst/>
                <a:latin typeface="Roboto" panose="02000000000000000000" pitchFamily="2" charset="0"/>
              </a:rPr>
              <a:t>ResNet-50 is based on residual connections that allow training very deep networks without facing gradient vanishing issues. The model consists of 50 layers, making it robust in extracting complex features.</a:t>
            </a:r>
            <a:endParaRPr lang="en-US" sz="2000" dirty="0">
              <a:solidFill>
                <a:schemeClr val="bg1"/>
              </a:solidFill>
            </a:endParaRPr>
          </a:p>
        </p:txBody>
      </p:sp>
      <p:sp>
        <p:nvSpPr>
          <p:cNvPr id="22" name="TextBox 21">
            <a:extLst>
              <a:ext uri="{FF2B5EF4-FFF2-40B4-BE49-F238E27FC236}">
                <a16:creationId xmlns:a16="http://schemas.microsoft.com/office/drawing/2014/main" id="{2509472E-0BF2-DE6E-B568-0B98ECEE1B91}"/>
              </a:ext>
            </a:extLst>
          </p:cNvPr>
          <p:cNvSpPr txBox="1"/>
          <p:nvPr/>
        </p:nvSpPr>
        <p:spPr>
          <a:xfrm>
            <a:off x="11283932" y="2637504"/>
            <a:ext cx="4123930" cy="584775"/>
          </a:xfrm>
          <a:prstGeom prst="rect">
            <a:avLst/>
          </a:prstGeom>
          <a:noFill/>
        </p:spPr>
        <p:txBody>
          <a:bodyPr wrap="square">
            <a:spAutoFit/>
          </a:bodyPr>
          <a:lstStyle/>
          <a:p>
            <a:r>
              <a:rPr lang="en-US" sz="3200" b="1" i="0" dirty="0">
                <a:solidFill>
                  <a:schemeClr val="bg1"/>
                </a:solidFill>
                <a:effectLst/>
                <a:latin typeface="Calibri (Body)"/>
              </a:rPr>
              <a:t>Techniques Used:</a:t>
            </a:r>
            <a:endParaRPr lang="en-US" sz="3200" b="1" dirty="0">
              <a:solidFill>
                <a:schemeClr val="bg1"/>
              </a:solidFill>
              <a:latin typeface="Calibri (Body)"/>
            </a:endParaRPr>
          </a:p>
        </p:txBody>
      </p:sp>
      <p:sp>
        <p:nvSpPr>
          <p:cNvPr id="23" name="TextBox 22">
            <a:extLst>
              <a:ext uri="{FF2B5EF4-FFF2-40B4-BE49-F238E27FC236}">
                <a16:creationId xmlns:a16="http://schemas.microsoft.com/office/drawing/2014/main" id="{56A04C23-42F2-B151-3392-6B06616B1482}"/>
              </a:ext>
            </a:extLst>
          </p:cNvPr>
          <p:cNvSpPr txBox="1"/>
          <p:nvPr/>
        </p:nvSpPr>
        <p:spPr>
          <a:xfrm>
            <a:off x="11371168" y="2969525"/>
            <a:ext cx="7066578" cy="1631216"/>
          </a:xfrm>
          <a:prstGeom prst="rect">
            <a:avLst/>
          </a:prstGeom>
          <a:noFill/>
        </p:spPr>
        <p:txBody>
          <a:bodyPr wrap="square">
            <a:spAutoFit/>
          </a:bodyPr>
          <a:lstStyle/>
          <a:p>
            <a:br>
              <a:rPr lang="en-US" sz="2000" dirty="0">
                <a:solidFill>
                  <a:schemeClr val="bg1"/>
                </a:solidFill>
              </a:rPr>
            </a:br>
            <a:r>
              <a:rPr lang="en-US" sz="2000" b="1" i="0" dirty="0">
                <a:solidFill>
                  <a:schemeClr val="bg1"/>
                </a:solidFill>
                <a:effectLst/>
                <a:latin typeface="Roboto" panose="02000000000000000000" pitchFamily="2" charset="0"/>
              </a:rPr>
              <a:t>Residual Connections: </a:t>
            </a:r>
            <a:r>
              <a:rPr lang="en-US" sz="2000" b="0" i="0" dirty="0">
                <a:solidFill>
                  <a:schemeClr val="bg1"/>
                </a:solidFill>
                <a:effectLst/>
                <a:latin typeface="Roboto" panose="02000000000000000000" pitchFamily="2" charset="0"/>
              </a:rPr>
              <a:t>Enable information bypassing between layers, preventing gradient vanishing. </a:t>
            </a:r>
          </a:p>
          <a:p>
            <a:endParaRPr lang="en-US" sz="2000" b="1" i="0" dirty="0">
              <a:solidFill>
                <a:schemeClr val="bg1"/>
              </a:solidFill>
              <a:effectLst/>
              <a:latin typeface="Roboto" panose="02000000000000000000" pitchFamily="2" charset="0"/>
            </a:endParaRPr>
          </a:p>
          <a:p>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Helps train deep models efficiently.</a:t>
            </a:r>
            <a:endParaRPr lang="en-US" sz="2000" dirty="0">
              <a:solidFill>
                <a:schemeClr val="bg1"/>
              </a:solidFill>
            </a:endParaRPr>
          </a:p>
        </p:txBody>
      </p:sp>
      <p:pic>
        <p:nvPicPr>
          <p:cNvPr id="24" name="Google Shape;495;p26">
            <a:extLst>
              <a:ext uri="{FF2B5EF4-FFF2-40B4-BE49-F238E27FC236}">
                <a16:creationId xmlns:a16="http://schemas.microsoft.com/office/drawing/2014/main" id="{5B64FCF3-6592-DFA1-0D46-6AA11F4D0F07}"/>
              </a:ext>
            </a:extLst>
          </p:cNvPr>
          <p:cNvPicPr preferRelativeResize="0"/>
          <p:nvPr/>
        </p:nvPicPr>
        <p:blipFill>
          <a:blip r:embed="rId5">
            <a:alphaModFix/>
            <a:duotone>
              <a:prstClr val="black"/>
              <a:schemeClr val="accent3">
                <a:tint val="45000"/>
                <a:satMod val="400000"/>
              </a:schemeClr>
            </a:duotone>
            <a:extLst>
              <a:ext uri="{BEBA8EAE-BF5A-486C-A8C5-ECC9F3942E4B}">
                <a14:imgProps xmlns:a14="http://schemas.microsoft.com/office/drawing/2010/main">
                  <a14:imgLayer r:embed="rId6">
                    <a14:imgEffect>
                      <a14:brightnessContrast contrast="40000"/>
                    </a14:imgEffect>
                  </a14:imgLayer>
                </a14:imgProps>
              </a:ext>
            </a:extLst>
          </a:blip>
          <a:stretch>
            <a:fillRect/>
          </a:stretch>
        </p:blipFill>
        <p:spPr>
          <a:xfrm>
            <a:off x="5777122" y="3937581"/>
            <a:ext cx="5605107" cy="3909604"/>
          </a:xfrm>
          <a:prstGeom prst="rect">
            <a:avLst/>
          </a:prstGeom>
          <a:noFill/>
          <a:ln>
            <a:noFill/>
          </a:ln>
        </p:spPr>
      </p:pic>
      <p:cxnSp>
        <p:nvCxnSpPr>
          <p:cNvPr id="25" name="Google Shape;520;p26">
            <a:extLst>
              <a:ext uri="{FF2B5EF4-FFF2-40B4-BE49-F238E27FC236}">
                <a16:creationId xmlns:a16="http://schemas.microsoft.com/office/drawing/2014/main" id="{91276100-4AE9-FA04-AF24-4045AE458CA0}"/>
              </a:ext>
            </a:extLst>
          </p:cNvPr>
          <p:cNvCxnSpPr>
            <a:cxnSpLocks/>
          </p:cNvCxnSpPr>
          <p:nvPr/>
        </p:nvCxnSpPr>
        <p:spPr>
          <a:xfrm rot="10800000">
            <a:off x="6168401" y="3789563"/>
            <a:ext cx="1306210" cy="821503"/>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6" name="Google Shape;520;p26">
            <a:extLst>
              <a:ext uri="{FF2B5EF4-FFF2-40B4-BE49-F238E27FC236}">
                <a16:creationId xmlns:a16="http://schemas.microsoft.com/office/drawing/2014/main" id="{8FB3E10D-8A66-80FF-5781-ED856C1ACE23}"/>
              </a:ext>
            </a:extLst>
          </p:cNvPr>
          <p:cNvCxnSpPr>
            <a:cxnSpLocks/>
          </p:cNvCxnSpPr>
          <p:nvPr/>
        </p:nvCxnSpPr>
        <p:spPr>
          <a:xfrm flipV="1">
            <a:off x="9601200" y="3423780"/>
            <a:ext cx="1682732" cy="1133803"/>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28" name="TextBox 27">
            <a:extLst>
              <a:ext uri="{FF2B5EF4-FFF2-40B4-BE49-F238E27FC236}">
                <a16:creationId xmlns:a16="http://schemas.microsoft.com/office/drawing/2014/main" id="{887E22F5-9CB7-4577-30E4-BA795ABE5228}"/>
              </a:ext>
            </a:extLst>
          </p:cNvPr>
          <p:cNvSpPr txBox="1"/>
          <p:nvPr/>
        </p:nvSpPr>
        <p:spPr>
          <a:xfrm>
            <a:off x="11368677" y="4748014"/>
            <a:ext cx="6927056" cy="1631216"/>
          </a:xfrm>
          <a:prstGeom prst="rect">
            <a:avLst/>
          </a:prstGeom>
          <a:noFill/>
        </p:spPr>
        <p:txBody>
          <a:bodyPr wrap="square">
            <a:spAutoFit/>
          </a:bodyPr>
          <a:lstStyle/>
          <a:p>
            <a:r>
              <a:rPr lang="en-US" sz="2000" b="1" i="0" dirty="0">
                <a:solidFill>
                  <a:schemeClr val="bg1"/>
                </a:solidFill>
                <a:effectLst/>
                <a:latin typeface="Roboto" panose="02000000000000000000" pitchFamily="2" charset="0"/>
              </a:rPr>
              <a:t>Fine-Tuning: </a:t>
            </a:r>
            <a:r>
              <a:rPr lang="en-US" sz="2000" b="0" i="0" dirty="0">
                <a:solidFill>
                  <a:schemeClr val="bg1"/>
                </a:solidFill>
                <a:effectLst/>
                <a:latin typeface="Roboto" panose="02000000000000000000" pitchFamily="2" charset="0"/>
              </a:rPr>
              <a:t>Early layers were frozen, and deeper layers (layer2, layer3, layer4) were retrained. </a:t>
            </a:r>
          </a:p>
          <a:p>
            <a:endParaRPr lang="en-US" sz="2000" dirty="0">
              <a:solidFill>
                <a:schemeClr val="bg1"/>
              </a:solidFill>
              <a:latin typeface="Roboto" panose="02000000000000000000" pitchFamily="2" charset="0"/>
            </a:endParaRPr>
          </a:p>
          <a:p>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Improves model accuracy while reducing computational costs.</a:t>
            </a:r>
            <a:endParaRPr lang="en-US" sz="2000" dirty="0">
              <a:solidFill>
                <a:schemeClr val="bg1"/>
              </a:solidFill>
            </a:endParaRPr>
          </a:p>
        </p:txBody>
      </p:sp>
      <p:cxnSp>
        <p:nvCxnSpPr>
          <p:cNvPr id="29" name="Google Shape;520;p26">
            <a:extLst>
              <a:ext uri="{FF2B5EF4-FFF2-40B4-BE49-F238E27FC236}">
                <a16:creationId xmlns:a16="http://schemas.microsoft.com/office/drawing/2014/main" id="{C9BD6BC0-0D69-98C7-FBBE-EE7BAA059B2F}"/>
              </a:ext>
            </a:extLst>
          </p:cNvPr>
          <p:cNvCxnSpPr>
            <a:cxnSpLocks/>
          </p:cNvCxnSpPr>
          <p:nvPr/>
        </p:nvCxnSpPr>
        <p:spPr>
          <a:xfrm flipV="1">
            <a:off x="9829800" y="4915556"/>
            <a:ext cx="1507081" cy="191414"/>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30" name="TextBox 29">
            <a:extLst>
              <a:ext uri="{FF2B5EF4-FFF2-40B4-BE49-F238E27FC236}">
                <a16:creationId xmlns:a16="http://schemas.microsoft.com/office/drawing/2014/main" id="{5DAA7ED2-9AD1-34B1-9F6B-E032486956E1}"/>
              </a:ext>
            </a:extLst>
          </p:cNvPr>
          <p:cNvSpPr txBox="1"/>
          <p:nvPr/>
        </p:nvSpPr>
        <p:spPr>
          <a:xfrm>
            <a:off x="11441443" y="6633516"/>
            <a:ext cx="4717256" cy="1323439"/>
          </a:xfrm>
          <a:prstGeom prst="rect">
            <a:avLst/>
          </a:prstGeom>
          <a:noFill/>
        </p:spPr>
        <p:txBody>
          <a:bodyPr wrap="square">
            <a:spAutoFit/>
          </a:bodyPr>
          <a:lstStyle/>
          <a:p>
            <a:r>
              <a:rPr lang="en-US" sz="2000" b="1" i="0" dirty="0">
                <a:solidFill>
                  <a:schemeClr val="bg1"/>
                </a:solidFill>
                <a:effectLst/>
                <a:latin typeface="Roboto" panose="02000000000000000000" pitchFamily="2" charset="0"/>
              </a:rPr>
              <a:t>Dropout: </a:t>
            </a:r>
            <a:r>
              <a:rPr lang="en-US" sz="2000" b="0" i="0" dirty="0">
                <a:solidFill>
                  <a:schemeClr val="bg1"/>
                </a:solidFill>
                <a:effectLst/>
                <a:latin typeface="Roboto" panose="02000000000000000000" pitchFamily="2" charset="0"/>
              </a:rPr>
              <a:t>Added at 70% after the pooling layer.</a:t>
            </a:r>
          </a:p>
          <a:p>
            <a:endParaRPr lang="en-US" sz="2000" dirty="0">
              <a:solidFill>
                <a:schemeClr val="bg1"/>
              </a:solidFill>
              <a:latin typeface="Roboto" panose="02000000000000000000" pitchFamily="2" charset="0"/>
            </a:endParaRPr>
          </a:p>
          <a:p>
            <a:r>
              <a:rPr lang="en-US" sz="2000" b="0" i="0" dirty="0">
                <a:solidFill>
                  <a:schemeClr val="bg1"/>
                </a:solidFill>
                <a:effectLst/>
                <a:latin typeface="Roboto" panose="02000000000000000000" pitchFamily="2" charset="0"/>
              </a:rPr>
              <a:t> Significance</a:t>
            </a:r>
            <a:r>
              <a:rPr lang="en-US" sz="2000" b="1" i="0" dirty="0">
                <a:solidFill>
                  <a:schemeClr val="bg1"/>
                </a:solidFill>
                <a:effectLst/>
                <a:latin typeface="Roboto" panose="02000000000000000000" pitchFamily="2" charset="0"/>
              </a:rPr>
              <a:t>:</a:t>
            </a:r>
            <a:r>
              <a:rPr lang="en-US" sz="2000" b="0" i="0" dirty="0">
                <a:solidFill>
                  <a:schemeClr val="bg1"/>
                </a:solidFill>
                <a:effectLst/>
                <a:latin typeface="Roboto" panose="02000000000000000000" pitchFamily="2" charset="0"/>
              </a:rPr>
              <a:t> Reduces overfitting.</a:t>
            </a:r>
            <a:endParaRPr lang="en-US" sz="2000" dirty="0">
              <a:solidFill>
                <a:schemeClr val="bg1"/>
              </a:solidFill>
            </a:endParaRPr>
          </a:p>
        </p:txBody>
      </p:sp>
      <p:cxnSp>
        <p:nvCxnSpPr>
          <p:cNvPr id="31" name="Google Shape;520;p26">
            <a:extLst>
              <a:ext uri="{FF2B5EF4-FFF2-40B4-BE49-F238E27FC236}">
                <a16:creationId xmlns:a16="http://schemas.microsoft.com/office/drawing/2014/main" id="{0D0FC100-20E9-751B-0133-CBCB40C7D2FE}"/>
              </a:ext>
            </a:extLst>
          </p:cNvPr>
          <p:cNvCxnSpPr>
            <a:cxnSpLocks/>
          </p:cNvCxnSpPr>
          <p:nvPr/>
        </p:nvCxnSpPr>
        <p:spPr>
          <a:xfrm flipV="1">
            <a:off x="9829800" y="6786299"/>
            <a:ext cx="1526393" cy="166893"/>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32" name="TextBox 31">
            <a:extLst>
              <a:ext uri="{FF2B5EF4-FFF2-40B4-BE49-F238E27FC236}">
                <a16:creationId xmlns:a16="http://schemas.microsoft.com/office/drawing/2014/main" id="{F70D51BC-1F3A-98EE-4688-E6560A6D103F}"/>
              </a:ext>
            </a:extLst>
          </p:cNvPr>
          <p:cNvSpPr txBox="1"/>
          <p:nvPr/>
        </p:nvSpPr>
        <p:spPr>
          <a:xfrm>
            <a:off x="11382229" y="8068374"/>
            <a:ext cx="6394789" cy="1631216"/>
          </a:xfrm>
          <a:prstGeom prst="rect">
            <a:avLst/>
          </a:prstGeom>
          <a:noFill/>
        </p:spPr>
        <p:txBody>
          <a:bodyPr wrap="square">
            <a:spAutoFit/>
          </a:bodyPr>
          <a:lstStyle/>
          <a:p>
            <a:r>
              <a:rPr lang="en-US" sz="2000" b="1" i="0" dirty="0">
                <a:solidFill>
                  <a:schemeClr val="bg1"/>
                </a:solidFill>
                <a:effectLst/>
                <a:latin typeface="Roboto" panose="02000000000000000000" pitchFamily="2" charset="0"/>
              </a:rPr>
              <a:t>Data Augmentation: </a:t>
            </a:r>
            <a:r>
              <a:rPr lang="en-US" sz="2000" b="0" i="0" dirty="0">
                <a:solidFill>
                  <a:schemeClr val="bg1"/>
                </a:solidFill>
                <a:effectLst/>
                <a:latin typeface="Roboto" panose="02000000000000000000" pitchFamily="2" charset="0"/>
              </a:rPr>
              <a:t>Similar techniques to Custom CNN with slight adjustments in transformation intensity. </a:t>
            </a:r>
          </a:p>
          <a:p>
            <a:endParaRPr lang="en-US" sz="2000" dirty="0">
              <a:solidFill>
                <a:schemeClr val="bg1"/>
              </a:solidFill>
              <a:latin typeface="Roboto" panose="02000000000000000000" pitchFamily="2" charset="0"/>
            </a:endParaRPr>
          </a:p>
          <a:p>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Enhances generalization capability.</a:t>
            </a:r>
            <a:endParaRPr lang="en-US" sz="2000" dirty="0">
              <a:solidFill>
                <a:schemeClr val="bg1"/>
              </a:solidFill>
            </a:endParaRPr>
          </a:p>
        </p:txBody>
      </p:sp>
      <p:cxnSp>
        <p:nvCxnSpPr>
          <p:cNvPr id="33" name="Google Shape;520;p26">
            <a:extLst>
              <a:ext uri="{FF2B5EF4-FFF2-40B4-BE49-F238E27FC236}">
                <a16:creationId xmlns:a16="http://schemas.microsoft.com/office/drawing/2014/main" id="{17543427-6EEE-8DE0-0D62-423574D7ECB6}"/>
              </a:ext>
            </a:extLst>
          </p:cNvPr>
          <p:cNvCxnSpPr>
            <a:cxnSpLocks/>
          </p:cNvCxnSpPr>
          <p:nvPr/>
        </p:nvCxnSpPr>
        <p:spPr>
          <a:xfrm rot="5400000">
            <a:off x="8496434" y="7792112"/>
            <a:ext cx="781578" cy="56354"/>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34" name="TextBox 33">
            <a:extLst>
              <a:ext uri="{FF2B5EF4-FFF2-40B4-BE49-F238E27FC236}">
                <a16:creationId xmlns:a16="http://schemas.microsoft.com/office/drawing/2014/main" id="{6A82FEB6-E065-5476-1BB9-055252D25ABE}"/>
              </a:ext>
            </a:extLst>
          </p:cNvPr>
          <p:cNvSpPr txBox="1"/>
          <p:nvPr/>
        </p:nvSpPr>
        <p:spPr>
          <a:xfrm>
            <a:off x="6788851" y="8255380"/>
            <a:ext cx="4216153" cy="2031325"/>
          </a:xfrm>
          <a:prstGeom prst="rect">
            <a:avLst/>
          </a:prstGeom>
          <a:noFill/>
        </p:spPr>
        <p:txBody>
          <a:bodyPr wrap="square">
            <a:spAutoFit/>
          </a:bodyPr>
          <a:lstStyle/>
          <a:p>
            <a:r>
              <a:rPr lang="en-US" sz="1800" b="1" i="0" dirty="0">
                <a:solidFill>
                  <a:schemeClr val="bg1"/>
                </a:solidFill>
                <a:effectLst/>
                <a:latin typeface="Roboto" panose="02000000000000000000" pitchFamily="2" charset="0"/>
              </a:rPr>
              <a:t>Learning Rate Scheduler:</a:t>
            </a:r>
            <a:r>
              <a:rPr lang="en-US" sz="1800" b="0" i="0" dirty="0">
                <a:solidFill>
                  <a:schemeClr val="bg1"/>
                </a:solidFill>
                <a:effectLst/>
                <a:latin typeface="Roboto" panose="02000000000000000000" pitchFamily="2" charset="0"/>
              </a:rPr>
              <a:t> Dynamically schedules the learning rate to gradually decrease upon performance stabilization.</a:t>
            </a:r>
          </a:p>
          <a:p>
            <a:endParaRPr lang="en-US" sz="1800" dirty="0">
              <a:solidFill>
                <a:schemeClr val="bg1"/>
              </a:solidFill>
              <a:latin typeface="Roboto" panose="02000000000000000000" pitchFamily="2" charset="0"/>
            </a:endParaRPr>
          </a:p>
          <a:p>
            <a:r>
              <a:rPr lang="en-US" sz="1800" b="1" i="0" dirty="0">
                <a:solidFill>
                  <a:schemeClr val="bg1"/>
                </a:solidFill>
                <a:effectLst/>
                <a:latin typeface="Roboto" panose="02000000000000000000" pitchFamily="2" charset="0"/>
              </a:rPr>
              <a:t> Optimization Using Adam:</a:t>
            </a:r>
            <a:r>
              <a:rPr lang="en-US" sz="1800" b="0" i="0" dirty="0">
                <a:solidFill>
                  <a:schemeClr val="bg1"/>
                </a:solidFill>
                <a:effectLst/>
                <a:latin typeface="Roboto" panose="02000000000000000000" pitchFamily="2" charset="0"/>
              </a:rPr>
              <a:t> Added for stable training and faster gradients.</a:t>
            </a:r>
            <a:endParaRPr lang="en-US" sz="1800" dirty="0">
              <a:solidFill>
                <a:schemeClr val="bg1"/>
              </a:solidFill>
            </a:endParaRPr>
          </a:p>
        </p:txBody>
      </p:sp>
      <p:cxnSp>
        <p:nvCxnSpPr>
          <p:cNvPr id="35" name="Google Shape;520;p26">
            <a:extLst>
              <a:ext uri="{FF2B5EF4-FFF2-40B4-BE49-F238E27FC236}">
                <a16:creationId xmlns:a16="http://schemas.microsoft.com/office/drawing/2014/main" id="{75DABCD6-05CB-599E-7B77-A4B13C336CD7}"/>
              </a:ext>
            </a:extLst>
          </p:cNvPr>
          <p:cNvCxnSpPr>
            <a:cxnSpLocks/>
          </p:cNvCxnSpPr>
          <p:nvPr/>
        </p:nvCxnSpPr>
        <p:spPr>
          <a:xfrm>
            <a:off x="9601200" y="7277100"/>
            <a:ext cx="1781029" cy="999182"/>
          </a:xfrm>
          <a:prstGeom prst="bentConnector3">
            <a:avLst>
              <a:gd name="adj1" fmla="val 67910"/>
            </a:avLst>
          </a:prstGeom>
          <a:noFill/>
          <a:ln w="19050" cap="flat" cmpd="sng">
            <a:solidFill>
              <a:schemeClr val="lt2"/>
            </a:solidFill>
            <a:prstDash val="solid"/>
            <a:round/>
            <a:headEnd type="none" w="med" len="med"/>
            <a:tailEnd type="oval" w="med" len="med"/>
          </a:ln>
        </p:spPr>
      </p:cxnSp>
      <p:pic>
        <p:nvPicPr>
          <p:cNvPr id="36" name="Picture 2" descr="O que é reconhecimento facial e como ele funciona?">
            <a:extLst>
              <a:ext uri="{FF2B5EF4-FFF2-40B4-BE49-F238E27FC236}">
                <a16:creationId xmlns:a16="http://schemas.microsoft.com/office/drawing/2014/main" id="{54656AEB-C207-0AE3-9955-863CC1C751C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24371"/>
          <a:stretch/>
        </p:blipFill>
        <p:spPr bwMode="auto">
          <a:xfrm>
            <a:off x="758959" y="5824712"/>
            <a:ext cx="4543935" cy="3004090"/>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918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500" fill="hold"/>
                                        <p:tgtEl>
                                          <p:spTgt spid="15"/>
                                        </p:tgtEl>
                                        <p:attrNameLst>
                                          <p:attrName>ppt_w</p:attrName>
                                        </p:attrNameLst>
                                      </p:cBhvr>
                                      <p:tavLst>
                                        <p:tav tm="0">
                                          <p:val>
                                            <p:fltVal val="0"/>
                                          </p:val>
                                        </p:tav>
                                        <p:tav tm="100000">
                                          <p:val>
                                            <p:strVal val="#ppt_w"/>
                                          </p:val>
                                        </p:tav>
                                      </p:tavLst>
                                    </p:anim>
                                    <p:anim calcmode="lin" valueType="num">
                                      <p:cBhvr>
                                        <p:cTn id="33" dur="500" fill="hold"/>
                                        <p:tgtEl>
                                          <p:spTgt spid="15"/>
                                        </p:tgtEl>
                                        <p:attrNameLst>
                                          <p:attrName>ppt_h</p:attrName>
                                        </p:attrNameLst>
                                      </p:cBhvr>
                                      <p:tavLst>
                                        <p:tav tm="0">
                                          <p:val>
                                            <p:fltVal val="0"/>
                                          </p:val>
                                        </p:tav>
                                        <p:tav tm="100000">
                                          <p:val>
                                            <p:strVal val="#ppt_h"/>
                                          </p:val>
                                        </p:tav>
                                      </p:tavLst>
                                    </p:anim>
                                    <p:animEffect transition="in" filter="fade">
                                      <p:cBhvr>
                                        <p:cTn id="34" dur="500"/>
                                        <p:tgtEl>
                                          <p:spTgt spid="15"/>
                                        </p:tgtEl>
                                      </p:cBhvr>
                                    </p:animEffect>
                                  </p:childTnLst>
                                </p:cTn>
                              </p:par>
                              <p:par>
                                <p:cTn id="35" presetID="53" presetClass="entr" presetSubtype="16"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09"/>
                                        </p:tgtEl>
                                        <p:attrNameLst>
                                          <p:attrName>style.visibility</p:attrName>
                                        </p:attrNameLst>
                                      </p:cBhvr>
                                      <p:to>
                                        <p:strVal val="visible"/>
                                      </p:to>
                                    </p:set>
                                    <p:anim calcmode="lin" valueType="num">
                                      <p:cBhvr>
                                        <p:cTn id="42" dur="500" fill="hold"/>
                                        <p:tgtEl>
                                          <p:spTgt spid="109"/>
                                        </p:tgtEl>
                                        <p:attrNameLst>
                                          <p:attrName>ppt_w</p:attrName>
                                        </p:attrNameLst>
                                      </p:cBhvr>
                                      <p:tavLst>
                                        <p:tav tm="0">
                                          <p:val>
                                            <p:fltVal val="0"/>
                                          </p:val>
                                        </p:tav>
                                        <p:tav tm="100000">
                                          <p:val>
                                            <p:strVal val="#ppt_w"/>
                                          </p:val>
                                        </p:tav>
                                      </p:tavLst>
                                    </p:anim>
                                    <p:anim calcmode="lin" valueType="num">
                                      <p:cBhvr>
                                        <p:cTn id="43" dur="500" fill="hold"/>
                                        <p:tgtEl>
                                          <p:spTgt spid="109"/>
                                        </p:tgtEl>
                                        <p:attrNameLst>
                                          <p:attrName>ppt_h</p:attrName>
                                        </p:attrNameLst>
                                      </p:cBhvr>
                                      <p:tavLst>
                                        <p:tav tm="0">
                                          <p:val>
                                            <p:fltVal val="0"/>
                                          </p:val>
                                        </p:tav>
                                        <p:tav tm="100000">
                                          <p:val>
                                            <p:strVal val="#ppt_h"/>
                                          </p:val>
                                        </p:tav>
                                      </p:tavLst>
                                    </p:anim>
                                    <p:animEffect transition="in" filter="fade">
                                      <p:cBhvr>
                                        <p:cTn id="44" dur="500"/>
                                        <p:tgtEl>
                                          <p:spTgt spid="10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12"/>
                                        </p:tgtEl>
                                        <p:attrNameLst>
                                          <p:attrName>style.visibility</p:attrName>
                                        </p:attrNameLst>
                                      </p:cBhvr>
                                      <p:to>
                                        <p:strVal val="visible"/>
                                      </p:to>
                                    </p:set>
                                    <p:anim calcmode="lin" valueType="num">
                                      <p:cBhvr>
                                        <p:cTn id="47" dur="500" fill="hold"/>
                                        <p:tgtEl>
                                          <p:spTgt spid="112"/>
                                        </p:tgtEl>
                                        <p:attrNameLst>
                                          <p:attrName>ppt_w</p:attrName>
                                        </p:attrNameLst>
                                      </p:cBhvr>
                                      <p:tavLst>
                                        <p:tav tm="0">
                                          <p:val>
                                            <p:fltVal val="0"/>
                                          </p:val>
                                        </p:tav>
                                        <p:tav tm="100000">
                                          <p:val>
                                            <p:strVal val="#ppt_w"/>
                                          </p:val>
                                        </p:tav>
                                      </p:tavLst>
                                    </p:anim>
                                    <p:anim calcmode="lin" valueType="num">
                                      <p:cBhvr>
                                        <p:cTn id="48" dur="500" fill="hold"/>
                                        <p:tgtEl>
                                          <p:spTgt spid="112"/>
                                        </p:tgtEl>
                                        <p:attrNameLst>
                                          <p:attrName>ppt_h</p:attrName>
                                        </p:attrNameLst>
                                      </p:cBhvr>
                                      <p:tavLst>
                                        <p:tav tm="0">
                                          <p:val>
                                            <p:fltVal val="0"/>
                                          </p:val>
                                        </p:tav>
                                        <p:tav tm="100000">
                                          <p:val>
                                            <p:strVal val="#ppt_h"/>
                                          </p:val>
                                        </p:tav>
                                      </p:tavLst>
                                    </p:anim>
                                    <p:animEffect transition="in" filter="fade">
                                      <p:cBhvr>
                                        <p:cTn id="49" dur="500"/>
                                        <p:tgtEl>
                                          <p:spTgt spid="11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57"/>
                                        </p:tgtEl>
                                        <p:attrNameLst>
                                          <p:attrName>style.visibility</p:attrName>
                                        </p:attrNameLst>
                                      </p:cBhvr>
                                      <p:to>
                                        <p:strVal val="visible"/>
                                      </p:to>
                                    </p:set>
                                    <p:anim calcmode="lin" valueType="num">
                                      <p:cBhvr>
                                        <p:cTn id="52" dur="500" fill="hold"/>
                                        <p:tgtEl>
                                          <p:spTgt spid="57"/>
                                        </p:tgtEl>
                                        <p:attrNameLst>
                                          <p:attrName>ppt_w</p:attrName>
                                        </p:attrNameLst>
                                      </p:cBhvr>
                                      <p:tavLst>
                                        <p:tav tm="0">
                                          <p:val>
                                            <p:fltVal val="0"/>
                                          </p:val>
                                        </p:tav>
                                        <p:tav tm="100000">
                                          <p:val>
                                            <p:strVal val="#ppt_w"/>
                                          </p:val>
                                        </p:tav>
                                      </p:tavLst>
                                    </p:anim>
                                    <p:anim calcmode="lin" valueType="num">
                                      <p:cBhvr>
                                        <p:cTn id="53" dur="500" fill="hold"/>
                                        <p:tgtEl>
                                          <p:spTgt spid="57"/>
                                        </p:tgtEl>
                                        <p:attrNameLst>
                                          <p:attrName>ppt_h</p:attrName>
                                        </p:attrNameLst>
                                      </p:cBhvr>
                                      <p:tavLst>
                                        <p:tav tm="0">
                                          <p:val>
                                            <p:fltVal val="0"/>
                                          </p:val>
                                        </p:tav>
                                        <p:tav tm="100000">
                                          <p:val>
                                            <p:strVal val="#ppt_h"/>
                                          </p:val>
                                        </p:tav>
                                      </p:tavLst>
                                    </p:anim>
                                    <p:animEffect transition="in" filter="fade">
                                      <p:cBhvr>
                                        <p:cTn id="54" dur="500"/>
                                        <p:tgtEl>
                                          <p:spTgt spid="5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fade">
                                      <p:cBhvr>
                                        <p:cTn id="69" dur="500"/>
                                        <p:tgtEl>
                                          <p:spTgt spid="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fade">
                                      <p:cBhvr>
                                        <p:cTn id="74" dur="500"/>
                                        <p:tgtEl>
                                          <p:spTgt spid="1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500"/>
                                        <p:tgtEl>
                                          <p:spTgt spid="29"/>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500"/>
                                        <p:tgtEl>
                                          <p:spTgt spid="35"/>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500"/>
                                        <p:tgtEl>
                                          <p:spTgt spid="32"/>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fade">
                                      <p:cBhvr>
                                        <p:cTn id="124" dur="500"/>
                                        <p:tgtEl>
                                          <p:spTgt spid="33"/>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34"/>
                                        </p:tgtEl>
                                        <p:attrNameLst>
                                          <p:attrName>style.visibility</p:attrName>
                                        </p:attrNameLst>
                                      </p:cBhvr>
                                      <p:to>
                                        <p:strVal val="visible"/>
                                      </p:to>
                                    </p:set>
                                    <p:animEffect transition="in" filter="fade">
                                      <p:cBhvr>
                                        <p:cTn id="129" dur="500"/>
                                        <p:tgtEl>
                                          <p:spTgt spid="34"/>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5" grpId="0"/>
      <p:bldP spid="109" grpId="0" animBg="1"/>
      <p:bldP spid="112" grpId="0" animBg="1"/>
      <p:bldP spid="57" grpId="0"/>
      <p:bldP spid="2" grpId="0"/>
      <p:bldP spid="13" grpId="0"/>
      <p:bldP spid="22" grpId="0"/>
      <p:bldP spid="23" grpId="0"/>
      <p:bldP spid="28" grpId="0"/>
      <p:bldP spid="30" grpId="0"/>
      <p:bldP spid="32" grpId="0"/>
      <p:bldP spid="3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742216" y="7517957"/>
            <a:ext cx="47625" cy="1740345"/>
            <a:chOff x="0" y="0"/>
            <a:chExt cx="12543" cy="458362"/>
          </a:xfrm>
        </p:grpSpPr>
        <p:sp>
          <p:nvSpPr>
            <p:cNvPr id="3" name="Freeform 3"/>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59301" y="1"/>
            <a:ext cx="1028700" cy="1028700"/>
            <a:chOff x="0" y="0"/>
            <a:chExt cx="270933" cy="270933"/>
          </a:xfrm>
        </p:grpSpPr>
        <p:sp>
          <p:nvSpPr>
            <p:cNvPr id="7" name="Freeform 7"/>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12</a:t>
            </a:r>
            <a:endParaRPr lang="en-US" sz="1400" b="1" dirty="0">
              <a:solidFill>
                <a:srgbClr val="FFFFFF"/>
              </a:solidFill>
              <a:latin typeface="Open Sans Bold"/>
              <a:ea typeface="Open Sans Bold"/>
              <a:cs typeface="Open Sans Bold"/>
              <a:sym typeface="Open Sans Bold"/>
            </a:endParaRPr>
          </a:p>
        </p:txBody>
      </p:sp>
      <p:grpSp>
        <p:nvGrpSpPr>
          <p:cNvPr id="20" name="Group 20"/>
          <p:cNvGrpSpPr/>
          <p:nvPr/>
        </p:nvGrpSpPr>
        <p:grpSpPr>
          <a:xfrm>
            <a:off x="833383" y="1733414"/>
            <a:ext cx="2905234" cy="45719"/>
            <a:chOff x="0" y="0"/>
            <a:chExt cx="462932" cy="12543"/>
          </a:xfrm>
        </p:grpSpPr>
        <p:sp>
          <p:nvSpPr>
            <p:cNvPr id="21" name="Freeform 21"/>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dirty="0"/>
            </a:p>
          </p:txBody>
        </p:sp>
        <p:sp>
          <p:nvSpPr>
            <p:cNvPr id="22" name="TextBox 22"/>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FD97DFE0-63A7-2B50-B83E-59D7487FCD0A}"/>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ResNet-50</a:t>
            </a:r>
          </a:p>
        </p:txBody>
      </p:sp>
      <p:sp>
        <p:nvSpPr>
          <p:cNvPr id="40" name="Rectangle 1">
            <a:extLst>
              <a:ext uri="{FF2B5EF4-FFF2-40B4-BE49-F238E27FC236}">
                <a16:creationId xmlns:a16="http://schemas.microsoft.com/office/drawing/2014/main" id="{0961198C-0938-C58E-4EBD-13D7559FD4F8}"/>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06DC600E-BF7E-9D68-062E-7BDA0348439A}"/>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0" name="Picture 49" descr="A screenshot of a computer screen&#10;&#10;Description automatically generated">
            <a:hlinkClick r:id="rId2" action="ppaction://hlinksldjump"/>
            <a:extLst>
              <a:ext uri="{FF2B5EF4-FFF2-40B4-BE49-F238E27FC236}">
                <a16:creationId xmlns:a16="http://schemas.microsoft.com/office/drawing/2014/main" id="{B133C070-B899-115C-0EBF-2E16665F329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757908" y="3441826"/>
            <a:ext cx="3156411" cy="2291301"/>
          </a:xfrm>
          <a:prstGeom prst="rect">
            <a:avLst/>
          </a:prstGeom>
        </p:spPr>
      </p:pic>
      <p:pic>
        <p:nvPicPr>
          <p:cNvPr id="52" name="Picture 51" descr="A collage of images of a person's face&#10;&#10;Description automatically generated">
            <a:hlinkClick r:id="rId5" action="ppaction://hlinksldjump"/>
            <a:extLst>
              <a:ext uri="{FF2B5EF4-FFF2-40B4-BE49-F238E27FC236}">
                <a16:creationId xmlns:a16="http://schemas.microsoft.com/office/drawing/2014/main" id="{8070359B-0D19-DA71-113C-51D1CDB8E6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56946" y="6461832"/>
            <a:ext cx="13684231" cy="1877037"/>
          </a:xfrm>
          <a:prstGeom prst="rect">
            <a:avLst/>
          </a:prstGeom>
        </p:spPr>
      </p:pic>
      <p:pic>
        <p:nvPicPr>
          <p:cNvPr id="54" name="Picture 53" descr="A screenshot of a phone&#10;&#10;Description automatically generated">
            <a:hlinkClick r:id="rId7" action="ppaction://hlinksldjump"/>
            <a:extLst>
              <a:ext uri="{FF2B5EF4-FFF2-40B4-BE49-F238E27FC236}">
                <a16:creationId xmlns:a16="http://schemas.microsoft.com/office/drawing/2014/main" id="{B44FCA57-BE16-BF13-7182-2C4BD1966F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92200" y="3144927"/>
            <a:ext cx="2816715" cy="2833781"/>
          </a:xfrm>
          <a:prstGeom prst="rect">
            <a:avLst/>
          </a:prstGeom>
        </p:spPr>
      </p:pic>
      <p:pic>
        <p:nvPicPr>
          <p:cNvPr id="9" name="Picture 8" descr="A graph showing the difference between a train and validation accuracy&#10;&#10;Description automatically generated">
            <a:hlinkClick r:id="rId9" action="ppaction://hlinksldjump"/>
            <a:extLst>
              <a:ext uri="{FF2B5EF4-FFF2-40B4-BE49-F238E27FC236}">
                <a16:creationId xmlns:a16="http://schemas.microsoft.com/office/drawing/2014/main" id="{A2EB7709-97CC-F8F6-BCE9-A4E8FCEFB2A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6488" y="3356796"/>
            <a:ext cx="4591901" cy="2528731"/>
          </a:xfrm>
          <a:prstGeom prst="rect">
            <a:avLst/>
          </a:prstGeom>
        </p:spPr>
      </p:pic>
      <p:pic>
        <p:nvPicPr>
          <p:cNvPr id="16" name="Picture 15" descr="A diagram of a confusion matrix&#10;&#10;Description automatically generated">
            <a:hlinkClick r:id="rId11" action="ppaction://hlinksldjump"/>
            <a:extLst>
              <a:ext uri="{FF2B5EF4-FFF2-40B4-BE49-F238E27FC236}">
                <a16:creationId xmlns:a16="http://schemas.microsoft.com/office/drawing/2014/main" id="{61F4EE9E-B9EA-1DDB-B663-E223D3E3E12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091813" y="3391278"/>
            <a:ext cx="3056457" cy="2345014"/>
          </a:xfrm>
          <a:prstGeom prst="rect">
            <a:avLst/>
          </a:prstGeom>
        </p:spPr>
      </p:pic>
      <p:grpSp>
        <p:nvGrpSpPr>
          <p:cNvPr id="17" name="Google Shape;465;p25">
            <a:extLst>
              <a:ext uri="{FF2B5EF4-FFF2-40B4-BE49-F238E27FC236}">
                <a16:creationId xmlns:a16="http://schemas.microsoft.com/office/drawing/2014/main" id="{5E826C27-F33E-CB39-457F-15272E93480B}"/>
              </a:ext>
            </a:extLst>
          </p:cNvPr>
          <p:cNvGrpSpPr/>
          <p:nvPr/>
        </p:nvGrpSpPr>
        <p:grpSpPr>
          <a:xfrm>
            <a:off x="6659970" y="8711848"/>
            <a:ext cx="4018509" cy="407588"/>
            <a:chOff x="5009381" y="3591285"/>
            <a:chExt cx="2951763" cy="407588"/>
          </a:xfrm>
        </p:grpSpPr>
        <p:sp>
          <p:nvSpPr>
            <p:cNvPr id="18" name="Google Shape;466;p25">
              <a:extLst>
                <a:ext uri="{FF2B5EF4-FFF2-40B4-BE49-F238E27FC236}">
                  <a16:creationId xmlns:a16="http://schemas.microsoft.com/office/drawing/2014/main" id="{ADF164D3-C355-9A56-A567-1904D273E8AC}"/>
                </a:ext>
              </a:extLst>
            </p:cNvPr>
            <p:cNvSpPr txBox="1"/>
            <p:nvPr/>
          </p:nvSpPr>
          <p:spPr>
            <a:xfrm>
              <a:off x="7339475" y="3602857"/>
              <a:ext cx="621669" cy="3960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93.20%</a:t>
              </a:r>
              <a:endParaRPr dirty="0">
                <a:solidFill>
                  <a:schemeClr val="lt2"/>
                </a:solidFill>
                <a:latin typeface="Fira Sans Condensed"/>
                <a:ea typeface="Fira Sans Condensed"/>
                <a:cs typeface="Fira Sans Condensed"/>
                <a:sym typeface="Fira Sans Condensed"/>
              </a:endParaRPr>
            </a:p>
          </p:txBody>
        </p:sp>
        <p:sp>
          <p:nvSpPr>
            <p:cNvPr id="19" name="Google Shape;467;p25">
              <a:extLst>
                <a:ext uri="{FF2B5EF4-FFF2-40B4-BE49-F238E27FC236}">
                  <a16:creationId xmlns:a16="http://schemas.microsoft.com/office/drawing/2014/main" id="{EC7A2C9D-606C-D377-8D5C-745383395173}"/>
                </a:ext>
              </a:extLst>
            </p:cNvPr>
            <p:cNvSpPr txBox="1"/>
            <p:nvPr/>
          </p:nvSpPr>
          <p:spPr>
            <a:xfrm>
              <a:off x="5009381" y="3591285"/>
              <a:ext cx="951526"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chemeClr val="bg1"/>
                  </a:solidFill>
                  <a:effectLst/>
                  <a:latin typeface="Roboto" panose="02000000000000000000" pitchFamily="2" charset="0"/>
                </a:rPr>
                <a:t>Train Acc:</a:t>
              </a:r>
              <a:endParaRPr dirty="0">
                <a:solidFill>
                  <a:schemeClr val="lt2"/>
                </a:solidFill>
                <a:latin typeface="Fira Sans Condensed"/>
                <a:ea typeface="Fira Sans Condensed"/>
                <a:cs typeface="Fira Sans Condensed"/>
                <a:sym typeface="Fira Sans Condensed"/>
              </a:endParaRPr>
            </a:p>
          </p:txBody>
        </p:sp>
      </p:grpSp>
      <p:grpSp>
        <p:nvGrpSpPr>
          <p:cNvPr id="23" name="Google Shape;468;p25">
            <a:extLst>
              <a:ext uri="{FF2B5EF4-FFF2-40B4-BE49-F238E27FC236}">
                <a16:creationId xmlns:a16="http://schemas.microsoft.com/office/drawing/2014/main" id="{C5FCC6F5-0BFC-8779-F7EC-92E04FA342E2}"/>
              </a:ext>
            </a:extLst>
          </p:cNvPr>
          <p:cNvGrpSpPr/>
          <p:nvPr/>
        </p:nvGrpSpPr>
        <p:grpSpPr>
          <a:xfrm>
            <a:off x="6858000" y="9076195"/>
            <a:ext cx="3885743" cy="355182"/>
            <a:chOff x="4083230" y="3938685"/>
            <a:chExt cx="3885743" cy="355182"/>
          </a:xfrm>
        </p:grpSpPr>
        <p:sp>
          <p:nvSpPr>
            <p:cNvPr id="24" name="Google Shape;469;p25">
              <a:extLst>
                <a:ext uri="{FF2B5EF4-FFF2-40B4-BE49-F238E27FC236}">
                  <a16:creationId xmlns:a16="http://schemas.microsoft.com/office/drawing/2014/main" id="{62248A6E-0C81-84E9-EDFB-8547167CBF08}"/>
                </a:ext>
              </a:extLst>
            </p:cNvPr>
            <p:cNvSpPr txBox="1"/>
            <p:nvPr/>
          </p:nvSpPr>
          <p:spPr>
            <a:xfrm>
              <a:off x="7122638" y="3972669"/>
              <a:ext cx="846335" cy="32119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55.20%</a:t>
              </a:r>
              <a:endParaRPr dirty="0">
                <a:solidFill>
                  <a:schemeClr val="lt2"/>
                </a:solidFill>
                <a:latin typeface="Fira Sans Condensed"/>
                <a:ea typeface="Fira Sans Condensed"/>
                <a:cs typeface="Fira Sans Condensed"/>
                <a:sym typeface="Fira Sans Condensed"/>
              </a:endParaRPr>
            </a:p>
          </p:txBody>
        </p:sp>
        <p:sp>
          <p:nvSpPr>
            <p:cNvPr id="25" name="Google Shape;470;p25">
              <a:extLst>
                <a:ext uri="{FF2B5EF4-FFF2-40B4-BE49-F238E27FC236}">
                  <a16:creationId xmlns:a16="http://schemas.microsoft.com/office/drawing/2014/main" id="{99BAEFE3-9079-C46D-0D1B-EC2662C07FA6}"/>
                </a:ext>
              </a:extLst>
            </p:cNvPr>
            <p:cNvSpPr txBox="1"/>
            <p:nvPr/>
          </p:nvSpPr>
          <p:spPr>
            <a:xfrm>
              <a:off x="4083230" y="3938685"/>
              <a:ext cx="1366095"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chemeClr val="bg1"/>
                  </a:solidFill>
                  <a:effectLst/>
                  <a:latin typeface="Roboto" panose="02000000000000000000" pitchFamily="2" charset="0"/>
                </a:rPr>
                <a:t>Val Acc:</a:t>
              </a:r>
              <a:endParaRPr lang="en-US" dirty="0">
                <a:solidFill>
                  <a:schemeClr val="bg1"/>
                </a:solidFill>
                <a:latin typeface="Fira Sans Condensed"/>
                <a:ea typeface="Fira Sans Condensed"/>
                <a:cs typeface="Fira Sans Condensed"/>
                <a:sym typeface="Fira Sans Condensed"/>
              </a:endParaRPr>
            </a:p>
          </p:txBody>
        </p:sp>
      </p:grpSp>
      <p:grpSp>
        <p:nvGrpSpPr>
          <p:cNvPr id="26" name="Google Shape;471;p25">
            <a:extLst>
              <a:ext uri="{FF2B5EF4-FFF2-40B4-BE49-F238E27FC236}">
                <a16:creationId xmlns:a16="http://schemas.microsoft.com/office/drawing/2014/main" id="{8A4C7BF3-A7A5-C582-D77E-984AFCC1263C}"/>
              </a:ext>
            </a:extLst>
          </p:cNvPr>
          <p:cNvGrpSpPr/>
          <p:nvPr/>
        </p:nvGrpSpPr>
        <p:grpSpPr>
          <a:xfrm>
            <a:off x="6934200" y="9363407"/>
            <a:ext cx="3809543" cy="409414"/>
            <a:chOff x="4159430" y="4225897"/>
            <a:chExt cx="3809543" cy="409414"/>
          </a:xfrm>
        </p:grpSpPr>
        <p:sp>
          <p:nvSpPr>
            <p:cNvPr id="27" name="Google Shape;472;p25">
              <a:extLst>
                <a:ext uri="{FF2B5EF4-FFF2-40B4-BE49-F238E27FC236}">
                  <a16:creationId xmlns:a16="http://schemas.microsoft.com/office/drawing/2014/main" id="{C007A64B-F544-14F5-8DB8-67AEB90BA266}"/>
                </a:ext>
              </a:extLst>
            </p:cNvPr>
            <p:cNvSpPr txBox="1"/>
            <p:nvPr/>
          </p:nvSpPr>
          <p:spPr>
            <a:xfrm>
              <a:off x="7122639" y="4225897"/>
              <a:ext cx="846334" cy="40941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55.20%</a:t>
              </a:r>
              <a:endParaRPr dirty="0">
                <a:solidFill>
                  <a:schemeClr val="lt2"/>
                </a:solidFill>
                <a:latin typeface="Fira Sans Condensed"/>
                <a:ea typeface="Fira Sans Condensed"/>
                <a:cs typeface="Fira Sans Condensed"/>
                <a:sym typeface="Fira Sans Condensed"/>
              </a:endParaRPr>
            </a:p>
          </p:txBody>
        </p:sp>
        <p:sp>
          <p:nvSpPr>
            <p:cNvPr id="28" name="Google Shape;473;p25">
              <a:extLst>
                <a:ext uri="{FF2B5EF4-FFF2-40B4-BE49-F238E27FC236}">
                  <a16:creationId xmlns:a16="http://schemas.microsoft.com/office/drawing/2014/main" id="{257EC292-FCBC-65F3-4F84-63C08DCB3B32}"/>
                </a:ext>
              </a:extLst>
            </p:cNvPr>
            <p:cNvSpPr txBox="1"/>
            <p:nvPr/>
          </p:nvSpPr>
          <p:spPr>
            <a:xfrm>
              <a:off x="4159430" y="4225897"/>
              <a:ext cx="1289895"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1"/>
                  </a:solidFill>
                  <a:latin typeface="Fira Sans Condensed"/>
                  <a:ea typeface="Fira Sans Condensed"/>
                  <a:cs typeface="Fira Sans Condensed"/>
                  <a:sym typeface="Fira Sans Condensed"/>
                </a:rPr>
                <a:t>Test Acc:</a:t>
              </a:r>
              <a:endParaRPr dirty="0">
                <a:solidFill>
                  <a:schemeClr val="bg1"/>
                </a:solidFill>
                <a:latin typeface="Fira Sans Condensed"/>
                <a:ea typeface="Fira Sans Condensed"/>
                <a:cs typeface="Fira Sans Condensed"/>
                <a:sym typeface="Fira Sans Condensed"/>
              </a:endParaRPr>
            </a:p>
          </p:txBody>
        </p:sp>
      </p:grpSp>
      <p:sp>
        <p:nvSpPr>
          <p:cNvPr id="29" name="Google Shape;474;p25">
            <a:extLst>
              <a:ext uri="{FF2B5EF4-FFF2-40B4-BE49-F238E27FC236}">
                <a16:creationId xmlns:a16="http://schemas.microsoft.com/office/drawing/2014/main" id="{D34A389A-DADF-C465-3D73-DBB546592DCF}"/>
              </a:ext>
            </a:extLst>
          </p:cNvPr>
          <p:cNvSpPr/>
          <p:nvPr/>
        </p:nvSpPr>
        <p:spPr>
          <a:xfrm>
            <a:off x="7902590" y="8877110"/>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5;p25">
            <a:extLst>
              <a:ext uri="{FF2B5EF4-FFF2-40B4-BE49-F238E27FC236}">
                <a16:creationId xmlns:a16="http://schemas.microsoft.com/office/drawing/2014/main" id="{939669D6-CDE8-DEC7-5B72-02C48BFB4FFA}"/>
              </a:ext>
            </a:extLst>
          </p:cNvPr>
          <p:cNvSpPr/>
          <p:nvPr/>
        </p:nvSpPr>
        <p:spPr>
          <a:xfrm>
            <a:off x="7906340" y="8880495"/>
            <a:ext cx="1580836" cy="149233"/>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6;p25">
            <a:extLst>
              <a:ext uri="{FF2B5EF4-FFF2-40B4-BE49-F238E27FC236}">
                <a16:creationId xmlns:a16="http://schemas.microsoft.com/office/drawing/2014/main" id="{5F2725EE-1332-149B-6938-9D3FBFF04930}"/>
              </a:ext>
            </a:extLst>
          </p:cNvPr>
          <p:cNvSpPr/>
          <p:nvPr/>
        </p:nvSpPr>
        <p:spPr>
          <a:xfrm>
            <a:off x="7902590" y="9502871"/>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7;p25">
            <a:extLst>
              <a:ext uri="{FF2B5EF4-FFF2-40B4-BE49-F238E27FC236}">
                <a16:creationId xmlns:a16="http://schemas.microsoft.com/office/drawing/2014/main" id="{72F734BF-DC19-D565-E7E3-2EA1FF644C0D}"/>
              </a:ext>
            </a:extLst>
          </p:cNvPr>
          <p:cNvSpPr/>
          <p:nvPr/>
        </p:nvSpPr>
        <p:spPr>
          <a:xfrm>
            <a:off x="7902579" y="9502871"/>
            <a:ext cx="1026575" cy="123362"/>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TextBox 36">
            <a:extLst>
              <a:ext uri="{FF2B5EF4-FFF2-40B4-BE49-F238E27FC236}">
                <a16:creationId xmlns:a16="http://schemas.microsoft.com/office/drawing/2014/main" id="{3184D4DA-DF77-F6B0-3BBF-A958ED4AEFE1}"/>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43" name="Google Shape;476;p25">
            <a:extLst>
              <a:ext uri="{FF2B5EF4-FFF2-40B4-BE49-F238E27FC236}">
                <a16:creationId xmlns:a16="http://schemas.microsoft.com/office/drawing/2014/main" id="{63618DE0-73BE-FD7A-0CFE-4A70B4B144AC}"/>
              </a:ext>
            </a:extLst>
          </p:cNvPr>
          <p:cNvSpPr/>
          <p:nvPr/>
        </p:nvSpPr>
        <p:spPr>
          <a:xfrm>
            <a:off x="7902590" y="9235263"/>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77;p25">
            <a:extLst>
              <a:ext uri="{FF2B5EF4-FFF2-40B4-BE49-F238E27FC236}">
                <a16:creationId xmlns:a16="http://schemas.microsoft.com/office/drawing/2014/main" id="{05FB9191-E15E-AE3B-662F-E6512680BD1F}"/>
              </a:ext>
            </a:extLst>
          </p:cNvPr>
          <p:cNvSpPr/>
          <p:nvPr/>
        </p:nvSpPr>
        <p:spPr>
          <a:xfrm>
            <a:off x="7902579" y="9235262"/>
            <a:ext cx="1026575" cy="141865"/>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978009-CD8C-A2BB-04BE-76FD3EE1E6F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ACD396-D0D3-E910-64F4-98D0078B4A88}"/>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10164191-819F-BB14-9DE8-E22383EFE3B9}"/>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A0676E2E-14E2-FF6F-2DF1-B6AA65CE10FD}"/>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3ADD7CC8-ACEF-E5F1-C333-5B146BF18E98}"/>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02926319-0B93-530A-526C-29F44A632682}"/>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3BB067C4-42F9-9815-F4A4-9A96E1527A91}"/>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05B4D4FC-3FB9-1444-2E99-EF2C31F8365B}"/>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87D2AA37-ACCA-DC55-36B4-C127B9AD77FD}"/>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EB2DC912-B18D-C316-23D6-73490DEF8B5C}"/>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BC180597-099B-2ADB-C215-FA0E5062446B}"/>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FC13D525-1B0A-7118-031D-8BA559D488D7}"/>
              </a:ext>
            </a:extLst>
          </p:cNvPr>
          <p:cNvGrpSpPr/>
          <p:nvPr/>
        </p:nvGrpSpPr>
        <p:grpSpPr>
          <a:xfrm>
            <a:off x="833383" y="1733414"/>
            <a:ext cx="2905234" cy="45719"/>
            <a:chOff x="0" y="0"/>
            <a:chExt cx="462932" cy="12543"/>
          </a:xfrm>
        </p:grpSpPr>
        <p:sp>
          <p:nvSpPr>
            <p:cNvPr id="21" name="Freeform 21">
              <a:extLst>
                <a:ext uri="{FF2B5EF4-FFF2-40B4-BE49-F238E27FC236}">
                  <a16:creationId xmlns:a16="http://schemas.microsoft.com/office/drawing/2014/main" id="{10876F5A-31BE-C75E-4A40-8617F4D048A3}"/>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dirty="0"/>
            </a:p>
          </p:txBody>
        </p:sp>
        <p:sp>
          <p:nvSpPr>
            <p:cNvPr id="22" name="TextBox 22">
              <a:extLst>
                <a:ext uri="{FF2B5EF4-FFF2-40B4-BE49-F238E27FC236}">
                  <a16:creationId xmlns:a16="http://schemas.microsoft.com/office/drawing/2014/main" id="{7D42777B-628F-0FDC-792C-507F84476A30}"/>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87946971-5211-1BD8-3CEA-04CD4FC2F553}"/>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ResNet-50</a:t>
            </a:r>
          </a:p>
        </p:txBody>
      </p:sp>
      <p:sp>
        <p:nvSpPr>
          <p:cNvPr id="40" name="Rectangle 1">
            <a:extLst>
              <a:ext uri="{FF2B5EF4-FFF2-40B4-BE49-F238E27FC236}">
                <a16:creationId xmlns:a16="http://schemas.microsoft.com/office/drawing/2014/main" id="{4C8EEB56-592E-8478-778B-6DF73DA1CC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856A9325-626B-E850-C56F-129110355FAC}"/>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descr="A graph showing the difference between a train and validation accuracy&#10;&#10;Description automatically generated">
            <a:extLst>
              <a:ext uri="{FF2B5EF4-FFF2-40B4-BE49-F238E27FC236}">
                <a16:creationId xmlns:a16="http://schemas.microsoft.com/office/drawing/2014/main" id="{94628F35-D528-9E13-23AE-D1B76AEF49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2900" y="2723143"/>
            <a:ext cx="10287000" cy="5664986"/>
          </a:xfrm>
          <a:prstGeom prst="rect">
            <a:avLst/>
          </a:prstGeom>
        </p:spPr>
      </p:pic>
      <p:sp>
        <p:nvSpPr>
          <p:cNvPr id="37" name="TextBox 36">
            <a:extLst>
              <a:ext uri="{FF2B5EF4-FFF2-40B4-BE49-F238E27FC236}">
                <a16:creationId xmlns:a16="http://schemas.microsoft.com/office/drawing/2014/main" id="{9A0E65CC-CF1A-1F57-CCBB-81BD86AB9363}"/>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3" action="ppaction://hlinksldjump"/>
            <a:extLst>
              <a:ext uri="{FF2B5EF4-FFF2-40B4-BE49-F238E27FC236}">
                <a16:creationId xmlns:a16="http://schemas.microsoft.com/office/drawing/2014/main" id="{01763997-CC28-822B-A6D2-49E595DC1FBD}"/>
              </a:ext>
            </a:extLst>
          </p:cNvPr>
          <p:cNvSpPr/>
          <p:nvPr/>
        </p:nvSpPr>
        <p:spPr>
          <a:xfrm>
            <a:off x="0" y="3086100"/>
            <a:ext cx="4057650" cy="7696192"/>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1180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A49827-9DCE-22FD-FEA8-A48FECEE3C0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B5134C-CB76-54F6-51FE-3B2DBE929410}"/>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F6D7E61F-D3AF-3C61-CF4D-1F1BC02DE951}"/>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9CE33055-B7F2-01BE-E236-9DDB33FF59C7}"/>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28F58CD2-2AC5-1BEE-A6EC-37252054F2E7}"/>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98886978-A1AD-6BD5-3929-D0164339F0A3}"/>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3E3FB65E-BA22-96FF-3417-8F61B7EC7A03}"/>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27269CEC-2CE4-30AD-DE7D-91BB7225F621}"/>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78B44E7E-5E4F-CE7F-903E-83E911362275}"/>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9C7B7450-28AF-FFB8-4A52-9AA175444A48}"/>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B8360511-2086-BF35-321E-195F9DA91D49}"/>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7E48CB91-76C4-F0A6-1629-0E4917D69AA4}"/>
              </a:ext>
            </a:extLst>
          </p:cNvPr>
          <p:cNvGrpSpPr/>
          <p:nvPr/>
        </p:nvGrpSpPr>
        <p:grpSpPr>
          <a:xfrm>
            <a:off x="833383" y="1733414"/>
            <a:ext cx="2905234" cy="45719"/>
            <a:chOff x="0" y="0"/>
            <a:chExt cx="462932" cy="12543"/>
          </a:xfrm>
        </p:grpSpPr>
        <p:sp>
          <p:nvSpPr>
            <p:cNvPr id="21" name="Freeform 21">
              <a:extLst>
                <a:ext uri="{FF2B5EF4-FFF2-40B4-BE49-F238E27FC236}">
                  <a16:creationId xmlns:a16="http://schemas.microsoft.com/office/drawing/2014/main" id="{AC40F99F-CFE3-926D-1937-1FEF0676575F}"/>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dirty="0"/>
            </a:p>
          </p:txBody>
        </p:sp>
        <p:sp>
          <p:nvSpPr>
            <p:cNvPr id="22" name="TextBox 22">
              <a:extLst>
                <a:ext uri="{FF2B5EF4-FFF2-40B4-BE49-F238E27FC236}">
                  <a16:creationId xmlns:a16="http://schemas.microsoft.com/office/drawing/2014/main" id="{37A8BFC8-0861-1B89-FAEA-8E622856D61B}"/>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7EC22417-1902-E757-EF69-8FC4D0152327}"/>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ResNet-50</a:t>
            </a:r>
          </a:p>
        </p:txBody>
      </p:sp>
      <p:sp>
        <p:nvSpPr>
          <p:cNvPr id="40" name="Rectangle 1">
            <a:extLst>
              <a:ext uri="{FF2B5EF4-FFF2-40B4-BE49-F238E27FC236}">
                <a16:creationId xmlns:a16="http://schemas.microsoft.com/office/drawing/2014/main" id="{D76C540E-586A-B383-76A7-BB16434B34E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F31F9E9D-A4A1-29CC-E513-AA8A39048FFD}"/>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6" name="Picture 15" descr="A diagram of a confusion matrix&#10;&#10;Description automatically generated">
            <a:extLst>
              <a:ext uri="{FF2B5EF4-FFF2-40B4-BE49-F238E27FC236}">
                <a16:creationId xmlns:a16="http://schemas.microsoft.com/office/drawing/2014/main" id="{2E7FE0FF-10B3-5638-E6D0-564B6B40FA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07929" y="2660554"/>
            <a:ext cx="7500362" cy="5754524"/>
          </a:xfrm>
          <a:prstGeom prst="rect">
            <a:avLst/>
          </a:prstGeom>
        </p:spPr>
      </p:pic>
      <p:sp>
        <p:nvSpPr>
          <p:cNvPr id="37" name="TextBox 36">
            <a:extLst>
              <a:ext uri="{FF2B5EF4-FFF2-40B4-BE49-F238E27FC236}">
                <a16:creationId xmlns:a16="http://schemas.microsoft.com/office/drawing/2014/main" id="{4A82C5CC-E88A-69B7-8868-5FCE4246D553}"/>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3" action="ppaction://hlinksldjump"/>
            <a:extLst>
              <a:ext uri="{FF2B5EF4-FFF2-40B4-BE49-F238E27FC236}">
                <a16:creationId xmlns:a16="http://schemas.microsoft.com/office/drawing/2014/main" id="{6CEF149E-BE78-59DC-A50F-DB5A4EFD6BC5}"/>
              </a:ext>
            </a:extLst>
          </p:cNvPr>
          <p:cNvSpPr/>
          <p:nvPr/>
        </p:nvSpPr>
        <p:spPr>
          <a:xfrm>
            <a:off x="0" y="3086100"/>
            <a:ext cx="4057650" cy="7696192"/>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6071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843AE4-A07B-AFB3-0D6B-A81CBAD871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0BF1AFC-031B-8AC4-AE62-2BC512F0B1EF}"/>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10AB0EE9-49BF-0DB8-4402-52E2EECC5404}"/>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C648C2F3-DEE7-CB65-D575-ECD74A085176}"/>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4940A2EB-C0AE-90C4-08D1-99CB2ED5F2A2}"/>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98D863E8-5A16-E7DF-7497-F17395018C81}"/>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A0615C8A-C731-0F1F-A07A-07514B1038B7}"/>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720ADB76-9495-EA51-4629-A9F879B25901}"/>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0B6F60E1-51C7-C727-FCBF-54A4485A0BF7}"/>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E688F88D-EB0C-8B5F-245F-04167CECCAD6}"/>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3E70BAE7-E3CE-4D6E-142D-098F97D7155E}"/>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81B2FBD0-DBDC-C61F-4435-3FBCE80475BD}"/>
              </a:ext>
            </a:extLst>
          </p:cNvPr>
          <p:cNvGrpSpPr/>
          <p:nvPr/>
        </p:nvGrpSpPr>
        <p:grpSpPr>
          <a:xfrm>
            <a:off x="833383" y="1733414"/>
            <a:ext cx="2905234" cy="45719"/>
            <a:chOff x="0" y="0"/>
            <a:chExt cx="462932" cy="12543"/>
          </a:xfrm>
        </p:grpSpPr>
        <p:sp>
          <p:nvSpPr>
            <p:cNvPr id="21" name="Freeform 21">
              <a:extLst>
                <a:ext uri="{FF2B5EF4-FFF2-40B4-BE49-F238E27FC236}">
                  <a16:creationId xmlns:a16="http://schemas.microsoft.com/office/drawing/2014/main" id="{E4C88E9B-2CD5-6ADE-95D3-AFD6C39207C7}"/>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dirty="0"/>
            </a:p>
          </p:txBody>
        </p:sp>
        <p:sp>
          <p:nvSpPr>
            <p:cNvPr id="22" name="TextBox 22">
              <a:extLst>
                <a:ext uri="{FF2B5EF4-FFF2-40B4-BE49-F238E27FC236}">
                  <a16:creationId xmlns:a16="http://schemas.microsoft.com/office/drawing/2014/main" id="{C0FF1FE9-D866-0EFF-17D5-8F0C7A872E6C}"/>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039D92BE-A1D0-50B7-6824-B1390FC1C94D}"/>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ResNet-50</a:t>
            </a:r>
          </a:p>
        </p:txBody>
      </p:sp>
      <p:sp>
        <p:nvSpPr>
          <p:cNvPr id="40" name="Rectangle 1">
            <a:extLst>
              <a:ext uri="{FF2B5EF4-FFF2-40B4-BE49-F238E27FC236}">
                <a16:creationId xmlns:a16="http://schemas.microsoft.com/office/drawing/2014/main" id="{44F96AD8-1831-1650-A0E0-29C818DBF2E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5FDD0183-4FEF-3DDB-73BD-15C0BDE7F1D0}"/>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0" name="Picture 49" descr="A screenshot of a computer screen&#10;&#10;Description automatically generated">
            <a:hlinkClick r:id="rId2" action="ppaction://hlinksldjump"/>
            <a:extLst>
              <a:ext uri="{FF2B5EF4-FFF2-40B4-BE49-F238E27FC236}">
                <a16:creationId xmlns:a16="http://schemas.microsoft.com/office/drawing/2014/main" id="{CE613C6C-56E0-B92F-433B-DD67E40C79F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4808253" y="2195252"/>
            <a:ext cx="8342319" cy="6055854"/>
          </a:xfrm>
          <a:prstGeom prst="rect">
            <a:avLst/>
          </a:prstGeom>
        </p:spPr>
      </p:pic>
      <p:sp>
        <p:nvSpPr>
          <p:cNvPr id="37" name="TextBox 36">
            <a:extLst>
              <a:ext uri="{FF2B5EF4-FFF2-40B4-BE49-F238E27FC236}">
                <a16:creationId xmlns:a16="http://schemas.microsoft.com/office/drawing/2014/main" id="{517D94FC-FD9E-DE32-C41E-DF60F54A74BC}"/>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5" action="ppaction://hlinksldjump"/>
            <a:extLst>
              <a:ext uri="{FF2B5EF4-FFF2-40B4-BE49-F238E27FC236}">
                <a16:creationId xmlns:a16="http://schemas.microsoft.com/office/drawing/2014/main" id="{6C29EF3D-42DD-9045-01F4-03C448C750CA}"/>
              </a:ext>
            </a:extLst>
          </p:cNvPr>
          <p:cNvSpPr/>
          <p:nvPr/>
        </p:nvSpPr>
        <p:spPr>
          <a:xfrm>
            <a:off x="0" y="3086100"/>
            <a:ext cx="4057650" cy="7696192"/>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0579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831F7B-B66A-9631-CC3A-C14425EF31D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302D230-E7B1-A868-C143-6B9A6DEE0E15}"/>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1FBB46C3-CD56-097D-31DF-56AFCC25B1B2}"/>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B644A24E-2F6C-7904-635A-113E7A85A863}"/>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F7E745A8-4A17-50F5-3D09-C6F249109819}"/>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024D4B92-F78E-3441-31A8-6B599624FC0C}"/>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8D31C9B0-BBB1-5934-E487-B1C89D03F7D4}"/>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8544496D-FC75-9908-F6FC-BBDF13677052}"/>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BB7BDFBA-9397-95CF-CE77-EF9FEC691AD1}"/>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BC08B21E-EC25-4301-EB97-397316850E25}"/>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A320EF63-8A83-FF6F-B69F-957C7543E1F9}"/>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20" name="Group 20">
            <a:extLst>
              <a:ext uri="{FF2B5EF4-FFF2-40B4-BE49-F238E27FC236}">
                <a16:creationId xmlns:a16="http://schemas.microsoft.com/office/drawing/2014/main" id="{03D0589D-5642-C254-C926-2D1A75DAD4CB}"/>
              </a:ext>
            </a:extLst>
          </p:cNvPr>
          <p:cNvGrpSpPr/>
          <p:nvPr/>
        </p:nvGrpSpPr>
        <p:grpSpPr>
          <a:xfrm>
            <a:off x="833383" y="1733414"/>
            <a:ext cx="2905234" cy="45719"/>
            <a:chOff x="0" y="0"/>
            <a:chExt cx="462932" cy="12543"/>
          </a:xfrm>
        </p:grpSpPr>
        <p:sp>
          <p:nvSpPr>
            <p:cNvPr id="21" name="Freeform 21">
              <a:extLst>
                <a:ext uri="{FF2B5EF4-FFF2-40B4-BE49-F238E27FC236}">
                  <a16:creationId xmlns:a16="http://schemas.microsoft.com/office/drawing/2014/main" id="{6E2A654D-3AF0-A213-D5D9-E24B01499D35}"/>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dirty="0"/>
            </a:p>
          </p:txBody>
        </p:sp>
        <p:sp>
          <p:nvSpPr>
            <p:cNvPr id="22" name="TextBox 22">
              <a:extLst>
                <a:ext uri="{FF2B5EF4-FFF2-40B4-BE49-F238E27FC236}">
                  <a16:creationId xmlns:a16="http://schemas.microsoft.com/office/drawing/2014/main" id="{BE385AD5-8DC5-67FE-A50A-B6C5C445E87E}"/>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6F8DE55B-5D5A-8ED1-ED80-667BD6BD31E0}"/>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ResNet-50</a:t>
            </a:r>
          </a:p>
        </p:txBody>
      </p:sp>
      <p:sp>
        <p:nvSpPr>
          <p:cNvPr id="40" name="Rectangle 1">
            <a:extLst>
              <a:ext uri="{FF2B5EF4-FFF2-40B4-BE49-F238E27FC236}">
                <a16:creationId xmlns:a16="http://schemas.microsoft.com/office/drawing/2014/main" id="{02F74FAC-ABF8-30DA-E3EF-24AC26B4CB6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CB4CF36B-95C2-D0A6-EC7A-4559E35580B9}"/>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4" name="Picture 53" descr="A screenshot of a phone&#10;&#10;Description automatically generated">
            <a:hlinkClick r:id="rId2" action="ppaction://hlinksldjump"/>
            <a:extLst>
              <a:ext uri="{FF2B5EF4-FFF2-40B4-BE49-F238E27FC236}">
                <a16:creationId xmlns:a16="http://schemas.microsoft.com/office/drawing/2014/main" id="{B2D740D2-649E-7116-9F16-AA45805798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9566" y="2043485"/>
            <a:ext cx="6716914" cy="6757611"/>
          </a:xfrm>
          <a:prstGeom prst="rect">
            <a:avLst/>
          </a:prstGeom>
        </p:spPr>
      </p:pic>
      <p:sp>
        <p:nvSpPr>
          <p:cNvPr id="37" name="TextBox 36">
            <a:extLst>
              <a:ext uri="{FF2B5EF4-FFF2-40B4-BE49-F238E27FC236}">
                <a16:creationId xmlns:a16="http://schemas.microsoft.com/office/drawing/2014/main" id="{263C8A39-2D16-D78D-AC47-F29422DB3AF5}"/>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
        <p:nvSpPr>
          <p:cNvPr id="5" name="Rectangle 4">
            <a:hlinkClick r:id="rId4" action="ppaction://hlinksldjump"/>
            <a:extLst>
              <a:ext uri="{FF2B5EF4-FFF2-40B4-BE49-F238E27FC236}">
                <a16:creationId xmlns:a16="http://schemas.microsoft.com/office/drawing/2014/main" id="{EAA16301-0B61-CB74-C3DD-CCE2BD2D208B}"/>
              </a:ext>
            </a:extLst>
          </p:cNvPr>
          <p:cNvSpPr/>
          <p:nvPr/>
        </p:nvSpPr>
        <p:spPr>
          <a:xfrm>
            <a:off x="0" y="3086100"/>
            <a:ext cx="4057650" cy="7696192"/>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6230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5FAE3C-D973-0134-A087-302502CCCECF}"/>
            </a:ext>
          </a:extLst>
        </p:cNvPr>
        <p:cNvGrpSpPr/>
        <p:nvPr/>
      </p:nvGrpSpPr>
      <p:grpSpPr>
        <a:xfrm>
          <a:off x="0" y="0"/>
          <a:ext cx="0" cy="0"/>
          <a:chOff x="0" y="0"/>
          <a:chExt cx="0" cy="0"/>
        </a:xfrm>
      </p:grpSpPr>
      <p:sp>
        <p:nvSpPr>
          <p:cNvPr id="5" name="Rectangle 4">
            <a:hlinkClick r:id="rId2" action="ppaction://hlinksldjump"/>
            <a:extLst>
              <a:ext uri="{FF2B5EF4-FFF2-40B4-BE49-F238E27FC236}">
                <a16:creationId xmlns:a16="http://schemas.microsoft.com/office/drawing/2014/main" id="{3BDA046B-1727-61BB-4D14-A92E9614648A}"/>
              </a:ext>
            </a:extLst>
          </p:cNvPr>
          <p:cNvSpPr/>
          <p:nvPr/>
        </p:nvSpPr>
        <p:spPr>
          <a:xfrm>
            <a:off x="0" y="3086100"/>
            <a:ext cx="4057650" cy="7696192"/>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2">
            <a:extLst>
              <a:ext uri="{FF2B5EF4-FFF2-40B4-BE49-F238E27FC236}">
                <a16:creationId xmlns:a16="http://schemas.microsoft.com/office/drawing/2014/main" id="{3A7F7B70-4C54-BD9F-0E6F-106A529A2771}"/>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4576EE6C-D8EB-7C10-713F-B39B15308CDE}"/>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34258856-2628-181D-9A77-CC59D6C2AA7B}"/>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D896D2D8-797B-D32E-52E1-97DD7DB5892C}"/>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8033DDBE-14E1-DF2F-1CDD-EC4FAD8D0352}"/>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1A318DAA-56C3-E90C-7CA8-2D2FE6AA339F}"/>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3AA1111E-6B21-C519-5EC1-4E7D338A6376}"/>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4CE820D0-2A30-170D-A03D-1DFAA8D40077}"/>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F3715198-4604-2D23-D92C-2BEEBC22F3D3}"/>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48B4DDDB-0A37-15DC-0313-E5D445D2F372}"/>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FDBBC1CE-44E5-5B5A-9BCF-DA7161D22B93}"/>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12</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37797D25-2558-EF40-84E6-7D94992A0BF2}"/>
              </a:ext>
            </a:extLst>
          </p:cNvPr>
          <p:cNvGrpSpPr/>
          <p:nvPr/>
        </p:nvGrpSpPr>
        <p:grpSpPr>
          <a:xfrm>
            <a:off x="833383" y="1733414"/>
            <a:ext cx="2905234" cy="45719"/>
            <a:chOff x="0" y="0"/>
            <a:chExt cx="462932" cy="12543"/>
          </a:xfrm>
        </p:grpSpPr>
        <p:sp>
          <p:nvSpPr>
            <p:cNvPr id="21" name="Freeform 21">
              <a:extLst>
                <a:ext uri="{FF2B5EF4-FFF2-40B4-BE49-F238E27FC236}">
                  <a16:creationId xmlns:a16="http://schemas.microsoft.com/office/drawing/2014/main" id="{769E68BF-58BD-F164-CEE6-E1DBBE701AFC}"/>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dirty="0"/>
            </a:p>
          </p:txBody>
        </p:sp>
        <p:sp>
          <p:nvSpPr>
            <p:cNvPr id="22" name="TextBox 22">
              <a:extLst>
                <a:ext uri="{FF2B5EF4-FFF2-40B4-BE49-F238E27FC236}">
                  <a16:creationId xmlns:a16="http://schemas.microsoft.com/office/drawing/2014/main" id="{E547EAF1-24AE-2BF4-71C0-9BB81371525B}"/>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B8E25DE0-5AF4-D935-6E1C-2F79C3F49D37}"/>
              </a:ext>
            </a:extLst>
          </p:cNvPr>
          <p:cNvSpPr txBox="1"/>
          <p:nvPr/>
        </p:nvSpPr>
        <p:spPr>
          <a:xfrm>
            <a:off x="762000" y="525168"/>
            <a:ext cx="6537699" cy="1231106"/>
          </a:xfrm>
          <a:prstGeom prst="rect">
            <a:avLst/>
          </a:prstGeom>
        </p:spPr>
        <p:txBody>
          <a:bodyPr lIns="0" tIns="0" rIns="0" bIns="0" rtlCol="0" anchor="t">
            <a:spAutoFit/>
          </a:bodyPr>
          <a:lstStyle/>
          <a:p>
            <a:r>
              <a:rPr lang="en-US" sz="8000" b="1" dirty="0">
                <a:solidFill>
                  <a:schemeClr val="bg1"/>
                </a:solidFill>
                <a:latin typeface="Bebas Neue Cyrillic" panose="020B0604020202020204" charset="0"/>
              </a:rPr>
              <a:t>ResNet-50</a:t>
            </a:r>
          </a:p>
        </p:txBody>
      </p:sp>
      <p:sp>
        <p:nvSpPr>
          <p:cNvPr id="40" name="Rectangle 1">
            <a:extLst>
              <a:ext uri="{FF2B5EF4-FFF2-40B4-BE49-F238E27FC236}">
                <a16:creationId xmlns:a16="http://schemas.microsoft.com/office/drawing/2014/main" id="{E36D3BB0-5462-92B9-FE5D-E13DC0FF35D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F37533CD-91C7-47E2-4477-C34A6EF41EA7}"/>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2" name="Picture 51" descr="A collage of images of a person's face&#10;&#10;Description automatically generated">
            <a:extLst>
              <a:ext uri="{FF2B5EF4-FFF2-40B4-BE49-F238E27FC236}">
                <a16:creationId xmlns:a16="http://schemas.microsoft.com/office/drawing/2014/main" id="{2F97270A-122B-2682-9E17-24A059DF44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541" y="3732659"/>
            <a:ext cx="18045859" cy="2475312"/>
          </a:xfrm>
          <a:prstGeom prst="rect">
            <a:avLst/>
          </a:prstGeom>
        </p:spPr>
      </p:pic>
      <p:sp>
        <p:nvSpPr>
          <p:cNvPr id="37" name="TextBox 36">
            <a:extLst>
              <a:ext uri="{FF2B5EF4-FFF2-40B4-BE49-F238E27FC236}">
                <a16:creationId xmlns:a16="http://schemas.microsoft.com/office/drawing/2014/main" id="{5A4D6112-7AD2-9241-CAC1-5C4908EACF7F}"/>
              </a:ext>
            </a:extLst>
          </p:cNvPr>
          <p:cNvSpPr txBox="1"/>
          <p:nvPr/>
        </p:nvSpPr>
        <p:spPr>
          <a:xfrm>
            <a:off x="762000" y="1902865"/>
            <a:ext cx="1524000" cy="584775"/>
          </a:xfrm>
          <a:prstGeom prst="rect">
            <a:avLst/>
          </a:prstGeom>
          <a:noFill/>
        </p:spPr>
        <p:txBody>
          <a:bodyPr wrap="square">
            <a:spAutoFit/>
          </a:bodyPr>
          <a:lstStyle/>
          <a:p>
            <a:r>
              <a:rPr lang="en-US" sz="3200" b="1" dirty="0">
                <a:solidFill>
                  <a:schemeClr val="bg1"/>
                </a:solidFill>
              </a:rPr>
              <a:t>Results:</a:t>
            </a:r>
          </a:p>
        </p:txBody>
      </p:sp>
    </p:spTree>
    <p:extLst>
      <p:ext uri="{BB962C8B-B14F-4D97-AF65-F5344CB8AC3E}">
        <p14:creationId xmlns:p14="http://schemas.microsoft.com/office/powerpoint/2010/main" val="2410046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14C0-1D51-9F6F-B86D-D7D66B400A4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22B42891-73AE-84FA-6AD4-B3EC23FE4A20}"/>
              </a:ext>
            </a:extLst>
          </p:cNvPr>
          <p:cNvGrpSpPr/>
          <p:nvPr/>
        </p:nvGrpSpPr>
        <p:grpSpPr>
          <a:xfrm>
            <a:off x="17259301" y="1"/>
            <a:ext cx="1028700" cy="1028700"/>
            <a:chOff x="0" y="0"/>
            <a:chExt cx="270933" cy="270933"/>
          </a:xfrm>
        </p:grpSpPr>
        <p:sp>
          <p:nvSpPr>
            <p:cNvPr id="6" name="Freeform 6">
              <a:extLst>
                <a:ext uri="{FF2B5EF4-FFF2-40B4-BE49-F238E27FC236}">
                  <a16:creationId xmlns:a16="http://schemas.microsoft.com/office/drawing/2014/main" id="{409C969B-9FD4-A22E-8778-EF2D1AD67AEF}"/>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7" name="TextBox 7">
              <a:extLst>
                <a:ext uri="{FF2B5EF4-FFF2-40B4-BE49-F238E27FC236}">
                  <a16:creationId xmlns:a16="http://schemas.microsoft.com/office/drawing/2014/main" id="{0CF91528-E5B7-A1B0-AD21-D6EB014905D7}"/>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9681B09D-609A-0922-A872-BA8C5868C4D6}"/>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9" name="TextBox 9">
            <a:extLst>
              <a:ext uri="{FF2B5EF4-FFF2-40B4-BE49-F238E27FC236}">
                <a16:creationId xmlns:a16="http://schemas.microsoft.com/office/drawing/2014/main" id="{1C532EE0-CAA6-7073-9DA6-40B8CC245CFF}"/>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0" name="TextBox 10">
            <a:extLst>
              <a:ext uri="{FF2B5EF4-FFF2-40B4-BE49-F238E27FC236}">
                <a16:creationId xmlns:a16="http://schemas.microsoft.com/office/drawing/2014/main" id="{5C36115F-4CE5-702D-42F4-1595A1AC5976}"/>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1" name="TextBox 11">
            <a:extLst>
              <a:ext uri="{FF2B5EF4-FFF2-40B4-BE49-F238E27FC236}">
                <a16:creationId xmlns:a16="http://schemas.microsoft.com/office/drawing/2014/main" id="{BA58C146-3B18-B1F2-C0A2-CE554C0B759C}"/>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5" name="TextBox 15">
            <a:extLst>
              <a:ext uri="{FF2B5EF4-FFF2-40B4-BE49-F238E27FC236}">
                <a16:creationId xmlns:a16="http://schemas.microsoft.com/office/drawing/2014/main" id="{2FAE5876-349B-3C01-140F-661D06A218BA}"/>
              </a:ext>
            </a:extLst>
          </p:cNvPr>
          <p:cNvSpPr txBox="1"/>
          <p:nvPr/>
        </p:nvSpPr>
        <p:spPr>
          <a:xfrm>
            <a:off x="881400" y="519180"/>
            <a:ext cx="6537699" cy="1231106"/>
          </a:xfrm>
          <a:prstGeom prst="rect">
            <a:avLst/>
          </a:prstGeom>
        </p:spPr>
        <p:txBody>
          <a:bodyPr lIns="0" tIns="0" rIns="0" bIns="0" rtlCol="0" anchor="t">
            <a:spAutoFit/>
          </a:bodyPr>
          <a:lstStyle/>
          <a:p>
            <a:r>
              <a:rPr lang="en-US" sz="8000" b="1" i="0" dirty="0">
                <a:solidFill>
                  <a:schemeClr val="bg1"/>
                </a:solidFill>
                <a:effectLst/>
                <a:latin typeface="Bebas Neue Cyrillic" panose="020B0604020202020204" charset="0"/>
              </a:rPr>
              <a:t>Custom CNN</a:t>
            </a:r>
            <a:endParaRPr lang="en-US" sz="8000" b="1" dirty="0">
              <a:solidFill>
                <a:schemeClr val="bg1"/>
              </a:solidFill>
              <a:latin typeface="Bebas Neue Cyrillic" panose="020B0604020202020204" charset="0"/>
            </a:endParaRPr>
          </a:p>
        </p:txBody>
      </p:sp>
      <p:grpSp>
        <p:nvGrpSpPr>
          <p:cNvPr id="16" name="Group 16">
            <a:extLst>
              <a:ext uri="{FF2B5EF4-FFF2-40B4-BE49-F238E27FC236}">
                <a16:creationId xmlns:a16="http://schemas.microsoft.com/office/drawing/2014/main" id="{E2F462C4-E48A-A83D-0FEC-4D9A5754444F}"/>
              </a:ext>
            </a:extLst>
          </p:cNvPr>
          <p:cNvGrpSpPr/>
          <p:nvPr/>
        </p:nvGrpSpPr>
        <p:grpSpPr>
          <a:xfrm>
            <a:off x="1058406" y="1840125"/>
            <a:ext cx="2931669" cy="48939"/>
            <a:chOff x="0" y="0"/>
            <a:chExt cx="772127" cy="12889"/>
          </a:xfrm>
        </p:grpSpPr>
        <p:sp>
          <p:nvSpPr>
            <p:cNvPr id="17" name="Freeform 17">
              <a:extLst>
                <a:ext uri="{FF2B5EF4-FFF2-40B4-BE49-F238E27FC236}">
                  <a16:creationId xmlns:a16="http://schemas.microsoft.com/office/drawing/2014/main" id="{1162C37A-10B3-94CA-EAA6-EB1D3C20152D}"/>
                </a:ext>
              </a:extLst>
            </p:cNvPr>
            <p:cNvSpPr/>
            <p:nvPr/>
          </p:nvSpPr>
          <p:spPr>
            <a:xfrm>
              <a:off x="0" y="0"/>
              <a:ext cx="772127" cy="12889"/>
            </a:xfrm>
            <a:custGeom>
              <a:avLst/>
              <a:gdLst/>
              <a:ahLst/>
              <a:cxnLst/>
              <a:rect l="l" t="t" r="r" b="b"/>
              <a:pathLst>
                <a:path w="772127" h="12889">
                  <a:moveTo>
                    <a:pt x="0" y="0"/>
                  </a:moveTo>
                  <a:lnTo>
                    <a:pt x="772127" y="0"/>
                  </a:lnTo>
                  <a:lnTo>
                    <a:pt x="772127" y="12889"/>
                  </a:lnTo>
                  <a:lnTo>
                    <a:pt x="0" y="12889"/>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18" name="TextBox 18">
              <a:extLst>
                <a:ext uri="{FF2B5EF4-FFF2-40B4-BE49-F238E27FC236}">
                  <a16:creationId xmlns:a16="http://schemas.microsoft.com/office/drawing/2014/main" id="{1903D6EF-BA39-3F2F-C063-3D9BC2056A02}"/>
                </a:ext>
              </a:extLst>
            </p:cNvPr>
            <p:cNvSpPr txBox="1"/>
            <p:nvPr/>
          </p:nvSpPr>
          <p:spPr>
            <a:xfrm>
              <a:off x="0" y="-38100"/>
              <a:ext cx="772127" cy="50989"/>
            </a:xfrm>
            <a:prstGeom prst="rect">
              <a:avLst/>
            </a:prstGeom>
          </p:spPr>
          <p:txBody>
            <a:bodyPr lIns="50800" tIns="50800" rIns="50800" bIns="50800" rtlCol="0" anchor="ctr"/>
            <a:lstStyle/>
            <a:p>
              <a:pPr algn="ctr">
                <a:lnSpc>
                  <a:spcPts val="2659"/>
                </a:lnSpc>
              </a:pPr>
              <a:endParaRPr/>
            </a:p>
          </p:txBody>
        </p:sp>
      </p:grpSp>
      <p:sp>
        <p:nvSpPr>
          <p:cNvPr id="43" name="Google Shape;590;p61">
            <a:extLst>
              <a:ext uri="{FF2B5EF4-FFF2-40B4-BE49-F238E27FC236}">
                <a16:creationId xmlns:a16="http://schemas.microsoft.com/office/drawing/2014/main" id="{E9F07D3A-AD0E-7D74-7F79-92C52AE0CD0A}"/>
              </a:ext>
            </a:extLst>
          </p:cNvPr>
          <p:cNvSpPr/>
          <p:nvPr/>
        </p:nvSpPr>
        <p:spPr>
          <a:xfrm rot="10800000" flipH="1">
            <a:off x="-2294232" y="7644319"/>
            <a:ext cx="3767667" cy="3630785"/>
          </a:xfrm>
          <a:prstGeom prst="ellipse">
            <a:avLst/>
          </a:prstGeom>
          <a:gradFill>
            <a:gsLst>
              <a:gs pos="0">
                <a:srgbClr val="FFFFFF">
                  <a:alpha val="15294"/>
                </a:srgbClr>
              </a:gs>
              <a:gs pos="100000">
                <a:srgbClr val="FFFFFF">
                  <a:alpha val="0"/>
                </a:srgbClr>
              </a:gs>
            </a:gsLst>
            <a:lin ang="5400012" scaled="0"/>
          </a:gradFill>
          <a:ln>
            <a:noFill/>
          </a:ln>
        </p:spPr>
        <p:txBody>
          <a:bodyPr spcFirstLastPara="1" wrap="square" lIns="91425" tIns="91425" rIns="91425" bIns="91425" anchor="ctr" anchorCtr="0">
            <a:noAutofit/>
          </a:bodyPr>
          <a:lstStyle/>
          <a:p>
            <a:endParaRPr/>
          </a:p>
        </p:txBody>
      </p:sp>
      <p:sp>
        <p:nvSpPr>
          <p:cNvPr id="109" name="Freeform 18">
            <a:extLst>
              <a:ext uri="{FF2B5EF4-FFF2-40B4-BE49-F238E27FC236}">
                <a16:creationId xmlns:a16="http://schemas.microsoft.com/office/drawing/2014/main" id="{AC49A02E-319F-1156-490B-E471486C603A}"/>
              </a:ext>
            </a:extLst>
          </p:cNvPr>
          <p:cNvSpPr/>
          <p:nvPr/>
        </p:nvSpPr>
        <p:spPr>
          <a:xfrm>
            <a:off x="17565175" y="7766955"/>
            <a:ext cx="791146" cy="850506"/>
          </a:xfrm>
          <a:custGeom>
            <a:avLst/>
            <a:gdLst/>
            <a:ahLst/>
            <a:cxnLst/>
            <a:rect l="l" t="t" r="r" b="b"/>
            <a:pathLst>
              <a:path w="2232546" h="2232546">
                <a:moveTo>
                  <a:pt x="0" y="0"/>
                </a:moveTo>
                <a:lnTo>
                  <a:pt x="2232546" y="0"/>
                </a:lnTo>
                <a:lnTo>
                  <a:pt x="2232546" y="2232546"/>
                </a:lnTo>
                <a:lnTo>
                  <a:pt x="0" y="22325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112" name="Freeform 19">
            <a:extLst>
              <a:ext uri="{FF2B5EF4-FFF2-40B4-BE49-F238E27FC236}">
                <a16:creationId xmlns:a16="http://schemas.microsoft.com/office/drawing/2014/main" id="{37A59BB4-BEEB-C6A4-39DB-DE4897519D07}"/>
              </a:ext>
            </a:extLst>
          </p:cNvPr>
          <p:cNvSpPr/>
          <p:nvPr/>
        </p:nvSpPr>
        <p:spPr>
          <a:xfrm>
            <a:off x="16430073" y="1510239"/>
            <a:ext cx="696332" cy="696332"/>
          </a:xfrm>
          <a:custGeom>
            <a:avLst/>
            <a:gdLst/>
            <a:ahLst/>
            <a:cxnLst/>
            <a:rect l="l" t="t" r="r" b="b"/>
            <a:pathLst>
              <a:path w="994760" h="994760">
                <a:moveTo>
                  <a:pt x="0" y="0"/>
                </a:moveTo>
                <a:lnTo>
                  <a:pt x="994760" y="0"/>
                </a:lnTo>
                <a:lnTo>
                  <a:pt x="994760" y="994760"/>
                </a:lnTo>
                <a:lnTo>
                  <a:pt x="0" y="994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59" name="TextBox 58">
            <a:extLst>
              <a:ext uri="{FF2B5EF4-FFF2-40B4-BE49-F238E27FC236}">
                <a16:creationId xmlns:a16="http://schemas.microsoft.com/office/drawing/2014/main" id="{1939FA3F-9934-8B68-D87E-41F70EB112F0}"/>
              </a:ext>
            </a:extLst>
          </p:cNvPr>
          <p:cNvSpPr txBox="1"/>
          <p:nvPr/>
        </p:nvSpPr>
        <p:spPr>
          <a:xfrm>
            <a:off x="17454706" y="9443913"/>
            <a:ext cx="863031" cy="605294"/>
          </a:xfrm>
          <a:prstGeom prst="rect">
            <a:avLst/>
          </a:prstGeom>
          <a:noFill/>
        </p:spPr>
        <p:txBody>
          <a:bodyPr wrap="square">
            <a:spAutoFit/>
          </a:bodyPr>
          <a:lstStyle/>
          <a:p>
            <a:pPr algn="ctr">
              <a:lnSpc>
                <a:spcPts val="1960"/>
              </a:lnSpc>
              <a:spcBef>
                <a:spcPct val="0"/>
              </a:spcBef>
            </a:pPr>
            <a:r>
              <a:rPr lang="ar-BH" sz="1600" b="1" dirty="0">
                <a:solidFill>
                  <a:srgbClr val="FFFFFF"/>
                </a:solidFill>
                <a:latin typeface="Open Sans Bold"/>
                <a:ea typeface="Open Sans Bold"/>
                <a:cs typeface="Open Sans Bold"/>
                <a:sym typeface="Open Sans Bold"/>
              </a:rPr>
              <a:t>13</a:t>
            </a:r>
          </a:p>
          <a:p>
            <a:pPr algn="ctr">
              <a:lnSpc>
                <a:spcPts val="1960"/>
              </a:lnSpc>
              <a:spcBef>
                <a:spcPct val="0"/>
              </a:spcBef>
            </a:pPr>
            <a:endParaRPr lang="en-US" sz="1800" b="1" dirty="0">
              <a:solidFill>
                <a:srgbClr val="FFFFFF"/>
              </a:solidFill>
              <a:latin typeface="Open Sans Bold"/>
              <a:ea typeface="Open Sans Bold"/>
              <a:cs typeface="Open Sans Bold"/>
              <a:sym typeface="Open Sans Bold"/>
            </a:endParaRPr>
          </a:p>
        </p:txBody>
      </p:sp>
      <p:sp>
        <p:nvSpPr>
          <p:cNvPr id="19" name="TextBox 18">
            <a:extLst>
              <a:ext uri="{FF2B5EF4-FFF2-40B4-BE49-F238E27FC236}">
                <a16:creationId xmlns:a16="http://schemas.microsoft.com/office/drawing/2014/main" id="{7290EC55-40DF-9CC1-BC96-D0E7E6E35D76}"/>
              </a:ext>
            </a:extLst>
          </p:cNvPr>
          <p:cNvSpPr txBox="1"/>
          <p:nvPr/>
        </p:nvSpPr>
        <p:spPr>
          <a:xfrm>
            <a:off x="1058406" y="2514338"/>
            <a:ext cx="10500360" cy="584775"/>
          </a:xfrm>
          <a:prstGeom prst="rect">
            <a:avLst/>
          </a:prstGeom>
          <a:noFill/>
        </p:spPr>
        <p:txBody>
          <a:bodyPr wrap="square">
            <a:spAutoFit/>
          </a:bodyPr>
          <a:lstStyle/>
          <a:p>
            <a:r>
              <a:rPr lang="en-US" sz="3200" b="1" i="0" dirty="0">
                <a:solidFill>
                  <a:schemeClr val="bg1"/>
                </a:solidFill>
                <a:effectLst/>
                <a:latin typeface="Calibri (Body)"/>
              </a:rPr>
              <a:t>Architecture:</a:t>
            </a:r>
            <a:endParaRPr lang="en-US" sz="3200" b="1" dirty="0">
              <a:solidFill>
                <a:schemeClr val="bg1"/>
              </a:solidFill>
              <a:latin typeface="Calibri (Body)"/>
            </a:endParaRPr>
          </a:p>
        </p:txBody>
      </p:sp>
      <p:sp>
        <p:nvSpPr>
          <p:cNvPr id="23" name="TextBox 22">
            <a:extLst>
              <a:ext uri="{FF2B5EF4-FFF2-40B4-BE49-F238E27FC236}">
                <a16:creationId xmlns:a16="http://schemas.microsoft.com/office/drawing/2014/main" id="{EC15D82A-E957-2C9F-1723-3A11D6032E8D}"/>
              </a:ext>
            </a:extLst>
          </p:cNvPr>
          <p:cNvSpPr txBox="1"/>
          <p:nvPr/>
        </p:nvSpPr>
        <p:spPr>
          <a:xfrm>
            <a:off x="1067826" y="2743915"/>
            <a:ext cx="5837946" cy="2554545"/>
          </a:xfrm>
          <a:prstGeom prst="rect">
            <a:avLst/>
          </a:prstGeom>
          <a:noFill/>
        </p:spPr>
        <p:txBody>
          <a:bodyPr wrap="square">
            <a:spAutoFit/>
          </a:bodyPr>
          <a:lstStyle/>
          <a:p>
            <a:br>
              <a:rPr lang="en-US" sz="2000" dirty="0">
                <a:solidFill>
                  <a:schemeClr val="bg1"/>
                </a:solidFill>
              </a:rPr>
            </a:br>
            <a:r>
              <a:rPr lang="en-US" sz="2000" b="0" i="0" dirty="0">
                <a:solidFill>
                  <a:schemeClr val="bg1"/>
                </a:solidFill>
                <a:effectLst/>
                <a:latin typeface="Roboto" panose="02000000000000000000" pitchFamily="2" charset="0"/>
              </a:rPr>
              <a:t>A custom convolutional neural network consisting of three convolutional layers with batch normalization, global average pooling (GAP), and two fully connected layers with a 50% dropout. </a:t>
            </a:r>
          </a:p>
          <a:p>
            <a:endParaRPr lang="en-US" sz="2000" dirty="0">
              <a:solidFill>
                <a:schemeClr val="bg1"/>
              </a:solidFill>
              <a:latin typeface="Roboto" panose="02000000000000000000" pitchFamily="2" charset="0"/>
            </a:endParaRPr>
          </a:p>
          <a:p>
            <a:r>
              <a:rPr lang="en-US" sz="2000" b="0" i="0" dirty="0">
                <a:solidFill>
                  <a:schemeClr val="bg1"/>
                </a:solidFill>
                <a:effectLst/>
                <a:latin typeface="Roboto" panose="02000000000000000000" pitchFamily="2" charset="0"/>
              </a:rPr>
              <a:t>Significance: Offers flexibility for experimenting with layer numbers and kernel sizes.</a:t>
            </a:r>
            <a:endParaRPr lang="en-US" sz="2000" dirty="0">
              <a:solidFill>
                <a:schemeClr val="bg1"/>
              </a:solidFill>
            </a:endParaRPr>
          </a:p>
        </p:txBody>
      </p:sp>
      <p:sp>
        <p:nvSpPr>
          <p:cNvPr id="24" name="TextBox 23">
            <a:extLst>
              <a:ext uri="{FF2B5EF4-FFF2-40B4-BE49-F238E27FC236}">
                <a16:creationId xmlns:a16="http://schemas.microsoft.com/office/drawing/2014/main" id="{40704DAE-5E19-4251-1714-AC2AA0B38C87}"/>
              </a:ext>
            </a:extLst>
          </p:cNvPr>
          <p:cNvSpPr txBox="1"/>
          <p:nvPr/>
        </p:nvSpPr>
        <p:spPr>
          <a:xfrm>
            <a:off x="11382229" y="2514338"/>
            <a:ext cx="3356513" cy="584775"/>
          </a:xfrm>
          <a:prstGeom prst="rect">
            <a:avLst/>
          </a:prstGeom>
          <a:noFill/>
        </p:spPr>
        <p:txBody>
          <a:bodyPr wrap="square">
            <a:spAutoFit/>
          </a:bodyPr>
          <a:lstStyle/>
          <a:p>
            <a:r>
              <a:rPr lang="en-US" sz="3200" b="1" i="0" dirty="0">
                <a:solidFill>
                  <a:schemeClr val="bg1"/>
                </a:solidFill>
                <a:effectLst/>
                <a:latin typeface="Calibri (Body)"/>
              </a:rPr>
              <a:t>Techniques Used:</a:t>
            </a:r>
            <a:endParaRPr lang="en-US" sz="3200" b="1" dirty="0">
              <a:solidFill>
                <a:schemeClr val="bg1"/>
              </a:solidFill>
              <a:latin typeface="Calibri (Body)"/>
            </a:endParaRPr>
          </a:p>
        </p:txBody>
      </p:sp>
      <p:sp>
        <p:nvSpPr>
          <p:cNvPr id="25" name="TextBox 24">
            <a:extLst>
              <a:ext uri="{FF2B5EF4-FFF2-40B4-BE49-F238E27FC236}">
                <a16:creationId xmlns:a16="http://schemas.microsoft.com/office/drawing/2014/main" id="{D2C9D1C6-78D4-D6EA-3CB1-0DEAEBF8F7BF}"/>
              </a:ext>
            </a:extLst>
          </p:cNvPr>
          <p:cNvSpPr txBox="1"/>
          <p:nvPr/>
        </p:nvSpPr>
        <p:spPr>
          <a:xfrm>
            <a:off x="10871685" y="2618439"/>
            <a:ext cx="7734113" cy="2862322"/>
          </a:xfrm>
          <a:prstGeom prst="rect">
            <a:avLst/>
          </a:prstGeom>
          <a:noFill/>
        </p:spPr>
        <p:txBody>
          <a:bodyPr wrap="square">
            <a:spAutoFit/>
          </a:bodyPr>
          <a:lstStyle/>
          <a:p>
            <a:br>
              <a:rPr lang="en-US" sz="2000" dirty="0">
                <a:solidFill>
                  <a:schemeClr val="bg1"/>
                </a:solidFill>
              </a:rPr>
            </a:br>
            <a:br>
              <a:rPr lang="en-US" sz="2000" dirty="0">
                <a:solidFill>
                  <a:schemeClr val="bg1"/>
                </a:solidFill>
              </a:rPr>
            </a:br>
            <a:r>
              <a:rPr lang="en-US" sz="2000" b="1" i="0" dirty="0">
                <a:solidFill>
                  <a:schemeClr val="bg1"/>
                </a:solidFill>
                <a:effectLst/>
                <a:latin typeface="Roboto" panose="02000000000000000000" pitchFamily="2" charset="0"/>
              </a:rPr>
              <a:t>Data Augmentation</a:t>
            </a:r>
            <a:r>
              <a:rPr lang="en-US" sz="2000" b="0" i="0" dirty="0">
                <a:solidFill>
                  <a:schemeClr val="bg1"/>
                </a:solidFill>
                <a:effectLst/>
                <a:latin typeface="Roboto" panose="02000000000000000000" pitchFamily="2" charset="0"/>
              </a:rPr>
              <a:t>: Random rotation, cropping, horizontal flipping, and color jittering were applied. </a:t>
            </a:r>
          </a:p>
          <a:p>
            <a:endParaRPr lang="en-US" sz="2000" dirty="0">
              <a:solidFill>
                <a:schemeClr val="bg1"/>
              </a:solidFill>
              <a:latin typeface="Roboto" panose="02000000000000000000" pitchFamily="2" charset="0"/>
            </a:endParaRPr>
          </a:p>
          <a:p>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Increases data diversity and reduces overfitting.</a:t>
            </a:r>
            <a:endParaRPr lang="ar-BH" sz="2000" dirty="0">
              <a:solidFill>
                <a:schemeClr val="bg1"/>
              </a:solidFill>
              <a:latin typeface="Roboto" panose="02000000000000000000" pitchFamily="2" charset="0"/>
            </a:endParaRPr>
          </a:p>
          <a:p>
            <a:br>
              <a:rPr lang="en-US" sz="2000" dirty="0">
                <a:solidFill>
                  <a:schemeClr val="bg1"/>
                </a:solidFill>
              </a:rPr>
            </a:br>
            <a:br>
              <a:rPr lang="en-US" sz="2000" dirty="0">
                <a:solidFill>
                  <a:schemeClr val="bg1"/>
                </a:solidFill>
              </a:rPr>
            </a:br>
            <a:endParaRPr lang="en-US" sz="2000" dirty="0">
              <a:solidFill>
                <a:schemeClr val="bg1"/>
              </a:solidFill>
            </a:endParaRPr>
          </a:p>
        </p:txBody>
      </p:sp>
      <p:pic>
        <p:nvPicPr>
          <p:cNvPr id="26" name="Google Shape;495;p26">
            <a:extLst>
              <a:ext uri="{FF2B5EF4-FFF2-40B4-BE49-F238E27FC236}">
                <a16:creationId xmlns:a16="http://schemas.microsoft.com/office/drawing/2014/main" id="{55476697-7DA8-BABB-2C96-1BF9A2386CE5}"/>
              </a:ext>
            </a:extLst>
          </p:cNvPr>
          <p:cNvPicPr preferRelativeResize="0"/>
          <p:nvPr/>
        </p:nvPicPr>
        <p:blipFill>
          <a:blip r:embed="rId4">
            <a:alphaModFix/>
            <a:duotone>
              <a:prstClr val="black"/>
              <a:schemeClr val="accent3">
                <a:tint val="45000"/>
                <a:satMod val="400000"/>
              </a:scheme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5894445" y="3995077"/>
            <a:ext cx="5605107" cy="3909604"/>
          </a:xfrm>
          <a:prstGeom prst="rect">
            <a:avLst/>
          </a:prstGeom>
          <a:noFill/>
          <a:ln>
            <a:noFill/>
          </a:ln>
        </p:spPr>
      </p:pic>
      <p:cxnSp>
        <p:nvCxnSpPr>
          <p:cNvPr id="28" name="Google Shape;520;p26">
            <a:extLst>
              <a:ext uri="{FF2B5EF4-FFF2-40B4-BE49-F238E27FC236}">
                <a16:creationId xmlns:a16="http://schemas.microsoft.com/office/drawing/2014/main" id="{2C387967-DD2F-AF26-19C5-C955C2F56575}"/>
              </a:ext>
            </a:extLst>
          </p:cNvPr>
          <p:cNvCxnSpPr>
            <a:cxnSpLocks/>
          </p:cNvCxnSpPr>
          <p:nvPr/>
        </p:nvCxnSpPr>
        <p:spPr>
          <a:xfrm rot="16200000" flipV="1">
            <a:off x="6702528" y="3578728"/>
            <a:ext cx="1168428" cy="761132"/>
          </a:xfrm>
          <a:prstGeom prst="bentConnector3">
            <a:avLst>
              <a:gd name="adj1" fmla="val 3590"/>
            </a:avLst>
          </a:prstGeom>
          <a:noFill/>
          <a:ln w="19050" cap="flat" cmpd="sng">
            <a:solidFill>
              <a:schemeClr val="lt2"/>
            </a:solidFill>
            <a:prstDash val="solid"/>
            <a:round/>
            <a:headEnd type="none" w="med" len="med"/>
            <a:tailEnd type="oval" w="med" len="med"/>
          </a:ln>
        </p:spPr>
      </p:cxnSp>
      <p:sp>
        <p:nvSpPr>
          <p:cNvPr id="29" name="TextBox 28">
            <a:extLst>
              <a:ext uri="{FF2B5EF4-FFF2-40B4-BE49-F238E27FC236}">
                <a16:creationId xmlns:a16="http://schemas.microsoft.com/office/drawing/2014/main" id="{A5CD8D56-0335-277E-AD1A-5C560C74233D}"/>
              </a:ext>
            </a:extLst>
          </p:cNvPr>
          <p:cNvSpPr txBox="1"/>
          <p:nvPr/>
        </p:nvSpPr>
        <p:spPr>
          <a:xfrm>
            <a:off x="11451768" y="4799145"/>
            <a:ext cx="6927056" cy="1631216"/>
          </a:xfrm>
          <a:prstGeom prst="rect">
            <a:avLst/>
          </a:prstGeom>
          <a:noFill/>
        </p:spPr>
        <p:txBody>
          <a:bodyPr wrap="square">
            <a:spAutoFit/>
          </a:bodyPr>
          <a:lstStyle/>
          <a:p>
            <a:r>
              <a:rPr lang="en-US" sz="2000" b="1" i="0" dirty="0">
                <a:solidFill>
                  <a:schemeClr val="bg1"/>
                </a:solidFill>
                <a:effectLst/>
                <a:latin typeface="Roboto" panose="02000000000000000000" pitchFamily="2" charset="0"/>
              </a:rPr>
              <a:t>Batch Normalization: </a:t>
            </a:r>
            <a:r>
              <a:rPr lang="en-US" sz="2000" b="0" i="0" dirty="0">
                <a:solidFill>
                  <a:schemeClr val="bg1"/>
                </a:solidFill>
                <a:effectLst/>
                <a:latin typeface="Roboto" panose="02000000000000000000" pitchFamily="2" charset="0"/>
              </a:rPr>
              <a:t>Added after each convolutional layer to accelerate training and improve model stability.</a:t>
            </a:r>
          </a:p>
          <a:p>
            <a:endParaRPr lang="en-US" sz="2000" dirty="0">
              <a:solidFill>
                <a:schemeClr val="bg1"/>
              </a:solidFill>
              <a:latin typeface="Roboto" panose="02000000000000000000" pitchFamily="2" charset="0"/>
            </a:endParaRPr>
          </a:p>
          <a:p>
            <a:r>
              <a:rPr lang="en-US" sz="2000" b="0" i="0" dirty="0">
                <a:solidFill>
                  <a:schemeClr val="bg1"/>
                </a:solidFill>
                <a:effectLst/>
                <a:latin typeface="Roboto" panose="02000000000000000000" pitchFamily="2" charset="0"/>
              </a:rPr>
              <a:t> </a:t>
            </a:r>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Reduces dependency on initial parameter values and speeds up convergence.</a:t>
            </a:r>
            <a:endParaRPr lang="en-US" sz="2000" dirty="0">
              <a:solidFill>
                <a:schemeClr val="bg1"/>
              </a:solidFill>
            </a:endParaRPr>
          </a:p>
        </p:txBody>
      </p:sp>
      <p:sp>
        <p:nvSpPr>
          <p:cNvPr id="30" name="TextBox 29">
            <a:extLst>
              <a:ext uri="{FF2B5EF4-FFF2-40B4-BE49-F238E27FC236}">
                <a16:creationId xmlns:a16="http://schemas.microsoft.com/office/drawing/2014/main" id="{F10D4A2F-13AD-7264-DB53-36F24E1FF4A4}"/>
              </a:ext>
            </a:extLst>
          </p:cNvPr>
          <p:cNvSpPr txBox="1"/>
          <p:nvPr/>
        </p:nvSpPr>
        <p:spPr>
          <a:xfrm>
            <a:off x="11665313" y="6303666"/>
            <a:ext cx="4717256" cy="2246769"/>
          </a:xfrm>
          <a:prstGeom prst="rect">
            <a:avLst/>
          </a:prstGeom>
          <a:noFill/>
        </p:spPr>
        <p:txBody>
          <a:bodyPr wrap="square">
            <a:spAutoFit/>
          </a:bodyPr>
          <a:lstStyle/>
          <a:p>
            <a:br>
              <a:rPr lang="en-US" sz="2000" dirty="0">
                <a:solidFill>
                  <a:schemeClr val="bg1"/>
                </a:solidFill>
              </a:rPr>
            </a:br>
            <a:r>
              <a:rPr lang="en-US" sz="2000" b="1" i="0" dirty="0">
                <a:solidFill>
                  <a:schemeClr val="bg1"/>
                </a:solidFill>
                <a:effectLst/>
                <a:latin typeface="Roboto" panose="02000000000000000000" pitchFamily="2" charset="0"/>
              </a:rPr>
              <a:t>Global Average Pooling: </a:t>
            </a:r>
            <a:r>
              <a:rPr lang="en-US" sz="2000" b="0" i="0" dirty="0">
                <a:solidFill>
                  <a:schemeClr val="bg1"/>
                </a:solidFill>
                <a:effectLst/>
                <a:latin typeface="Roboto" panose="02000000000000000000" pitchFamily="2" charset="0"/>
              </a:rPr>
              <a:t>Replaces flattening layers to summarize features in each channel. </a:t>
            </a:r>
          </a:p>
          <a:p>
            <a:endParaRPr lang="en-US" sz="2000" dirty="0">
              <a:solidFill>
                <a:schemeClr val="bg1"/>
              </a:solidFill>
              <a:latin typeface="Roboto" panose="02000000000000000000" pitchFamily="2" charset="0"/>
            </a:endParaRPr>
          </a:p>
          <a:p>
            <a:r>
              <a:rPr lang="en-US" sz="2000" b="1" i="0" dirty="0">
                <a:solidFill>
                  <a:schemeClr val="bg1"/>
                </a:solidFill>
                <a:effectLst/>
                <a:latin typeface="Roboto" panose="02000000000000000000" pitchFamily="2" charset="0"/>
              </a:rPr>
              <a:t>Significance: </a:t>
            </a:r>
            <a:r>
              <a:rPr lang="en-US" sz="2000" b="0" i="0" dirty="0">
                <a:solidFill>
                  <a:schemeClr val="bg1"/>
                </a:solidFill>
                <a:effectLst/>
                <a:latin typeface="Roboto" panose="02000000000000000000" pitchFamily="2" charset="0"/>
              </a:rPr>
              <a:t>Reduces parameter count and the risk of overfitting</a:t>
            </a:r>
            <a:endParaRPr lang="en-US" sz="2000" dirty="0">
              <a:solidFill>
                <a:schemeClr val="bg1"/>
              </a:solidFill>
            </a:endParaRPr>
          </a:p>
        </p:txBody>
      </p:sp>
      <p:sp>
        <p:nvSpPr>
          <p:cNvPr id="31" name="TextBox 30">
            <a:extLst>
              <a:ext uri="{FF2B5EF4-FFF2-40B4-BE49-F238E27FC236}">
                <a16:creationId xmlns:a16="http://schemas.microsoft.com/office/drawing/2014/main" id="{C6F43BF0-BC3E-8137-1706-D909BB7980F0}"/>
              </a:ext>
            </a:extLst>
          </p:cNvPr>
          <p:cNvSpPr txBox="1"/>
          <p:nvPr/>
        </p:nvSpPr>
        <p:spPr>
          <a:xfrm>
            <a:off x="11645378" y="8701305"/>
            <a:ext cx="5052834" cy="1015663"/>
          </a:xfrm>
          <a:prstGeom prst="rect">
            <a:avLst/>
          </a:prstGeom>
          <a:noFill/>
        </p:spPr>
        <p:txBody>
          <a:bodyPr wrap="square">
            <a:spAutoFit/>
          </a:bodyPr>
          <a:lstStyle/>
          <a:p>
            <a:r>
              <a:rPr lang="en-US" sz="2000" b="1" i="0" dirty="0">
                <a:solidFill>
                  <a:schemeClr val="bg1"/>
                </a:solidFill>
                <a:effectLst/>
                <a:latin typeface="Roboto" panose="02000000000000000000" pitchFamily="2" charset="0"/>
              </a:rPr>
              <a:t>Dropout: </a:t>
            </a:r>
            <a:r>
              <a:rPr lang="en-US" sz="2000" b="0" i="0" dirty="0">
                <a:solidFill>
                  <a:schemeClr val="bg1"/>
                </a:solidFill>
                <a:effectLst/>
                <a:latin typeface="Roboto" panose="02000000000000000000" pitchFamily="2" charset="0"/>
              </a:rPr>
              <a:t>Applied at 50% in the final layers.</a:t>
            </a:r>
          </a:p>
          <a:p>
            <a:endParaRPr lang="en-US" sz="2000" dirty="0">
              <a:solidFill>
                <a:schemeClr val="bg1"/>
              </a:solidFill>
              <a:latin typeface="Roboto" panose="02000000000000000000" pitchFamily="2" charset="0"/>
            </a:endParaRPr>
          </a:p>
          <a:p>
            <a:r>
              <a:rPr lang="en-US" sz="2000" b="1" dirty="0">
                <a:solidFill>
                  <a:schemeClr val="bg1"/>
                </a:solidFill>
                <a:effectLst/>
                <a:latin typeface="Roboto" panose="02000000000000000000" pitchFamily="2" charset="0"/>
              </a:rPr>
              <a:t>Significance</a:t>
            </a:r>
            <a:r>
              <a:rPr lang="en-US" sz="2000" b="1" u="sng" dirty="0">
                <a:solidFill>
                  <a:schemeClr val="bg1"/>
                </a:solidFill>
                <a:effectLst/>
                <a:latin typeface="Roboto" panose="02000000000000000000" pitchFamily="2" charset="0"/>
              </a:rPr>
              <a:t>: </a:t>
            </a:r>
            <a:r>
              <a:rPr lang="en-US" sz="2000" b="0" i="0" dirty="0">
                <a:solidFill>
                  <a:schemeClr val="bg1"/>
                </a:solidFill>
                <a:effectLst/>
                <a:latin typeface="Roboto" panose="02000000000000000000" pitchFamily="2" charset="0"/>
              </a:rPr>
              <a:t>Minimizes overfitting.</a:t>
            </a:r>
            <a:endParaRPr lang="en-US" sz="2000" dirty="0">
              <a:solidFill>
                <a:schemeClr val="bg1"/>
              </a:solidFill>
            </a:endParaRPr>
          </a:p>
        </p:txBody>
      </p:sp>
      <p:sp>
        <p:nvSpPr>
          <p:cNvPr id="32" name="Freeform 20">
            <a:extLst>
              <a:ext uri="{FF2B5EF4-FFF2-40B4-BE49-F238E27FC236}">
                <a16:creationId xmlns:a16="http://schemas.microsoft.com/office/drawing/2014/main" id="{8CC06FC9-989A-463F-C97D-62E82397464E}"/>
              </a:ext>
            </a:extLst>
          </p:cNvPr>
          <p:cNvSpPr/>
          <p:nvPr/>
        </p:nvSpPr>
        <p:spPr>
          <a:xfrm>
            <a:off x="8528064" y="5236502"/>
            <a:ext cx="378251" cy="378251"/>
          </a:xfrm>
          <a:custGeom>
            <a:avLst/>
            <a:gdLst/>
            <a:ahLst/>
            <a:cxnLst/>
            <a:rect l="l" t="t" r="r" b="b"/>
            <a:pathLst>
              <a:path w="540358" h="540358">
                <a:moveTo>
                  <a:pt x="0" y="0"/>
                </a:moveTo>
                <a:lnTo>
                  <a:pt x="540358" y="0"/>
                </a:lnTo>
                <a:lnTo>
                  <a:pt x="540358" y="540358"/>
                </a:lnTo>
                <a:lnTo>
                  <a:pt x="0" y="5403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cxnSp>
        <p:nvCxnSpPr>
          <p:cNvPr id="33" name="Google Shape;520;p26">
            <a:extLst>
              <a:ext uri="{FF2B5EF4-FFF2-40B4-BE49-F238E27FC236}">
                <a16:creationId xmlns:a16="http://schemas.microsoft.com/office/drawing/2014/main" id="{84981DE3-CC87-2B1B-13F8-C5654719296F}"/>
              </a:ext>
            </a:extLst>
          </p:cNvPr>
          <p:cNvCxnSpPr>
            <a:cxnSpLocks/>
          </p:cNvCxnSpPr>
          <p:nvPr/>
        </p:nvCxnSpPr>
        <p:spPr>
          <a:xfrm flipV="1">
            <a:off x="9448800" y="3423814"/>
            <a:ext cx="1284920" cy="1119694"/>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4" name="Google Shape;520;p26">
            <a:extLst>
              <a:ext uri="{FF2B5EF4-FFF2-40B4-BE49-F238E27FC236}">
                <a16:creationId xmlns:a16="http://schemas.microsoft.com/office/drawing/2014/main" id="{C36D0DD6-10F9-FD54-AFFF-C7A5990C85F4}"/>
              </a:ext>
            </a:extLst>
          </p:cNvPr>
          <p:cNvCxnSpPr>
            <a:cxnSpLocks/>
          </p:cNvCxnSpPr>
          <p:nvPr/>
        </p:nvCxnSpPr>
        <p:spPr>
          <a:xfrm flipV="1">
            <a:off x="10439400" y="4992928"/>
            <a:ext cx="1012368" cy="343625"/>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5" name="Google Shape;520;p26">
            <a:extLst>
              <a:ext uri="{FF2B5EF4-FFF2-40B4-BE49-F238E27FC236}">
                <a16:creationId xmlns:a16="http://schemas.microsoft.com/office/drawing/2014/main" id="{DF8304CE-6C5C-0C17-8F46-C33C3AFA7EC0}"/>
              </a:ext>
            </a:extLst>
          </p:cNvPr>
          <p:cNvCxnSpPr>
            <a:cxnSpLocks/>
          </p:cNvCxnSpPr>
          <p:nvPr/>
        </p:nvCxnSpPr>
        <p:spPr>
          <a:xfrm>
            <a:off x="10164382" y="6681407"/>
            <a:ext cx="1394384" cy="138493"/>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6" name="Google Shape;520;p26">
            <a:extLst>
              <a:ext uri="{FF2B5EF4-FFF2-40B4-BE49-F238E27FC236}">
                <a16:creationId xmlns:a16="http://schemas.microsoft.com/office/drawing/2014/main" id="{9FAA322F-60D7-7C03-D3D1-1E10CC3D0D12}"/>
              </a:ext>
            </a:extLst>
          </p:cNvPr>
          <p:cNvCxnSpPr>
            <a:cxnSpLocks/>
          </p:cNvCxnSpPr>
          <p:nvPr/>
        </p:nvCxnSpPr>
        <p:spPr>
          <a:xfrm rot="16200000" flipH="1">
            <a:off x="10062222" y="7414754"/>
            <a:ext cx="1541047" cy="1434511"/>
          </a:xfrm>
          <a:prstGeom prst="bentConnector3">
            <a:avLst>
              <a:gd name="adj1" fmla="val 98034"/>
            </a:avLst>
          </a:prstGeom>
          <a:noFill/>
          <a:ln w="19050" cap="flat" cmpd="sng">
            <a:solidFill>
              <a:schemeClr val="lt2"/>
            </a:solidFill>
            <a:prstDash val="solid"/>
            <a:round/>
            <a:headEnd type="none" w="med" len="med"/>
            <a:tailEnd type="oval" w="med" len="med"/>
          </a:ln>
        </p:spPr>
      </p:cxnSp>
      <p:pic>
        <p:nvPicPr>
          <p:cNvPr id="37" name="Picture 2" descr="Facial Recognition Software - Atheneum">
            <a:extLst>
              <a:ext uri="{FF2B5EF4-FFF2-40B4-BE49-F238E27FC236}">
                <a16:creationId xmlns:a16="http://schemas.microsoft.com/office/drawing/2014/main" id="{7B3DC895-6DAD-E381-8118-1D659C7ACF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0380" y="5815840"/>
            <a:ext cx="4443616" cy="2885465"/>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98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500" fill="hold"/>
                                        <p:tgtEl>
                                          <p:spTgt spid="15"/>
                                        </p:tgtEl>
                                        <p:attrNameLst>
                                          <p:attrName>ppt_w</p:attrName>
                                        </p:attrNameLst>
                                      </p:cBhvr>
                                      <p:tavLst>
                                        <p:tav tm="0">
                                          <p:val>
                                            <p:fltVal val="0"/>
                                          </p:val>
                                        </p:tav>
                                        <p:tav tm="100000">
                                          <p:val>
                                            <p:strVal val="#ppt_w"/>
                                          </p:val>
                                        </p:tav>
                                      </p:tavLst>
                                    </p:anim>
                                    <p:anim calcmode="lin" valueType="num">
                                      <p:cBhvr>
                                        <p:cTn id="33" dur="500" fill="hold"/>
                                        <p:tgtEl>
                                          <p:spTgt spid="15"/>
                                        </p:tgtEl>
                                        <p:attrNameLst>
                                          <p:attrName>ppt_h</p:attrName>
                                        </p:attrNameLst>
                                      </p:cBhvr>
                                      <p:tavLst>
                                        <p:tav tm="0">
                                          <p:val>
                                            <p:fltVal val="0"/>
                                          </p:val>
                                        </p:tav>
                                        <p:tav tm="100000">
                                          <p:val>
                                            <p:strVal val="#ppt_h"/>
                                          </p:val>
                                        </p:tav>
                                      </p:tavLst>
                                    </p:anim>
                                    <p:animEffect transition="in" filter="fade">
                                      <p:cBhvr>
                                        <p:cTn id="34" dur="500"/>
                                        <p:tgtEl>
                                          <p:spTgt spid="15"/>
                                        </p:tgtEl>
                                      </p:cBhvr>
                                    </p:animEffect>
                                  </p:childTnLst>
                                </p:cTn>
                              </p:par>
                              <p:par>
                                <p:cTn id="35" presetID="53" presetClass="entr" presetSubtype="16"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09"/>
                                        </p:tgtEl>
                                        <p:attrNameLst>
                                          <p:attrName>style.visibility</p:attrName>
                                        </p:attrNameLst>
                                      </p:cBhvr>
                                      <p:to>
                                        <p:strVal val="visible"/>
                                      </p:to>
                                    </p:set>
                                    <p:anim calcmode="lin" valueType="num">
                                      <p:cBhvr>
                                        <p:cTn id="42" dur="500" fill="hold"/>
                                        <p:tgtEl>
                                          <p:spTgt spid="109"/>
                                        </p:tgtEl>
                                        <p:attrNameLst>
                                          <p:attrName>ppt_w</p:attrName>
                                        </p:attrNameLst>
                                      </p:cBhvr>
                                      <p:tavLst>
                                        <p:tav tm="0">
                                          <p:val>
                                            <p:fltVal val="0"/>
                                          </p:val>
                                        </p:tav>
                                        <p:tav tm="100000">
                                          <p:val>
                                            <p:strVal val="#ppt_w"/>
                                          </p:val>
                                        </p:tav>
                                      </p:tavLst>
                                    </p:anim>
                                    <p:anim calcmode="lin" valueType="num">
                                      <p:cBhvr>
                                        <p:cTn id="43" dur="500" fill="hold"/>
                                        <p:tgtEl>
                                          <p:spTgt spid="109"/>
                                        </p:tgtEl>
                                        <p:attrNameLst>
                                          <p:attrName>ppt_h</p:attrName>
                                        </p:attrNameLst>
                                      </p:cBhvr>
                                      <p:tavLst>
                                        <p:tav tm="0">
                                          <p:val>
                                            <p:fltVal val="0"/>
                                          </p:val>
                                        </p:tav>
                                        <p:tav tm="100000">
                                          <p:val>
                                            <p:strVal val="#ppt_h"/>
                                          </p:val>
                                        </p:tav>
                                      </p:tavLst>
                                    </p:anim>
                                    <p:animEffect transition="in" filter="fade">
                                      <p:cBhvr>
                                        <p:cTn id="44" dur="500"/>
                                        <p:tgtEl>
                                          <p:spTgt spid="10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12"/>
                                        </p:tgtEl>
                                        <p:attrNameLst>
                                          <p:attrName>style.visibility</p:attrName>
                                        </p:attrNameLst>
                                      </p:cBhvr>
                                      <p:to>
                                        <p:strVal val="visible"/>
                                      </p:to>
                                    </p:set>
                                    <p:anim calcmode="lin" valueType="num">
                                      <p:cBhvr>
                                        <p:cTn id="47" dur="500" fill="hold"/>
                                        <p:tgtEl>
                                          <p:spTgt spid="112"/>
                                        </p:tgtEl>
                                        <p:attrNameLst>
                                          <p:attrName>ppt_w</p:attrName>
                                        </p:attrNameLst>
                                      </p:cBhvr>
                                      <p:tavLst>
                                        <p:tav tm="0">
                                          <p:val>
                                            <p:fltVal val="0"/>
                                          </p:val>
                                        </p:tav>
                                        <p:tav tm="100000">
                                          <p:val>
                                            <p:strVal val="#ppt_w"/>
                                          </p:val>
                                        </p:tav>
                                      </p:tavLst>
                                    </p:anim>
                                    <p:anim calcmode="lin" valueType="num">
                                      <p:cBhvr>
                                        <p:cTn id="48" dur="500" fill="hold"/>
                                        <p:tgtEl>
                                          <p:spTgt spid="112"/>
                                        </p:tgtEl>
                                        <p:attrNameLst>
                                          <p:attrName>ppt_h</p:attrName>
                                        </p:attrNameLst>
                                      </p:cBhvr>
                                      <p:tavLst>
                                        <p:tav tm="0">
                                          <p:val>
                                            <p:fltVal val="0"/>
                                          </p:val>
                                        </p:tav>
                                        <p:tav tm="100000">
                                          <p:val>
                                            <p:strVal val="#ppt_h"/>
                                          </p:val>
                                        </p:tav>
                                      </p:tavLst>
                                    </p:anim>
                                    <p:animEffect transition="in" filter="fade">
                                      <p:cBhvr>
                                        <p:cTn id="49" dur="500"/>
                                        <p:tgtEl>
                                          <p:spTgt spid="11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59"/>
                                        </p:tgtEl>
                                        <p:attrNameLst>
                                          <p:attrName>style.visibility</p:attrName>
                                        </p:attrNameLst>
                                      </p:cBhvr>
                                      <p:to>
                                        <p:strVal val="visible"/>
                                      </p:to>
                                    </p:set>
                                    <p:anim calcmode="lin" valueType="num">
                                      <p:cBhvr>
                                        <p:cTn id="52" dur="500" fill="hold"/>
                                        <p:tgtEl>
                                          <p:spTgt spid="59"/>
                                        </p:tgtEl>
                                        <p:attrNameLst>
                                          <p:attrName>ppt_w</p:attrName>
                                        </p:attrNameLst>
                                      </p:cBhvr>
                                      <p:tavLst>
                                        <p:tav tm="0">
                                          <p:val>
                                            <p:fltVal val="0"/>
                                          </p:val>
                                        </p:tav>
                                        <p:tav tm="100000">
                                          <p:val>
                                            <p:strVal val="#ppt_w"/>
                                          </p:val>
                                        </p:tav>
                                      </p:tavLst>
                                    </p:anim>
                                    <p:anim calcmode="lin" valueType="num">
                                      <p:cBhvr>
                                        <p:cTn id="53" dur="500" fill="hold"/>
                                        <p:tgtEl>
                                          <p:spTgt spid="59"/>
                                        </p:tgtEl>
                                        <p:attrNameLst>
                                          <p:attrName>ppt_h</p:attrName>
                                        </p:attrNameLst>
                                      </p:cBhvr>
                                      <p:tavLst>
                                        <p:tav tm="0">
                                          <p:val>
                                            <p:fltVal val="0"/>
                                          </p:val>
                                        </p:tav>
                                        <p:tav tm="100000">
                                          <p:val>
                                            <p:strVal val="#ppt_h"/>
                                          </p:val>
                                        </p:tav>
                                      </p:tavLst>
                                    </p:anim>
                                    <p:animEffect transition="in" filter="fade">
                                      <p:cBhvr>
                                        <p:cTn id="54" dur="500"/>
                                        <p:tgtEl>
                                          <p:spTgt spid="5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1000"/>
                                        <p:tgtEl>
                                          <p:spTgt spid="25"/>
                                        </p:tgtEl>
                                      </p:cBhvr>
                                    </p:animEffect>
                                    <p:anim calcmode="lin" valueType="num">
                                      <p:cBhvr>
                                        <p:cTn id="85" dur="1000" fill="hold"/>
                                        <p:tgtEl>
                                          <p:spTgt spid="25"/>
                                        </p:tgtEl>
                                        <p:attrNameLst>
                                          <p:attrName>ppt_x</p:attrName>
                                        </p:attrNameLst>
                                      </p:cBhvr>
                                      <p:tavLst>
                                        <p:tav tm="0">
                                          <p:val>
                                            <p:strVal val="#ppt_x"/>
                                          </p:val>
                                        </p:tav>
                                        <p:tav tm="100000">
                                          <p:val>
                                            <p:strVal val="#ppt_x"/>
                                          </p:val>
                                        </p:tav>
                                      </p:tavLst>
                                    </p:anim>
                                    <p:anim calcmode="lin" valueType="num">
                                      <p:cBhvr>
                                        <p:cTn id="8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1000"/>
                                        <p:tgtEl>
                                          <p:spTgt spid="24"/>
                                        </p:tgtEl>
                                      </p:cBhvr>
                                    </p:animEffect>
                                    <p:anim calcmode="lin" valueType="num">
                                      <p:cBhvr>
                                        <p:cTn id="92" dur="1000" fill="hold"/>
                                        <p:tgtEl>
                                          <p:spTgt spid="24"/>
                                        </p:tgtEl>
                                        <p:attrNameLst>
                                          <p:attrName>ppt_x</p:attrName>
                                        </p:attrNameLst>
                                      </p:cBhvr>
                                      <p:tavLst>
                                        <p:tav tm="0">
                                          <p:val>
                                            <p:strVal val="#ppt_x"/>
                                          </p:val>
                                        </p:tav>
                                        <p:tav tm="100000">
                                          <p:val>
                                            <p:strVal val="#ppt_x"/>
                                          </p:val>
                                        </p:tav>
                                      </p:tavLst>
                                    </p:anim>
                                    <p:anim calcmode="lin" valueType="num">
                                      <p:cBhvr>
                                        <p:cTn id="9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29"/>
                                        </p:tgtEl>
                                        <p:attrNameLst>
                                          <p:attrName>style.visibility</p:attrName>
                                        </p:attrNameLst>
                                      </p:cBhvr>
                                      <p:to>
                                        <p:strVal val="visible"/>
                                      </p:to>
                                    </p:set>
                                    <p:anim calcmode="lin" valueType="num">
                                      <p:cBhvr additive="base">
                                        <p:cTn id="103" dur="500" fill="hold"/>
                                        <p:tgtEl>
                                          <p:spTgt spid="29"/>
                                        </p:tgtEl>
                                        <p:attrNameLst>
                                          <p:attrName>ppt_x</p:attrName>
                                        </p:attrNameLst>
                                      </p:cBhvr>
                                      <p:tavLst>
                                        <p:tav tm="0">
                                          <p:val>
                                            <p:strVal val="#ppt_x"/>
                                          </p:val>
                                        </p:tav>
                                        <p:tav tm="100000">
                                          <p:val>
                                            <p:strVal val="#ppt_x"/>
                                          </p:val>
                                        </p:tav>
                                      </p:tavLst>
                                    </p:anim>
                                    <p:anim calcmode="lin" valueType="num">
                                      <p:cBhvr additive="base">
                                        <p:cTn id="10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500"/>
                                        <p:tgtEl>
                                          <p:spTgt spid="35"/>
                                        </p:tgtEl>
                                      </p:cBhvr>
                                    </p:animEffect>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grpId="0" nodeType="click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1000"/>
                                        <p:tgtEl>
                                          <p:spTgt spid="30"/>
                                        </p:tgtEl>
                                      </p:cBhvr>
                                    </p:animEffect>
                                    <p:anim calcmode="lin" valueType="num">
                                      <p:cBhvr>
                                        <p:cTn id="115" dur="1000" fill="hold"/>
                                        <p:tgtEl>
                                          <p:spTgt spid="30"/>
                                        </p:tgtEl>
                                        <p:attrNameLst>
                                          <p:attrName>ppt_x</p:attrName>
                                        </p:attrNameLst>
                                      </p:cBhvr>
                                      <p:tavLst>
                                        <p:tav tm="0">
                                          <p:val>
                                            <p:strVal val="#ppt_x"/>
                                          </p:val>
                                        </p:tav>
                                        <p:tav tm="100000">
                                          <p:val>
                                            <p:strVal val="#ppt_x"/>
                                          </p:val>
                                        </p:tav>
                                      </p:tavLst>
                                    </p:anim>
                                    <p:anim calcmode="lin" valueType="num">
                                      <p:cBhvr>
                                        <p:cTn id="11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36"/>
                                        </p:tgtEl>
                                        <p:attrNameLst>
                                          <p:attrName>style.visibility</p:attrName>
                                        </p:attrNameLst>
                                      </p:cBhvr>
                                      <p:to>
                                        <p:strVal val="visible"/>
                                      </p:to>
                                    </p:set>
                                    <p:animEffect transition="in" filter="fade">
                                      <p:cBhvr>
                                        <p:cTn id="121" dur="500"/>
                                        <p:tgtEl>
                                          <p:spTgt spid="36"/>
                                        </p:tgtEl>
                                      </p:cBhvr>
                                    </p:animEffect>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1000"/>
                                        <p:tgtEl>
                                          <p:spTgt spid="31"/>
                                        </p:tgtEl>
                                      </p:cBhvr>
                                    </p:animEffect>
                                    <p:anim calcmode="lin" valueType="num">
                                      <p:cBhvr>
                                        <p:cTn id="127" dur="1000" fill="hold"/>
                                        <p:tgtEl>
                                          <p:spTgt spid="31"/>
                                        </p:tgtEl>
                                        <p:attrNameLst>
                                          <p:attrName>ppt_x</p:attrName>
                                        </p:attrNameLst>
                                      </p:cBhvr>
                                      <p:tavLst>
                                        <p:tav tm="0">
                                          <p:val>
                                            <p:strVal val="#ppt_x"/>
                                          </p:val>
                                        </p:tav>
                                        <p:tav tm="100000">
                                          <p:val>
                                            <p:strVal val="#ppt_x"/>
                                          </p:val>
                                        </p:tav>
                                      </p:tavLst>
                                    </p:anim>
                                    <p:anim calcmode="lin" valueType="num">
                                      <p:cBhvr>
                                        <p:cTn id="12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37"/>
                                        </p:tgtEl>
                                        <p:attrNameLst>
                                          <p:attrName>style.visibility</p:attrName>
                                        </p:attrNameLst>
                                      </p:cBhvr>
                                      <p:to>
                                        <p:strVal val="visible"/>
                                      </p:to>
                                    </p:set>
                                    <p:animEffect transition="in" filter="fade">
                                      <p:cBhvr>
                                        <p:cTn id="13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5" grpId="0"/>
      <p:bldP spid="109" grpId="0" animBg="1"/>
      <p:bldP spid="112" grpId="0" animBg="1"/>
      <p:bldP spid="59" grpId="0"/>
      <p:bldP spid="19" grpId="0"/>
      <p:bldP spid="23" grpId="0"/>
      <p:bldP spid="24" grpId="0"/>
      <p:bldP spid="25" grpId="0"/>
      <p:bldP spid="29" grpId="0"/>
      <p:bldP spid="30" grpId="0"/>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3F2C-704C-ADF7-364B-3B655CB5080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01FBE4D-8682-5405-7ECD-45B95F85AE6D}"/>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3DCB1518-6132-3C2A-0BEB-DBB34E301416}"/>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16B7338E-DF44-F86E-BA95-8EE706B61D9B}"/>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6798D28E-1752-5309-06BA-C9F89FBD9578}"/>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612DAEE3-F56A-9DFD-A6D9-EA194B6B14E4}"/>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33515F39-FAD7-0790-2AB8-72F1131AE0D9}"/>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8E76AE5F-6D89-EF67-8B73-9EFC41DA7CE8}"/>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55CB7C94-1614-A6E3-42C9-258C37AE6A15}"/>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0752E9F9-64C1-B1B5-4C47-59BECBD72702}"/>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F9860206-8319-9150-704F-6CA91C5C411A}"/>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B64FB169-7E88-8695-8B6F-1EC83DF6636D}"/>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14</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31C8761E-3DA3-C8B3-B94D-1C9C6CCA2779}"/>
              </a:ext>
            </a:extLst>
          </p:cNvPr>
          <p:cNvGrpSpPr/>
          <p:nvPr/>
        </p:nvGrpSpPr>
        <p:grpSpPr>
          <a:xfrm>
            <a:off x="764680" y="1759948"/>
            <a:ext cx="2905234" cy="45719"/>
            <a:chOff x="0" y="0"/>
            <a:chExt cx="462932" cy="12543"/>
          </a:xfrm>
        </p:grpSpPr>
        <p:sp>
          <p:nvSpPr>
            <p:cNvPr id="21" name="Freeform 21">
              <a:extLst>
                <a:ext uri="{FF2B5EF4-FFF2-40B4-BE49-F238E27FC236}">
                  <a16:creationId xmlns:a16="http://schemas.microsoft.com/office/drawing/2014/main" id="{FDCD3C5F-286C-6879-0FAF-FDBA13657732}"/>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392339C4-2304-F13F-9DCE-E33B86192753}"/>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CF727F96-97BE-520E-3453-F473C8EE18CC}"/>
              </a:ext>
            </a:extLst>
          </p:cNvPr>
          <p:cNvSpPr txBox="1"/>
          <p:nvPr/>
        </p:nvSpPr>
        <p:spPr>
          <a:xfrm>
            <a:off x="762000" y="525168"/>
            <a:ext cx="6537699" cy="1231106"/>
          </a:xfrm>
          <a:prstGeom prst="rect">
            <a:avLst/>
          </a:prstGeom>
        </p:spPr>
        <p:txBody>
          <a:bodyPr lIns="0" tIns="0" rIns="0" bIns="0" rtlCol="0" anchor="t">
            <a:spAutoFit/>
          </a:bodyPr>
          <a:lstStyle/>
          <a:p>
            <a:r>
              <a:rPr lang="en-US" sz="8000" b="1" i="0" dirty="0">
                <a:solidFill>
                  <a:schemeClr val="bg1"/>
                </a:solidFill>
                <a:effectLst/>
                <a:latin typeface="Bebas Neue Cyrillic" panose="020B0604020202020204" charset="0"/>
              </a:rPr>
              <a:t>Custom CNN</a:t>
            </a:r>
            <a:endParaRPr lang="en-US" sz="8000" b="1" dirty="0">
              <a:solidFill>
                <a:schemeClr val="bg1"/>
              </a:solidFill>
              <a:latin typeface="Bebas Neue Cyrillic" panose="020B0604020202020204" charset="0"/>
            </a:endParaRPr>
          </a:p>
        </p:txBody>
      </p:sp>
      <p:sp>
        <p:nvSpPr>
          <p:cNvPr id="40" name="Rectangle 1">
            <a:extLst>
              <a:ext uri="{FF2B5EF4-FFF2-40B4-BE49-F238E27FC236}">
                <a16:creationId xmlns:a16="http://schemas.microsoft.com/office/drawing/2014/main" id="{747AF3CB-BC38-B02A-D5A3-A311983B918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5C400159-59D0-1013-1F45-0CE8349EF78B}"/>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7" name="Google Shape;465;p25">
            <a:extLst>
              <a:ext uri="{FF2B5EF4-FFF2-40B4-BE49-F238E27FC236}">
                <a16:creationId xmlns:a16="http://schemas.microsoft.com/office/drawing/2014/main" id="{248867ED-503B-36EA-AE4C-6BF72A8A87CE}"/>
              </a:ext>
            </a:extLst>
          </p:cNvPr>
          <p:cNvGrpSpPr/>
          <p:nvPr/>
        </p:nvGrpSpPr>
        <p:grpSpPr>
          <a:xfrm>
            <a:off x="6659970" y="8711848"/>
            <a:ext cx="4018509" cy="407588"/>
            <a:chOff x="5009381" y="3591285"/>
            <a:chExt cx="2951763" cy="407588"/>
          </a:xfrm>
        </p:grpSpPr>
        <p:sp>
          <p:nvSpPr>
            <p:cNvPr id="18" name="Google Shape;466;p25">
              <a:extLst>
                <a:ext uri="{FF2B5EF4-FFF2-40B4-BE49-F238E27FC236}">
                  <a16:creationId xmlns:a16="http://schemas.microsoft.com/office/drawing/2014/main" id="{EC6EF539-559F-B27E-7645-E0972923F043}"/>
                </a:ext>
              </a:extLst>
            </p:cNvPr>
            <p:cNvSpPr txBox="1"/>
            <p:nvPr/>
          </p:nvSpPr>
          <p:spPr>
            <a:xfrm>
              <a:off x="7339475" y="3602857"/>
              <a:ext cx="621669" cy="3960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63.75%</a:t>
              </a:r>
              <a:endParaRPr dirty="0">
                <a:solidFill>
                  <a:schemeClr val="lt2"/>
                </a:solidFill>
                <a:latin typeface="Fira Sans Condensed"/>
                <a:ea typeface="Fira Sans Condensed"/>
                <a:cs typeface="Fira Sans Condensed"/>
                <a:sym typeface="Fira Sans Condensed"/>
              </a:endParaRPr>
            </a:p>
          </p:txBody>
        </p:sp>
        <p:sp>
          <p:nvSpPr>
            <p:cNvPr id="19" name="Google Shape;467;p25">
              <a:extLst>
                <a:ext uri="{FF2B5EF4-FFF2-40B4-BE49-F238E27FC236}">
                  <a16:creationId xmlns:a16="http://schemas.microsoft.com/office/drawing/2014/main" id="{6133BF1F-FC1C-252B-FEC3-A78808DABB6D}"/>
                </a:ext>
              </a:extLst>
            </p:cNvPr>
            <p:cNvSpPr txBox="1"/>
            <p:nvPr/>
          </p:nvSpPr>
          <p:spPr>
            <a:xfrm>
              <a:off x="5009381" y="3591285"/>
              <a:ext cx="951526"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chemeClr val="bg1"/>
                  </a:solidFill>
                  <a:effectLst/>
                  <a:latin typeface="Roboto" panose="02000000000000000000" pitchFamily="2" charset="0"/>
                </a:rPr>
                <a:t>Train Acc:</a:t>
              </a:r>
              <a:endParaRPr dirty="0">
                <a:solidFill>
                  <a:schemeClr val="lt2"/>
                </a:solidFill>
                <a:latin typeface="Fira Sans Condensed"/>
                <a:ea typeface="Fira Sans Condensed"/>
                <a:cs typeface="Fira Sans Condensed"/>
                <a:sym typeface="Fira Sans Condensed"/>
              </a:endParaRPr>
            </a:p>
          </p:txBody>
        </p:sp>
      </p:grpSp>
      <p:grpSp>
        <p:nvGrpSpPr>
          <p:cNvPr id="23" name="Google Shape;468;p25">
            <a:extLst>
              <a:ext uri="{FF2B5EF4-FFF2-40B4-BE49-F238E27FC236}">
                <a16:creationId xmlns:a16="http://schemas.microsoft.com/office/drawing/2014/main" id="{EB593FF2-B1AA-FD1E-0773-49AEC1FB960A}"/>
              </a:ext>
            </a:extLst>
          </p:cNvPr>
          <p:cNvGrpSpPr/>
          <p:nvPr/>
        </p:nvGrpSpPr>
        <p:grpSpPr>
          <a:xfrm>
            <a:off x="6858000" y="9076195"/>
            <a:ext cx="3885743" cy="355182"/>
            <a:chOff x="4083230" y="3938685"/>
            <a:chExt cx="3885743" cy="355182"/>
          </a:xfrm>
        </p:grpSpPr>
        <p:sp>
          <p:nvSpPr>
            <p:cNvPr id="24" name="Google Shape;469;p25">
              <a:extLst>
                <a:ext uri="{FF2B5EF4-FFF2-40B4-BE49-F238E27FC236}">
                  <a16:creationId xmlns:a16="http://schemas.microsoft.com/office/drawing/2014/main" id="{10826297-AE04-D05C-FE31-F3C543B61E8E}"/>
                </a:ext>
              </a:extLst>
            </p:cNvPr>
            <p:cNvSpPr txBox="1"/>
            <p:nvPr/>
          </p:nvSpPr>
          <p:spPr>
            <a:xfrm>
              <a:off x="7122638" y="3972669"/>
              <a:ext cx="846335" cy="32119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38.13%</a:t>
              </a:r>
              <a:endParaRPr dirty="0">
                <a:solidFill>
                  <a:schemeClr val="lt2"/>
                </a:solidFill>
                <a:latin typeface="Fira Sans Condensed"/>
                <a:ea typeface="Fira Sans Condensed"/>
                <a:cs typeface="Fira Sans Condensed"/>
                <a:sym typeface="Fira Sans Condensed"/>
              </a:endParaRPr>
            </a:p>
          </p:txBody>
        </p:sp>
        <p:sp>
          <p:nvSpPr>
            <p:cNvPr id="25" name="Google Shape;470;p25">
              <a:extLst>
                <a:ext uri="{FF2B5EF4-FFF2-40B4-BE49-F238E27FC236}">
                  <a16:creationId xmlns:a16="http://schemas.microsoft.com/office/drawing/2014/main" id="{E1AFDCA9-4829-196D-A1E5-B978163A2E7D}"/>
                </a:ext>
              </a:extLst>
            </p:cNvPr>
            <p:cNvSpPr txBox="1"/>
            <p:nvPr/>
          </p:nvSpPr>
          <p:spPr>
            <a:xfrm>
              <a:off x="4083230" y="3938685"/>
              <a:ext cx="1366095"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chemeClr val="bg1"/>
                  </a:solidFill>
                  <a:effectLst/>
                  <a:latin typeface="Roboto" panose="02000000000000000000" pitchFamily="2" charset="0"/>
                </a:rPr>
                <a:t>Val Acc:</a:t>
              </a:r>
              <a:endParaRPr lang="en-US" dirty="0">
                <a:solidFill>
                  <a:schemeClr val="bg1"/>
                </a:solidFill>
                <a:latin typeface="Fira Sans Condensed"/>
                <a:ea typeface="Fira Sans Condensed"/>
                <a:cs typeface="Fira Sans Condensed"/>
                <a:sym typeface="Fira Sans Condensed"/>
              </a:endParaRPr>
            </a:p>
          </p:txBody>
        </p:sp>
      </p:grpSp>
      <p:grpSp>
        <p:nvGrpSpPr>
          <p:cNvPr id="26" name="Google Shape;471;p25">
            <a:extLst>
              <a:ext uri="{FF2B5EF4-FFF2-40B4-BE49-F238E27FC236}">
                <a16:creationId xmlns:a16="http://schemas.microsoft.com/office/drawing/2014/main" id="{19686BD6-AD72-B2A9-523C-365589B47547}"/>
              </a:ext>
            </a:extLst>
          </p:cNvPr>
          <p:cNvGrpSpPr/>
          <p:nvPr/>
        </p:nvGrpSpPr>
        <p:grpSpPr>
          <a:xfrm>
            <a:off x="6934200" y="9363407"/>
            <a:ext cx="3809543" cy="409414"/>
            <a:chOff x="4159430" y="4225897"/>
            <a:chExt cx="3809543" cy="409414"/>
          </a:xfrm>
        </p:grpSpPr>
        <p:sp>
          <p:nvSpPr>
            <p:cNvPr id="27" name="Google Shape;472;p25">
              <a:extLst>
                <a:ext uri="{FF2B5EF4-FFF2-40B4-BE49-F238E27FC236}">
                  <a16:creationId xmlns:a16="http://schemas.microsoft.com/office/drawing/2014/main" id="{87D6793B-BCA1-69CF-4935-C4F5A944B4BF}"/>
                </a:ext>
              </a:extLst>
            </p:cNvPr>
            <p:cNvSpPr txBox="1"/>
            <p:nvPr/>
          </p:nvSpPr>
          <p:spPr>
            <a:xfrm>
              <a:off x="7122639" y="4225897"/>
              <a:ext cx="846334" cy="40941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latin typeface="Fira Sans Condensed"/>
                  <a:ea typeface="Fira Sans Condensed"/>
                  <a:cs typeface="Fira Sans Condensed"/>
                  <a:sym typeface="Fira Sans Condensed"/>
                </a:rPr>
                <a:t>38.53%</a:t>
              </a:r>
              <a:endParaRPr dirty="0">
                <a:solidFill>
                  <a:schemeClr val="lt2"/>
                </a:solidFill>
                <a:latin typeface="Fira Sans Condensed"/>
                <a:ea typeface="Fira Sans Condensed"/>
                <a:cs typeface="Fira Sans Condensed"/>
                <a:sym typeface="Fira Sans Condensed"/>
              </a:endParaRPr>
            </a:p>
          </p:txBody>
        </p:sp>
        <p:sp>
          <p:nvSpPr>
            <p:cNvPr id="28" name="Google Shape;473;p25">
              <a:extLst>
                <a:ext uri="{FF2B5EF4-FFF2-40B4-BE49-F238E27FC236}">
                  <a16:creationId xmlns:a16="http://schemas.microsoft.com/office/drawing/2014/main" id="{9C77B427-B067-5472-0A7D-3F7DE2BD652A}"/>
                </a:ext>
              </a:extLst>
            </p:cNvPr>
            <p:cNvSpPr txBox="1"/>
            <p:nvPr/>
          </p:nvSpPr>
          <p:spPr>
            <a:xfrm>
              <a:off x="4159430" y="4225897"/>
              <a:ext cx="1289895"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1"/>
                  </a:solidFill>
                  <a:latin typeface="Fira Sans Condensed"/>
                  <a:ea typeface="Fira Sans Condensed"/>
                  <a:cs typeface="Fira Sans Condensed"/>
                  <a:sym typeface="Fira Sans Condensed"/>
                </a:rPr>
                <a:t>Test Acc:</a:t>
              </a:r>
              <a:endParaRPr dirty="0">
                <a:solidFill>
                  <a:schemeClr val="bg1"/>
                </a:solidFill>
                <a:latin typeface="Fira Sans Condensed"/>
                <a:ea typeface="Fira Sans Condensed"/>
                <a:cs typeface="Fira Sans Condensed"/>
                <a:sym typeface="Fira Sans Condensed"/>
              </a:endParaRPr>
            </a:p>
          </p:txBody>
        </p:sp>
      </p:grpSp>
      <p:sp>
        <p:nvSpPr>
          <p:cNvPr id="29" name="Google Shape;474;p25">
            <a:extLst>
              <a:ext uri="{FF2B5EF4-FFF2-40B4-BE49-F238E27FC236}">
                <a16:creationId xmlns:a16="http://schemas.microsoft.com/office/drawing/2014/main" id="{F338AC0B-AE33-66DD-CD28-487EF77CC6F6}"/>
              </a:ext>
            </a:extLst>
          </p:cNvPr>
          <p:cNvSpPr/>
          <p:nvPr/>
        </p:nvSpPr>
        <p:spPr>
          <a:xfrm>
            <a:off x="7902590" y="8877110"/>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5;p25">
            <a:extLst>
              <a:ext uri="{FF2B5EF4-FFF2-40B4-BE49-F238E27FC236}">
                <a16:creationId xmlns:a16="http://schemas.microsoft.com/office/drawing/2014/main" id="{70140CED-FF46-DBD8-55D5-7FF79C22FE3B}"/>
              </a:ext>
            </a:extLst>
          </p:cNvPr>
          <p:cNvSpPr/>
          <p:nvPr/>
        </p:nvSpPr>
        <p:spPr>
          <a:xfrm>
            <a:off x="7906340" y="8880496"/>
            <a:ext cx="1009060" cy="141467"/>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6;p25">
            <a:extLst>
              <a:ext uri="{FF2B5EF4-FFF2-40B4-BE49-F238E27FC236}">
                <a16:creationId xmlns:a16="http://schemas.microsoft.com/office/drawing/2014/main" id="{1568F28B-AA9F-C1BC-66CC-180AFCA34AD0}"/>
              </a:ext>
            </a:extLst>
          </p:cNvPr>
          <p:cNvSpPr/>
          <p:nvPr/>
        </p:nvSpPr>
        <p:spPr>
          <a:xfrm>
            <a:off x="7902590" y="9502871"/>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7;p25">
            <a:extLst>
              <a:ext uri="{FF2B5EF4-FFF2-40B4-BE49-F238E27FC236}">
                <a16:creationId xmlns:a16="http://schemas.microsoft.com/office/drawing/2014/main" id="{96FB0A3D-268F-F2B2-6A4C-CD59B8211325}"/>
              </a:ext>
            </a:extLst>
          </p:cNvPr>
          <p:cNvSpPr/>
          <p:nvPr/>
        </p:nvSpPr>
        <p:spPr>
          <a:xfrm>
            <a:off x="7902579" y="9502871"/>
            <a:ext cx="488013" cy="15370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TextBox 36">
            <a:extLst>
              <a:ext uri="{FF2B5EF4-FFF2-40B4-BE49-F238E27FC236}">
                <a16:creationId xmlns:a16="http://schemas.microsoft.com/office/drawing/2014/main" id="{96C973F1-0E92-30E6-7F15-B28698AD0D71}"/>
              </a:ext>
            </a:extLst>
          </p:cNvPr>
          <p:cNvSpPr txBox="1"/>
          <p:nvPr/>
        </p:nvSpPr>
        <p:spPr>
          <a:xfrm>
            <a:off x="762000" y="2125094"/>
            <a:ext cx="1524000" cy="584775"/>
          </a:xfrm>
          <a:prstGeom prst="rect">
            <a:avLst/>
          </a:prstGeom>
          <a:noFill/>
        </p:spPr>
        <p:txBody>
          <a:bodyPr wrap="square">
            <a:spAutoFit/>
          </a:bodyPr>
          <a:lstStyle/>
          <a:p>
            <a:r>
              <a:rPr lang="en-US" sz="3200" b="1" dirty="0">
                <a:solidFill>
                  <a:schemeClr val="bg1"/>
                </a:solidFill>
              </a:rPr>
              <a:t>Results:</a:t>
            </a:r>
          </a:p>
        </p:txBody>
      </p:sp>
      <p:sp>
        <p:nvSpPr>
          <p:cNvPr id="43" name="Google Shape;476;p25">
            <a:extLst>
              <a:ext uri="{FF2B5EF4-FFF2-40B4-BE49-F238E27FC236}">
                <a16:creationId xmlns:a16="http://schemas.microsoft.com/office/drawing/2014/main" id="{AB9ED7DC-DC6F-3F17-755F-42024B40B1E8}"/>
              </a:ext>
            </a:extLst>
          </p:cNvPr>
          <p:cNvSpPr/>
          <p:nvPr/>
        </p:nvSpPr>
        <p:spPr>
          <a:xfrm>
            <a:off x="7902590" y="9235263"/>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77;p25">
            <a:extLst>
              <a:ext uri="{FF2B5EF4-FFF2-40B4-BE49-F238E27FC236}">
                <a16:creationId xmlns:a16="http://schemas.microsoft.com/office/drawing/2014/main" id="{35C0B8CD-C97F-1F8A-CF74-EA170C4EFF79}"/>
              </a:ext>
            </a:extLst>
          </p:cNvPr>
          <p:cNvSpPr/>
          <p:nvPr/>
        </p:nvSpPr>
        <p:spPr>
          <a:xfrm>
            <a:off x="7902580" y="9235262"/>
            <a:ext cx="488013" cy="151048"/>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 name="Picture 14" descr="A graph showing the performance of training and validation accuracy&#10;&#10;Description automatically generated">
            <a:hlinkClick r:id="rId2" action="ppaction://hlinksldjump"/>
            <a:extLst>
              <a:ext uri="{FF2B5EF4-FFF2-40B4-BE49-F238E27FC236}">
                <a16:creationId xmlns:a16="http://schemas.microsoft.com/office/drawing/2014/main" id="{354AFB54-A238-9FD7-C275-1212F46CCB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920" y="2873695"/>
            <a:ext cx="5101213" cy="2848276"/>
          </a:xfrm>
          <a:prstGeom prst="rect">
            <a:avLst/>
          </a:prstGeom>
        </p:spPr>
      </p:pic>
      <p:pic>
        <p:nvPicPr>
          <p:cNvPr id="34" name="Picture 33" descr="A diagram of different emotions&#10;&#10;Description automatically generated with medium confidence">
            <a:hlinkClick r:id="rId4" action="ppaction://hlinksldjump"/>
            <a:extLst>
              <a:ext uri="{FF2B5EF4-FFF2-40B4-BE49-F238E27FC236}">
                <a16:creationId xmlns:a16="http://schemas.microsoft.com/office/drawing/2014/main" id="{50838FCE-0852-FB98-19B6-6F6ABF4A9F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9411" y="2885518"/>
            <a:ext cx="4132188" cy="2916529"/>
          </a:xfrm>
          <a:prstGeom prst="rect">
            <a:avLst/>
          </a:prstGeom>
        </p:spPr>
      </p:pic>
      <p:pic>
        <p:nvPicPr>
          <p:cNvPr id="38" name="Picture 37" descr="A black background with white text&#10;&#10;Description automatically generated">
            <a:hlinkClick r:id="rId6" action="ppaction://hlinksldjump"/>
            <a:extLst>
              <a:ext uri="{FF2B5EF4-FFF2-40B4-BE49-F238E27FC236}">
                <a16:creationId xmlns:a16="http://schemas.microsoft.com/office/drawing/2014/main" id="{D698281C-127A-8F0B-AF07-B7ED9B72D86C}"/>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211691" y="2885520"/>
            <a:ext cx="4456353" cy="2916527"/>
          </a:xfrm>
          <a:prstGeom prst="rect">
            <a:avLst/>
          </a:prstGeom>
        </p:spPr>
      </p:pic>
      <p:pic>
        <p:nvPicPr>
          <p:cNvPr id="42" name="Picture 41" descr="A screenshot of a phone&#10;&#10;Description automatically generated">
            <a:hlinkClick r:id="rId9" action="ppaction://hlinksldjump"/>
            <a:extLst>
              <a:ext uri="{FF2B5EF4-FFF2-40B4-BE49-F238E27FC236}">
                <a16:creationId xmlns:a16="http://schemas.microsoft.com/office/drawing/2014/main" id="{B95CF706-9B93-680A-F1B6-0DA522E6605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848136" y="3223746"/>
            <a:ext cx="2529477" cy="2240071"/>
          </a:xfrm>
          <a:prstGeom prst="rect">
            <a:avLst/>
          </a:prstGeom>
        </p:spPr>
      </p:pic>
      <p:pic>
        <p:nvPicPr>
          <p:cNvPr id="46" name="Picture 45" descr="A collage of a person's face&#10;&#10;Description automatically generated">
            <a:hlinkClick r:id="rId11" action="ppaction://hlinksldjump"/>
            <a:extLst>
              <a:ext uri="{FF2B5EF4-FFF2-40B4-BE49-F238E27FC236}">
                <a16:creationId xmlns:a16="http://schemas.microsoft.com/office/drawing/2014/main" id="{DC35729C-56F1-28C0-0EB5-24DE319F6FC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754792" y="5927506"/>
            <a:ext cx="10010775" cy="1523334"/>
          </a:xfrm>
          <a:prstGeom prst="rect">
            <a:avLst/>
          </a:prstGeom>
        </p:spPr>
      </p:pic>
      <p:pic>
        <p:nvPicPr>
          <p:cNvPr id="48" name="Picture 47" descr="A close up of a person and person&#10;&#10;Description automatically generated">
            <a:hlinkClick r:id="rId11" action="ppaction://hlinksldjump"/>
            <a:extLst>
              <a:ext uri="{FF2B5EF4-FFF2-40B4-BE49-F238E27FC236}">
                <a16:creationId xmlns:a16="http://schemas.microsoft.com/office/drawing/2014/main" id="{FD4F3E5A-71FC-4F2D-39D8-DF10E5A58A9E}"/>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118022" y="7510152"/>
            <a:ext cx="5157471" cy="971055"/>
          </a:xfrm>
          <a:prstGeom prst="rect">
            <a:avLst/>
          </a:prstGeom>
        </p:spPr>
      </p:pic>
    </p:spTree>
    <p:extLst>
      <p:ext uri="{BB962C8B-B14F-4D97-AF65-F5344CB8AC3E}">
        <p14:creationId xmlns:p14="http://schemas.microsoft.com/office/powerpoint/2010/main" val="4047706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3016D4D-7B49-31E1-D6CB-1C373B0149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092A215-5A17-F849-3A9E-D7B27E6F7B62}"/>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42E7DD86-4985-153E-1B00-0484BD7A90C0}"/>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EEA88B3C-6D9A-9285-8B31-BD821A76914B}"/>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56E95134-E1EA-3714-B9CF-C2C1EF6C7BE5}"/>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F8C0A927-D2C8-4A82-08BC-93E09C1FA80A}"/>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A6E32C61-DDF7-79B9-8ED7-980461ABCA30}"/>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FFBD832C-D834-91B3-F700-90F6491217D9}"/>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8DDA93FA-1C53-E59F-FD9F-51C1D977BCD4}"/>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902317A7-108D-9EC6-C09F-3941B9CED80D}"/>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6F36DC2A-55FE-92C5-7773-12E1FA71AFB9}"/>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00DB5383-ED40-6755-9FAE-8919FC973325}"/>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14</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A18FB14D-39A3-4E3C-EFBD-220A3CFE7902}"/>
              </a:ext>
            </a:extLst>
          </p:cNvPr>
          <p:cNvGrpSpPr/>
          <p:nvPr/>
        </p:nvGrpSpPr>
        <p:grpSpPr>
          <a:xfrm>
            <a:off x="764680" y="1759948"/>
            <a:ext cx="2905234" cy="45719"/>
            <a:chOff x="0" y="0"/>
            <a:chExt cx="462932" cy="12543"/>
          </a:xfrm>
        </p:grpSpPr>
        <p:sp>
          <p:nvSpPr>
            <p:cNvPr id="21" name="Freeform 21">
              <a:extLst>
                <a:ext uri="{FF2B5EF4-FFF2-40B4-BE49-F238E27FC236}">
                  <a16:creationId xmlns:a16="http://schemas.microsoft.com/office/drawing/2014/main" id="{E6A31A9A-0A37-071E-C3F0-5D4B34AAA6A3}"/>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45AEACE6-FABF-6FA4-F6E9-F646DBEA257B}"/>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876F7EA5-1C87-46C5-59B4-168852C3F2E8}"/>
              </a:ext>
            </a:extLst>
          </p:cNvPr>
          <p:cNvSpPr txBox="1"/>
          <p:nvPr/>
        </p:nvSpPr>
        <p:spPr>
          <a:xfrm>
            <a:off x="762000" y="525168"/>
            <a:ext cx="6537699" cy="1231106"/>
          </a:xfrm>
          <a:prstGeom prst="rect">
            <a:avLst/>
          </a:prstGeom>
        </p:spPr>
        <p:txBody>
          <a:bodyPr lIns="0" tIns="0" rIns="0" bIns="0" rtlCol="0" anchor="t">
            <a:spAutoFit/>
          </a:bodyPr>
          <a:lstStyle/>
          <a:p>
            <a:r>
              <a:rPr lang="en-US" sz="8000" b="1" i="0" dirty="0">
                <a:solidFill>
                  <a:schemeClr val="bg1"/>
                </a:solidFill>
                <a:effectLst/>
                <a:latin typeface="Bebas Neue Cyrillic" panose="020B0604020202020204" charset="0"/>
              </a:rPr>
              <a:t>Custom CNN</a:t>
            </a:r>
            <a:endParaRPr lang="en-US" sz="8000" b="1" dirty="0">
              <a:solidFill>
                <a:schemeClr val="bg1"/>
              </a:solidFill>
              <a:latin typeface="Bebas Neue Cyrillic" panose="020B0604020202020204" charset="0"/>
            </a:endParaRPr>
          </a:p>
        </p:txBody>
      </p:sp>
      <p:sp>
        <p:nvSpPr>
          <p:cNvPr id="40" name="Rectangle 1">
            <a:extLst>
              <a:ext uri="{FF2B5EF4-FFF2-40B4-BE49-F238E27FC236}">
                <a16:creationId xmlns:a16="http://schemas.microsoft.com/office/drawing/2014/main" id="{C00C459D-3D61-E5DA-BAC9-CD25E3C62CF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E99E5792-5A06-4720-97A2-71EB6713E682}"/>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9E32C0F3-0DA7-6B19-B0FF-44E105241F07}"/>
              </a:ext>
            </a:extLst>
          </p:cNvPr>
          <p:cNvSpPr txBox="1"/>
          <p:nvPr/>
        </p:nvSpPr>
        <p:spPr>
          <a:xfrm>
            <a:off x="762000" y="2125094"/>
            <a:ext cx="1524000" cy="584775"/>
          </a:xfrm>
          <a:prstGeom prst="rect">
            <a:avLst/>
          </a:prstGeom>
          <a:noFill/>
        </p:spPr>
        <p:txBody>
          <a:bodyPr wrap="square">
            <a:spAutoFit/>
          </a:bodyPr>
          <a:lstStyle/>
          <a:p>
            <a:r>
              <a:rPr lang="en-US" sz="3200" b="1" dirty="0">
                <a:solidFill>
                  <a:schemeClr val="bg1"/>
                </a:solidFill>
              </a:rPr>
              <a:t>Results:</a:t>
            </a:r>
          </a:p>
        </p:txBody>
      </p:sp>
      <p:pic>
        <p:nvPicPr>
          <p:cNvPr id="15" name="Picture 14" descr="A graph showing the performance of training and validation accuracy&#10;&#10;Description automatically generated">
            <a:extLst>
              <a:ext uri="{FF2B5EF4-FFF2-40B4-BE49-F238E27FC236}">
                <a16:creationId xmlns:a16="http://schemas.microsoft.com/office/drawing/2014/main" id="{DF48797E-CB8E-AF23-41E1-81D98E1636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1360" y="2564537"/>
            <a:ext cx="10345280" cy="5776315"/>
          </a:xfrm>
          <a:prstGeom prst="rect">
            <a:avLst/>
          </a:prstGeom>
        </p:spPr>
      </p:pic>
      <p:sp>
        <p:nvSpPr>
          <p:cNvPr id="5" name="Rectangle 4">
            <a:hlinkClick r:id="rId3" action="ppaction://hlinksldjump"/>
            <a:extLst>
              <a:ext uri="{FF2B5EF4-FFF2-40B4-BE49-F238E27FC236}">
                <a16:creationId xmlns:a16="http://schemas.microsoft.com/office/drawing/2014/main" id="{BBB310E3-55EB-0F37-3191-32AE638FB5FB}"/>
              </a:ext>
            </a:extLst>
          </p:cNvPr>
          <p:cNvSpPr/>
          <p:nvPr/>
        </p:nvSpPr>
        <p:spPr>
          <a:xfrm>
            <a:off x="0" y="4305300"/>
            <a:ext cx="3818960" cy="5935980"/>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6999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9A5E39-7B78-CDBB-43DA-16D177FB4A3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A9C1BAE-8DB1-D671-51C8-E0AB576878D0}"/>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BD26696D-8134-2312-2EED-384F1A29AEA2}"/>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C13155F0-B680-6142-FDD4-09842D2C4C21}"/>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5A39138A-4BAB-1FFD-CFD6-8EF58EA48DE0}"/>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7B370A10-9CA2-A9EF-C25A-EF5A3A72C89A}"/>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42A8802D-24CB-FDDF-4EFB-58FCC4D97911}"/>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CAB3AC07-24AB-C3AC-1F00-ABBC33C00840}"/>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C3797270-8A93-8E5B-5696-10DB95F3E779}"/>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5F1DC4D5-9739-D0C6-A718-195D34B1D827}"/>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4CEBC1B4-6890-E9D5-49AE-4DAF7613ADFE}"/>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81A7D273-F360-CA3E-FFAE-2F65317B66E3}"/>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14</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94124750-E51F-FEF4-C87F-432647A63A3E}"/>
              </a:ext>
            </a:extLst>
          </p:cNvPr>
          <p:cNvGrpSpPr/>
          <p:nvPr/>
        </p:nvGrpSpPr>
        <p:grpSpPr>
          <a:xfrm>
            <a:off x="764680" y="1759948"/>
            <a:ext cx="2905234" cy="45719"/>
            <a:chOff x="0" y="0"/>
            <a:chExt cx="462932" cy="12543"/>
          </a:xfrm>
        </p:grpSpPr>
        <p:sp>
          <p:nvSpPr>
            <p:cNvPr id="21" name="Freeform 21">
              <a:extLst>
                <a:ext uri="{FF2B5EF4-FFF2-40B4-BE49-F238E27FC236}">
                  <a16:creationId xmlns:a16="http://schemas.microsoft.com/office/drawing/2014/main" id="{1E2DBEBC-9539-F930-8AA3-53541D3EFE62}"/>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0E878554-B4E4-0FC1-2ACF-AB6A47DFA8A7}"/>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9EB5361D-9DA4-8F55-F52C-967A01BA7200}"/>
              </a:ext>
            </a:extLst>
          </p:cNvPr>
          <p:cNvSpPr txBox="1"/>
          <p:nvPr/>
        </p:nvSpPr>
        <p:spPr>
          <a:xfrm>
            <a:off x="762000" y="525168"/>
            <a:ext cx="6537699" cy="1231106"/>
          </a:xfrm>
          <a:prstGeom prst="rect">
            <a:avLst/>
          </a:prstGeom>
        </p:spPr>
        <p:txBody>
          <a:bodyPr lIns="0" tIns="0" rIns="0" bIns="0" rtlCol="0" anchor="t">
            <a:spAutoFit/>
          </a:bodyPr>
          <a:lstStyle/>
          <a:p>
            <a:r>
              <a:rPr lang="en-US" sz="8000" b="1" i="0" dirty="0">
                <a:solidFill>
                  <a:schemeClr val="bg1"/>
                </a:solidFill>
                <a:effectLst/>
                <a:latin typeface="Bebas Neue Cyrillic" panose="020B0604020202020204" charset="0"/>
              </a:rPr>
              <a:t>Custom CNN</a:t>
            </a:r>
            <a:endParaRPr lang="en-US" sz="8000" b="1" dirty="0">
              <a:solidFill>
                <a:schemeClr val="bg1"/>
              </a:solidFill>
              <a:latin typeface="Bebas Neue Cyrillic" panose="020B0604020202020204" charset="0"/>
            </a:endParaRPr>
          </a:p>
        </p:txBody>
      </p:sp>
      <p:sp>
        <p:nvSpPr>
          <p:cNvPr id="40" name="Rectangle 1">
            <a:extLst>
              <a:ext uri="{FF2B5EF4-FFF2-40B4-BE49-F238E27FC236}">
                <a16:creationId xmlns:a16="http://schemas.microsoft.com/office/drawing/2014/main" id="{C81C6D00-483B-4097-456A-08B5AD10FB5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196D5308-AE85-D57A-1203-4537D99F045F}"/>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5F433304-E306-B0BA-7FF3-A9DE259A007B}"/>
              </a:ext>
            </a:extLst>
          </p:cNvPr>
          <p:cNvSpPr txBox="1"/>
          <p:nvPr/>
        </p:nvSpPr>
        <p:spPr>
          <a:xfrm>
            <a:off x="762000" y="2125094"/>
            <a:ext cx="1524000" cy="584775"/>
          </a:xfrm>
          <a:prstGeom prst="rect">
            <a:avLst/>
          </a:prstGeom>
          <a:noFill/>
        </p:spPr>
        <p:txBody>
          <a:bodyPr wrap="square">
            <a:spAutoFit/>
          </a:bodyPr>
          <a:lstStyle/>
          <a:p>
            <a:r>
              <a:rPr lang="en-US" sz="3200" b="1" dirty="0">
                <a:solidFill>
                  <a:schemeClr val="bg1"/>
                </a:solidFill>
              </a:rPr>
              <a:t>Results:</a:t>
            </a:r>
          </a:p>
        </p:txBody>
      </p:sp>
      <p:pic>
        <p:nvPicPr>
          <p:cNvPr id="34" name="Picture 33" descr="A diagram of different emotions&#10;&#10;Description automatically generated with medium confidence">
            <a:extLst>
              <a:ext uri="{FF2B5EF4-FFF2-40B4-BE49-F238E27FC236}">
                <a16:creationId xmlns:a16="http://schemas.microsoft.com/office/drawing/2014/main" id="{27223FED-3653-7B73-4A0F-4EA18002E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7105" y="2223649"/>
            <a:ext cx="8273789" cy="5839702"/>
          </a:xfrm>
          <a:prstGeom prst="rect">
            <a:avLst/>
          </a:prstGeom>
        </p:spPr>
      </p:pic>
      <p:sp>
        <p:nvSpPr>
          <p:cNvPr id="5" name="Rectangle 4">
            <a:hlinkClick r:id="rId3" action="ppaction://hlinksldjump"/>
            <a:extLst>
              <a:ext uri="{FF2B5EF4-FFF2-40B4-BE49-F238E27FC236}">
                <a16:creationId xmlns:a16="http://schemas.microsoft.com/office/drawing/2014/main" id="{AD6923DA-347E-29EA-F2CC-CF0B93435491}"/>
              </a:ext>
            </a:extLst>
          </p:cNvPr>
          <p:cNvSpPr/>
          <p:nvPr/>
        </p:nvSpPr>
        <p:spPr>
          <a:xfrm>
            <a:off x="0" y="4305300"/>
            <a:ext cx="3818960" cy="5935980"/>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4199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82F43C-1A1F-0D68-F4D6-CA901AB51A5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53B43D4-D76F-19A2-489E-343834EABBC1}"/>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09554946-FAE4-C92C-B25A-D35C38BEC5DA}"/>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AC30D45C-8E9C-1323-1BD2-11CD9BA61B65}"/>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5E8D3D40-EF23-6728-1328-B37AAA754DFE}"/>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68D81115-1E4B-8CF5-576F-E68596FB3661}"/>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4E5334C7-9D13-4346-1908-F6A5CE491252}"/>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432FBD11-EEBC-3378-8AD1-8CF328A6EA6A}"/>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06AF0961-A015-839C-C1FE-9FB6488A477E}"/>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5EBC2F99-A714-D389-B52F-29BF3FC6684E}"/>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94A5D8B3-48BE-11BB-99E3-26CB91C35474}"/>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A389D94F-693E-55ED-661B-2B2CF5A00753}"/>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14</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A8136481-A021-6143-5756-11BA8CAAFF12}"/>
              </a:ext>
            </a:extLst>
          </p:cNvPr>
          <p:cNvGrpSpPr/>
          <p:nvPr/>
        </p:nvGrpSpPr>
        <p:grpSpPr>
          <a:xfrm>
            <a:off x="764680" y="1759948"/>
            <a:ext cx="2905234" cy="45719"/>
            <a:chOff x="0" y="0"/>
            <a:chExt cx="462932" cy="12543"/>
          </a:xfrm>
        </p:grpSpPr>
        <p:sp>
          <p:nvSpPr>
            <p:cNvPr id="21" name="Freeform 21">
              <a:extLst>
                <a:ext uri="{FF2B5EF4-FFF2-40B4-BE49-F238E27FC236}">
                  <a16:creationId xmlns:a16="http://schemas.microsoft.com/office/drawing/2014/main" id="{7104B70A-E4FE-CDE9-560A-AED25F1EF479}"/>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36298164-E80D-8BDD-EE32-96CA5A2146D0}"/>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9DEF8671-458C-E6AF-99DD-68BFEB0AB575}"/>
              </a:ext>
            </a:extLst>
          </p:cNvPr>
          <p:cNvSpPr txBox="1"/>
          <p:nvPr/>
        </p:nvSpPr>
        <p:spPr>
          <a:xfrm>
            <a:off x="762000" y="525168"/>
            <a:ext cx="6537699" cy="1231106"/>
          </a:xfrm>
          <a:prstGeom prst="rect">
            <a:avLst/>
          </a:prstGeom>
        </p:spPr>
        <p:txBody>
          <a:bodyPr lIns="0" tIns="0" rIns="0" bIns="0" rtlCol="0" anchor="t">
            <a:spAutoFit/>
          </a:bodyPr>
          <a:lstStyle/>
          <a:p>
            <a:r>
              <a:rPr lang="en-US" sz="8000" b="1" i="0" dirty="0">
                <a:solidFill>
                  <a:schemeClr val="bg1"/>
                </a:solidFill>
                <a:effectLst/>
                <a:latin typeface="Bebas Neue Cyrillic" panose="020B0604020202020204" charset="0"/>
              </a:rPr>
              <a:t>Custom CNN</a:t>
            </a:r>
            <a:endParaRPr lang="en-US" sz="8000" b="1" dirty="0">
              <a:solidFill>
                <a:schemeClr val="bg1"/>
              </a:solidFill>
              <a:latin typeface="Bebas Neue Cyrillic" panose="020B0604020202020204" charset="0"/>
            </a:endParaRPr>
          </a:p>
        </p:txBody>
      </p:sp>
      <p:sp>
        <p:nvSpPr>
          <p:cNvPr id="40" name="Rectangle 1">
            <a:extLst>
              <a:ext uri="{FF2B5EF4-FFF2-40B4-BE49-F238E27FC236}">
                <a16:creationId xmlns:a16="http://schemas.microsoft.com/office/drawing/2014/main" id="{348ECEFD-CDF4-9F24-A3F3-DC6AFBE0FA7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798F81DC-2585-59A5-7404-D990E9FF452F}"/>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231A4AC3-C41B-0248-91BE-967F8580DFAC}"/>
              </a:ext>
            </a:extLst>
          </p:cNvPr>
          <p:cNvSpPr txBox="1"/>
          <p:nvPr/>
        </p:nvSpPr>
        <p:spPr>
          <a:xfrm>
            <a:off x="762000" y="2125094"/>
            <a:ext cx="1524000" cy="584775"/>
          </a:xfrm>
          <a:prstGeom prst="rect">
            <a:avLst/>
          </a:prstGeom>
          <a:noFill/>
        </p:spPr>
        <p:txBody>
          <a:bodyPr wrap="square">
            <a:spAutoFit/>
          </a:bodyPr>
          <a:lstStyle/>
          <a:p>
            <a:r>
              <a:rPr lang="en-US" sz="3200" b="1" dirty="0">
                <a:solidFill>
                  <a:schemeClr val="bg1"/>
                </a:solidFill>
              </a:rPr>
              <a:t>Results:</a:t>
            </a:r>
          </a:p>
        </p:txBody>
      </p:sp>
      <p:pic>
        <p:nvPicPr>
          <p:cNvPr id="38" name="Picture 37" descr="A black background with white text&#10;&#10;Description automatically generated">
            <a:extLst>
              <a:ext uri="{FF2B5EF4-FFF2-40B4-BE49-F238E27FC236}">
                <a16:creationId xmlns:a16="http://schemas.microsoft.com/office/drawing/2014/main" id="{F6C867BE-B8ED-0B8C-B34E-595CD6492AA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592015" y="2933700"/>
            <a:ext cx="7408769" cy="4848780"/>
          </a:xfrm>
          <a:prstGeom prst="rect">
            <a:avLst/>
          </a:prstGeom>
        </p:spPr>
      </p:pic>
      <p:sp>
        <p:nvSpPr>
          <p:cNvPr id="5" name="Rectangle 4">
            <a:hlinkClick r:id="rId4" action="ppaction://hlinksldjump"/>
            <a:extLst>
              <a:ext uri="{FF2B5EF4-FFF2-40B4-BE49-F238E27FC236}">
                <a16:creationId xmlns:a16="http://schemas.microsoft.com/office/drawing/2014/main" id="{70336C83-C4BB-707A-D12A-B31D2733119E}"/>
              </a:ext>
            </a:extLst>
          </p:cNvPr>
          <p:cNvSpPr/>
          <p:nvPr/>
        </p:nvSpPr>
        <p:spPr>
          <a:xfrm>
            <a:off x="0" y="4305300"/>
            <a:ext cx="3818960" cy="5935980"/>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6725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3A1DEA-9AA7-44BD-9169-775576D93D9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9F27552-28CB-D18B-8CCB-274039E64996}"/>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5A40BAA4-1E8D-6649-4DE8-EFD7EE58CA07}"/>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F3B383C6-00BA-CDF1-5547-AF2D55C46DEA}"/>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88C554D2-806A-C2BC-0B41-40245093515E}"/>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6345E8F9-2AAE-F8BD-1F19-21B789447483}"/>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28ACD775-E7F8-BC78-556B-C82EDF7F530B}"/>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77E4D7AF-F5C1-8884-71BA-D14BA3F4C283}"/>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E69BC106-BA7F-552D-577A-85B033E4710A}"/>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31666CF7-A2E9-E7A4-0C67-F053FB64D65A}"/>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EEDDACA2-9997-D2E0-2F3B-2A4A75D9AB09}"/>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5B282FDA-8391-6015-87EC-A31604947028}"/>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14</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F3C104B5-5E9B-BDA0-A8DE-21CC24261592}"/>
              </a:ext>
            </a:extLst>
          </p:cNvPr>
          <p:cNvGrpSpPr/>
          <p:nvPr/>
        </p:nvGrpSpPr>
        <p:grpSpPr>
          <a:xfrm>
            <a:off x="764680" y="1759948"/>
            <a:ext cx="2905234" cy="45719"/>
            <a:chOff x="0" y="0"/>
            <a:chExt cx="462932" cy="12543"/>
          </a:xfrm>
        </p:grpSpPr>
        <p:sp>
          <p:nvSpPr>
            <p:cNvPr id="21" name="Freeform 21">
              <a:extLst>
                <a:ext uri="{FF2B5EF4-FFF2-40B4-BE49-F238E27FC236}">
                  <a16:creationId xmlns:a16="http://schemas.microsoft.com/office/drawing/2014/main" id="{1C35FB04-DD3E-95AD-51C6-39320E375530}"/>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FBD9AD5A-8A7F-F234-B95A-7E05A98CFE3E}"/>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F5480F32-DC48-EDD2-6C96-07EE335F378F}"/>
              </a:ext>
            </a:extLst>
          </p:cNvPr>
          <p:cNvSpPr txBox="1"/>
          <p:nvPr/>
        </p:nvSpPr>
        <p:spPr>
          <a:xfrm>
            <a:off x="762000" y="525168"/>
            <a:ext cx="6537699" cy="1231106"/>
          </a:xfrm>
          <a:prstGeom prst="rect">
            <a:avLst/>
          </a:prstGeom>
        </p:spPr>
        <p:txBody>
          <a:bodyPr lIns="0" tIns="0" rIns="0" bIns="0" rtlCol="0" anchor="t">
            <a:spAutoFit/>
          </a:bodyPr>
          <a:lstStyle/>
          <a:p>
            <a:r>
              <a:rPr lang="en-US" sz="8000" b="1" i="0" dirty="0">
                <a:solidFill>
                  <a:schemeClr val="bg1"/>
                </a:solidFill>
                <a:effectLst/>
                <a:latin typeface="Bebas Neue Cyrillic" panose="020B0604020202020204" charset="0"/>
              </a:rPr>
              <a:t>Custom CNN</a:t>
            </a:r>
            <a:endParaRPr lang="en-US" sz="8000" b="1" dirty="0">
              <a:solidFill>
                <a:schemeClr val="bg1"/>
              </a:solidFill>
              <a:latin typeface="Bebas Neue Cyrillic" panose="020B0604020202020204" charset="0"/>
            </a:endParaRPr>
          </a:p>
        </p:txBody>
      </p:sp>
      <p:sp>
        <p:nvSpPr>
          <p:cNvPr id="40" name="Rectangle 1">
            <a:extLst>
              <a:ext uri="{FF2B5EF4-FFF2-40B4-BE49-F238E27FC236}">
                <a16:creationId xmlns:a16="http://schemas.microsoft.com/office/drawing/2014/main" id="{F33BAC5C-46F0-3EE0-08A9-3A1791DFD70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39A15CE4-4344-A71E-23B1-EF7918FB7E28}"/>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0C59C8A0-44AD-5C6E-2CF0-3007D894482B}"/>
              </a:ext>
            </a:extLst>
          </p:cNvPr>
          <p:cNvSpPr txBox="1"/>
          <p:nvPr/>
        </p:nvSpPr>
        <p:spPr>
          <a:xfrm>
            <a:off x="762000" y="2125094"/>
            <a:ext cx="1524000" cy="584775"/>
          </a:xfrm>
          <a:prstGeom prst="rect">
            <a:avLst/>
          </a:prstGeom>
          <a:noFill/>
        </p:spPr>
        <p:txBody>
          <a:bodyPr wrap="square">
            <a:spAutoFit/>
          </a:bodyPr>
          <a:lstStyle/>
          <a:p>
            <a:r>
              <a:rPr lang="en-US" sz="3200" b="1" dirty="0">
                <a:solidFill>
                  <a:schemeClr val="bg1"/>
                </a:solidFill>
              </a:rPr>
              <a:t>Results:</a:t>
            </a:r>
          </a:p>
        </p:txBody>
      </p:sp>
      <p:pic>
        <p:nvPicPr>
          <p:cNvPr id="42" name="Picture 41" descr="A screenshot of a phone&#10;&#10;Description automatically generated">
            <a:extLst>
              <a:ext uri="{FF2B5EF4-FFF2-40B4-BE49-F238E27FC236}">
                <a16:creationId xmlns:a16="http://schemas.microsoft.com/office/drawing/2014/main" id="{5DC1B98D-0F73-7A81-E5D0-66B5EDD3CB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0151" y="2857500"/>
            <a:ext cx="5867697" cy="5196354"/>
          </a:xfrm>
          <a:prstGeom prst="rect">
            <a:avLst/>
          </a:prstGeom>
        </p:spPr>
      </p:pic>
      <p:sp>
        <p:nvSpPr>
          <p:cNvPr id="5" name="Rectangle 4">
            <a:hlinkClick r:id="rId3" action="ppaction://hlinksldjump"/>
            <a:extLst>
              <a:ext uri="{FF2B5EF4-FFF2-40B4-BE49-F238E27FC236}">
                <a16:creationId xmlns:a16="http://schemas.microsoft.com/office/drawing/2014/main" id="{87946D05-96BB-FCC3-20FB-5AEEA2D33A00}"/>
              </a:ext>
            </a:extLst>
          </p:cNvPr>
          <p:cNvSpPr/>
          <p:nvPr/>
        </p:nvSpPr>
        <p:spPr>
          <a:xfrm>
            <a:off x="0" y="4305300"/>
            <a:ext cx="3818960" cy="5935980"/>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1485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877157-31E3-8CB9-D2F1-FDDD96CAA224}"/>
            </a:ext>
          </a:extLst>
        </p:cNvPr>
        <p:cNvGrpSpPr/>
        <p:nvPr/>
      </p:nvGrpSpPr>
      <p:grpSpPr>
        <a:xfrm>
          <a:off x="0" y="0"/>
          <a:ext cx="0" cy="0"/>
          <a:chOff x="0" y="0"/>
          <a:chExt cx="0" cy="0"/>
        </a:xfrm>
      </p:grpSpPr>
      <p:sp>
        <p:nvSpPr>
          <p:cNvPr id="5" name="Rectangle 4">
            <a:hlinkClick r:id="rId2" action="ppaction://hlinksldjump"/>
            <a:extLst>
              <a:ext uri="{FF2B5EF4-FFF2-40B4-BE49-F238E27FC236}">
                <a16:creationId xmlns:a16="http://schemas.microsoft.com/office/drawing/2014/main" id="{AE8D6990-B17E-5E1D-D981-2FBB8D1AD802}"/>
              </a:ext>
            </a:extLst>
          </p:cNvPr>
          <p:cNvSpPr/>
          <p:nvPr/>
        </p:nvSpPr>
        <p:spPr>
          <a:xfrm>
            <a:off x="0" y="4305300"/>
            <a:ext cx="3818960" cy="5935980"/>
          </a:xfrm>
          <a:prstGeom prst="rect">
            <a:avLst/>
          </a:prstGeom>
          <a:solidFill>
            <a:srgbClr val="000938"/>
          </a:solidFill>
          <a:ln>
            <a:solidFill>
              <a:srgbClr val="0009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2">
            <a:extLst>
              <a:ext uri="{FF2B5EF4-FFF2-40B4-BE49-F238E27FC236}">
                <a16:creationId xmlns:a16="http://schemas.microsoft.com/office/drawing/2014/main" id="{BCC61112-B44C-748F-66C2-BEA1C73F6BC2}"/>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13334741-CC1B-DD02-AF78-4C067084F685}"/>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82D71D76-D028-242E-FF7B-BEC770D28E35}"/>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CD30D71B-228D-820A-1281-ABFEE7AA24D1}"/>
              </a:ext>
            </a:extLst>
          </p:cNvPr>
          <p:cNvGrpSpPr/>
          <p:nvPr/>
        </p:nvGrpSpPr>
        <p:grpSpPr>
          <a:xfrm>
            <a:off x="17259301" y="1"/>
            <a:ext cx="1028700" cy="1028700"/>
            <a:chOff x="0" y="0"/>
            <a:chExt cx="270933" cy="270933"/>
          </a:xfrm>
        </p:grpSpPr>
        <p:sp>
          <p:nvSpPr>
            <p:cNvPr id="7" name="Freeform 7">
              <a:extLst>
                <a:ext uri="{FF2B5EF4-FFF2-40B4-BE49-F238E27FC236}">
                  <a16:creationId xmlns:a16="http://schemas.microsoft.com/office/drawing/2014/main" id="{1184FEF1-5F56-6AF0-77EF-B458538FC33E}"/>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a:extLst>
                <a:ext uri="{FF2B5EF4-FFF2-40B4-BE49-F238E27FC236}">
                  <a16:creationId xmlns:a16="http://schemas.microsoft.com/office/drawing/2014/main" id="{B85D6744-A5EA-08A9-8819-A9604AED5356}"/>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D870CDDD-49E9-F6B9-5A43-2E9B21E1C20A}"/>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a:extLst>
              <a:ext uri="{FF2B5EF4-FFF2-40B4-BE49-F238E27FC236}">
                <a16:creationId xmlns:a16="http://schemas.microsoft.com/office/drawing/2014/main" id="{669E2857-BE99-666E-C131-4D4D0A3EC4B1}"/>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a:extLst>
              <a:ext uri="{FF2B5EF4-FFF2-40B4-BE49-F238E27FC236}">
                <a16:creationId xmlns:a16="http://schemas.microsoft.com/office/drawing/2014/main" id="{68CD0E1B-83FE-D32B-0F60-F2A4B848C73B}"/>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a:extLst>
              <a:ext uri="{FF2B5EF4-FFF2-40B4-BE49-F238E27FC236}">
                <a16:creationId xmlns:a16="http://schemas.microsoft.com/office/drawing/2014/main" id="{6765E90D-ABBF-36C4-5D84-093BBA79ACB3}"/>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a:extLst>
              <a:ext uri="{FF2B5EF4-FFF2-40B4-BE49-F238E27FC236}">
                <a16:creationId xmlns:a16="http://schemas.microsoft.com/office/drawing/2014/main" id="{C02BE8B8-0469-3749-1604-6DEAFCC3235A}"/>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14</a:t>
            </a:r>
            <a:endParaRPr lang="en-US" sz="1400" b="1" dirty="0">
              <a:solidFill>
                <a:srgbClr val="FFFFFF"/>
              </a:solidFill>
              <a:latin typeface="Open Sans Bold"/>
              <a:ea typeface="Open Sans Bold"/>
              <a:cs typeface="Open Sans Bold"/>
              <a:sym typeface="Open Sans Bold"/>
            </a:endParaRPr>
          </a:p>
        </p:txBody>
      </p:sp>
      <p:grpSp>
        <p:nvGrpSpPr>
          <p:cNvPr id="20" name="Group 20">
            <a:extLst>
              <a:ext uri="{FF2B5EF4-FFF2-40B4-BE49-F238E27FC236}">
                <a16:creationId xmlns:a16="http://schemas.microsoft.com/office/drawing/2014/main" id="{FE481229-E9DF-68EA-97DF-4F8EC7A96207}"/>
              </a:ext>
            </a:extLst>
          </p:cNvPr>
          <p:cNvGrpSpPr/>
          <p:nvPr/>
        </p:nvGrpSpPr>
        <p:grpSpPr>
          <a:xfrm>
            <a:off x="764680" y="1759948"/>
            <a:ext cx="2905234" cy="45719"/>
            <a:chOff x="0" y="0"/>
            <a:chExt cx="462932" cy="12543"/>
          </a:xfrm>
        </p:grpSpPr>
        <p:sp>
          <p:nvSpPr>
            <p:cNvPr id="21" name="Freeform 21">
              <a:extLst>
                <a:ext uri="{FF2B5EF4-FFF2-40B4-BE49-F238E27FC236}">
                  <a16:creationId xmlns:a16="http://schemas.microsoft.com/office/drawing/2014/main" id="{543561B6-47CD-9EBA-9862-F73F177254CF}"/>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a:extLst>
                <a:ext uri="{FF2B5EF4-FFF2-40B4-BE49-F238E27FC236}">
                  <a16:creationId xmlns:a16="http://schemas.microsoft.com/office/drawing/2014/main" id="{C0BB9E13-850C-D4CE-0631-3242FE94A4BE}"/>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35" name="TextBox 15">
            <a:extLst>
              <a:ext uri="{FF2B5EF4-FFF2-40B4-BE49-F238E27FC236}">
                <a16:creationId xmlns:a16="http://schemas.microsoft.com/office/drawing/2014/main" id="{F62F3AC9-E9FB-E4D3-095F-2944DF720714}"/>
              </a:ext>
            </a:extLst>
          </p:cNvPr>
          <p:cNvSpPr txBox="1"/>
          <p:nvPr/>
        </p:nvSpPr>
        <p:spPr>
          <a:xfrm>
            <a:off x="762000" y="525168"/>
            <a:ext cx="6537699" cy="1231106"/>
          </a:xfrm>
          <a:prstGeom prst="rect">
            <a:avLst/>
          </a:prstGeom>
        </p:spPr>
        <p:txBody>
          <a:bodyPr lIns="0" tIns="0" rIns="0" bIns="0" rtlCol="0" anchor="t">
            <a:spAutoFit/>
          </a:bodyPr>
          <a:lstStyle/>
          <a:p>
            <a:r>
              <a:rPr lang="en-US" sz="8000" b="1" i="0" dirty="0">
                <a:solidFill>
                  <a:schemeClr val="bg1"/>
                </a:solidFill>
                <a:effectLst/>
                <a:latin typeface="Bebas Neue Cyrillic" panose="020B0604020202020204" charset="0"/>
              </a:rPr>
              <a:t>Custom CNN</a:t>
            </a:r>
            <a:endParaRPr lang="en-US" sz="8000" b="1" dirty="0">
              <a:solidFill>
                <a:schemeClr val="bg1"/>
              </a:solidFill>
              <a:latin typeface="Bebas Neue Cyrillic" panose="020B0604020202020204" charset="0"/>
            </a:endParaRPr>
          </a:p>
        </p:txBody>
      </p:sp>
      <p:sp>
        <p:nvSpPr>
          <p:cNvPr id="40" name="Rectangle 1">
            <a:extLst>
              <a:ext uri="{FF2B5EF4-FFF2-40B4-BE49-F238E27FC236}">
                <a16:creationId xmlns:a16="http://schemas.microsoft.com/office/drawing/2014/main" id="{C3B9467E-DC9C-DEC3-4B72-D910CCE35EE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2">
            <a:extLst>
              <a:ext uri="{FF2B5EF4-FFF2-40B4-BE49-F238E27FC236}">
                <a16:creationId xmlns:a16="http://schemas.microsoft.com/office/drawing/2014/main" id="{3B77A9B8-834E-C110-C60F-5381E80E4993}"/>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TextBox 36">
            <a:extLst>
              <a:ext uri="{FF2B5EF4-FFF2-40B4-BE49-F238E27FC236}">
                <a16:creationId xmlns:a16="http://schemas.microsoft.com/office/drawing/2014/main" id="{EFCA463D-DE3E-F754-1434-FBEBB415E245}"/>
              </a:ext>
            </a:extLst>
          </p:cNvPr>
          <p:cNvSpPr txBox="1"/>
          <p:nvPr/>
        </p:nvSpPr>
        <p:spPr>
          <a:xfrm>
            <a:off x="762000" y="2125094"/>
            <a:ext cx="1524000" cy="584775"/>
          </a:xfrm>
          <a:prstGeom prst="rect">
            <a:avLst/>
          </a:prstGeom>
          <a:noFill/>
        </p:spPr>
        <p:txBody>
          <a:bodyPr wrap="square">
            <a:spAutoFit/>
          </a:bodyPr>
          <a:lstStyle/>
          <a:p>
            <a:r>
              <a:rPr lang="en-US" sz="3200" b="1" dirty="0">
                <a:solidFill>
                  <a:schemeClr val="bg1"/>
                </a:solidFill>
              </a:rPr>
              <a:t>Results:</a:t>
            </a:r>
          </a:p>
        </p:txBody>
      </p:sp>
      <p:pic>
        <p:nvPicPr>
          <p:cNvPr id="46" name="Picture 45" descr="A collage of a person's face&#10;&#10;Description automatically generated">
            <a:extLst>
              <a:ext uri="{FF2B5EF4-FFF2-40B4-BE49-F238E27FC236}">
                <a16:creationId xmlns:a16="http://schemas.microsoft.com/office/drawing/2014/main" id="{325D5F36-BCF9-4DF1-F428-ED416CF79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6826" y="3390900"/>
            <a:ext cx="14222767" cy="2164270"/>
          </a:xfrm>
          <a:prstGeom prst="rect">
            <a:avLst/>
          </a:prstGeom>
        </p:spPr>
      </p:pic>
      <p:pic>
        <p:nvPicPr>
          <p:cNvPr id="48" name="Picture 47" descr="A close up of a person and person&#10;&#10;Description automatically generated">
            <a:extLst>
              <a:ext uri="{FF2B5EF4-FFF2-40B4-BE49-F238E27FC236}">
                <a16:creationId xmlns:a16="http://schemas.microsoft.com/office/drawing/2014/main" id="{7C15A407-2CEB-7D26-4E7B-77EEA0D5EF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73397" y="6236201"/>
            <a:ext cx="10011651" cy="1885006"/>
          </a:xfrm>
          <a:prstGeom prst="rect">
            <a:avLst/>
          </a:prstGeom>
        </p:spPr>
      </p:pic>
    </p:spTree>
    <p:extLst>
      <p:ext uri="{BB962C8B-B14F-4D97-AF65-F5344CB8AC3E}">
        <p14:creationId xmlns:p14="http://schemas.microsoft.com/office/powerpoint/2010/main" val="35697636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8">
            <a:extLst>
              <a:ext uri="{FF2B5EF4-FFF2-40B4-BE49-F238E27FC236}">
                <a16:creationId xmlns:a16="http://schemas.microsoft.com/office/drawing/2014/main" id="{0018F2F3-D813-AE7C-898A-8BB76C1C5E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31" t="9796" r="8776" b="8095"/>
          <a:stretch/>
        </p:blipFill>
        <p:spPr bwMode="auto">
          <a:xfrm flipH="1">
            <a:off x="1904998" y="1943100"/>
            <a:ext cx="15837217" cy="83439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p:cNvGrpSpPr/>
          <p:nvPr/>
        </p:nvGrpSpPr>
        <p:grpSpPr>
          <a:xfrm>
            <a:off x="17742216" y="7517957"/>
            <a:ext cx="47625" cy="1740345"/>
            <a:chOff x="0" y="0"/>
            <a:chExt cx="12543" cy="458362"/>
          </a:xfrm>
        </p:grpSpPr>
        <p:sp>
          <p:nvSpPr>
            <p:cNvPr id="3" name="Freeform 3"/>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59301" y="1"/>
            <a:ext cx="1028700" cy="1028700"/>
            <a:chOff x="0" y="0"/>
            <a:chExt cx="270933" cy="270933"/>
          </a:xfrm>
        </p:grpSpPr>
        <p:sp>
          <p:nvSpPr>
            <p:cNvPr id="7" name="Freeform 7"/>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15</a:t>
            </a:r>
            <a:endParaRPr lang="en-US" sz="1400" b="1" dirty="0">
              <a:solidFill>
                <a:srgbClr val="FFFFFF"/>
              </a:solidFill>
              <a:latin typeface="Open Sans Bold"/>
              <a:ea typeface="Open Sans Bold"/>
              <a:cs typeface="Open Sans Bold"/>
              <a:sym typeface="Open Sans Bold"/>
            </a:endParaRPr>
          </a:p>
        </p:txBody>
      </p:sp>
      <p:sp>
        <p:nvSpPr>
          <p:cNvPr id="19" name="TextBox 19"/>
          <p:cNvSpPr txBox="1"/>
          <p:nvPr/>
        </p:nvSpPr>
        <p:spPr>
          <a:xfrm>
            <a:off x="1685858" y="1256785"/>
            <a:ext cx="9753600" cy="961802"/>
          </a:xfrm>
          <a:prstGeom prst="rect">
            <a:avLst/>
          </a:prstGeom>
        </p:spPr>
        <p:txBody>
          <a:bodyPr wrap="square" lIns="0" tIns="0" rIns="0" bIns="0" rtlCol="0" anchor="t">
            <a:spAutoFit/>
          </a:bodyPr>
          <a:lstStyle/>
          <a:p>
            <a:pPr>
              <a:lnSpc>
                <a:spcPts val="7462"/>
              </a:lnSpc>
            </a:pPr>
            <a:r>
              <a:rPr lang="en-US" sz="7389" dirty="0">
                <a:solidFill>
                  <a:srgbClr val="FFFFFF"/>
                </a:solidFill>
                <a:latin typeface="Bebas Neue Cyrillic"/>
                <a:ea typeface="Bebas Neue Cyrillic"/>
                <a:cs typeface="Bebas Neue Cyrillic"/>
                <a:sym typeface="Bebas Neue Cyrillic"/>
              </a:rPr>
              <a:t>comparison</a:t>
            </a:r>
          </a:p>
        </p:txBody>
      </p:sp>
      <p:grpSp>
        <p:nvGrpSpPr>
          <p:cNvPr id="20" name="Group 20"/>
          <p:cNvGrpSpPr/>
          <p:nvPr/>
        </p:nvGrpSpPr>
        <p:grpSpPr>
          <a:xfrm>
            <a:off x="1905000" y="2242121"/>
            <a:ext cx="1757695" cy="47625"/>
            <a:chOff x="0" y="0"/>
            <a:chExt cx="462932" cy="12543"/>
          </a:xfrm>
        </p:grpSpPr>
        <p:sp>
          <p:nvSpPr>
            <p:cNvPr id="21" name="Freeform 21"/>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22" name="TextBox 22"/>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graphicFrame>
        <p:nvGraphicFramePr>
          <p:cNvPr id="25" name="Google Shape;142;p19">
            <a:extLst>
              <a:ext uri="{FF2B5EF4-FFF2-40B4-BE49-F238E27FC236}">
                <a16:creationId xmlns:a16="http://schemas.microsoft.com/office/drawing/2014/main" id="{C11D93D1-A492-9A9B-87F0-5867350EBE8E}"/>
              </a:ext>
            </a:extLst>
          </p:cNvPr>
          <p:cNvGraphicFramePr/>
          <p:nvPr>
            <p:extLst>
              <p:ext uri="{D42A27DB-BD31-4B8C-83A1-F6EECF244321}">
                <p14:modId xmlns:p14="http://schemas.microsoft.com/office/powerpoint/2010/main" val="1166365411"/>
              </p:ext>
            </p:extLst>
          </p:nvPr>
        </p:nvGraphicFramePr>
        <p:xfrm>
          <a:off x="2457453" y="2771267"/>
          <a:ext cx="14435486" cy="6733835"/>
        </p:xfrm>
        <a:graphic>
          <a:graphicData uri="http://schemas.openxmlformats.org/drawingml/2006/table">
            <a:tbl>
              <a:tblPr>
                <a:tableStyleId>{68D230F3-CF80-4859-8CE7-A43EE81993B5}</a:tableStyleId>
              </a:tblPr>
              <a:tblGrid>
                <a:gridCol w="2088391">
                  <a:extLst>
                    <a:ext uri="{9D8B030D-6E8A-4147-A177-3AD203B41FA5}">
                      <a16:colId xmlns:a16="http://schemas.microsoft.com/office/drawing/2014/main" val="294460438"/>
                    </a:ext>
                  </a:extLst>
                </a:gridCol>
                <a:gridCol w="2538985">
                  <a:extLst>
                    <a:ext uri="{9D8B030D-6E8A-4147-A177-3AD203B41FA5}">
                      <a16:colId xmlns:a16="http://schemas.microsoft.com/office/drawing/2014/main" val="1155026511"/>
                    </a:ext>
                  </a:extLst>
                </a:gridCol>
                <a:gridCol w="1545726">
                  <a:extLst>
                    <a:ext uri="{9D8B030D-6E8A-4147-A177-3AD203B41FA5}">
                      <a16:colId xmlns:a16="http://schemas.microsoft.com/office/drawing/2014/main" val="3018193557"/>
                    </a:ext>
                  </a:extLst>
                </a:gridCol>
                <a:gridCol w="2107807">
                  <a:extLst>
                    <a:ext uri="{9D8B030D-6E8A-4147-A177-3AD203B41FA5}">
                      <a16:colId xmlns:a16="http://schemas.microsoft.com/office/drawing/2014/main" val="20000"/>
                    </a:ext>
                  </a:extLst>
                </a:gridCol>
                <a:gridCol w="1756506">
                  <a:extLst>
                    <a:ext uri="{9D8B030D-6E8A-4147-A177-3AD203B41FA5}">
                      <a16:colId xmlns:a16="http://schemas.microsoft.com/office/drawing/2014/main" val="20001"/>
                    </a:ext>
                  </a:extLst>
                </a:gridCol>
                <a:gridCol w="1686247">
                  <a:extLst>
                    <a:ext uri="{9D8B030D-6E8A-4147-A177-3AD203B41FA5}">
                      <a16:colId xmlns:a16="http://schemas.microsoft.com/office/drawing/2014/main" val="311153412"/>
                    </a:ext>
                  </a:extLst>
                </a:gridCol>
                <a:gridCol w="2711824">
                  <a:extLst>
                    <a:ext uri="{9D8B030D-6E8A-4147-A177-3AD203B41FA5}">
                      <a16:colId xmlns:a16="http://schemas.microsoft.com/office/drawing/2014/main" val="20002"/>
                    </a:ext>
                  </a:extLst>
                </a:gridCol>
              </a:tblGrid>
              <a:tr h="1066697">
                <a:tc>
                  <a:txBody>
                    <a:bodyPr/>
                    <a:lstStyle/>
                    <a:p>
                      <a:pPr marL="0" lvl="0" indent="0" algn="ctr" rtl="0">
                        <a:spcBef>
                          <a:spcPts val="0"/>
                        </a:spcBef>
                        <a:spcAft>
                          <a:spcPts val="0"/>
                        </a:spcAft>
                        <a:buNone/>
                      </a:pPr>
                      <a:r>
                        <a:rPr lang="en-US" sz="3200" b="1" dirty="0">
                          <a:solidFill>
                            <a:schemeClr val="bg1">
                              <a:lumMod val="85000"/>
                            </a:schemeClr>
                          </a:solidFill>
                          <a:sym typeface="Rajdhani"/>
                        </a:rPr>
                        <a:t>MODEL</a:t>
                      </a:r>
                      <a:endParaRPr sz="32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US" sz="2800" b="1" dirty="0">
                          <a:solidFill>
                            <a:schemeClr val="bg1">
                              <a:lumMod val="85000"/>
                            </a:schemeClr>
                          </a:solidFill>
                          <a:sym typeface="Rajdhani"/>
                        </a:rPr>
                        <a:t>Key Techniques Used</a:t>
                      </a:r>
                      <a:endParaRPr sz="28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US" sz="2800" b="1" dirty="0">
                          <a:solidFill>
                            <a:schemeClr val="bg1">
                              <a:lumMod val="85000"/>
                            </a:schemeClr>
                          </a:solidFill>
                          <a:sym typeface="Rajdhani"/>
                        </a:rPr>
                        <a:t>Training Accuracy</a:t>
                      </a:r>
                      <a:endParaRPr sz="28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US" sz="2800" b="1" dirty="0">
                          <a:solidFill>
                            <a:schemeClr val="bg1">
                              <a:lumMod val="85000"/>
                            </a:schemeClr>
                          </a:solidFill>
                          <a:sym typeface="Rajdhani"/>
                        </a:rPr>
                        <a:t>Validation Accuracy</a:t>
                      </a:r>
                      <a:endParaRPr sz="28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US" sz="2800" b="1" dirty="0">
                          <a:solidFill>
                            <a:schemeClr val="bg1">
                              <a:lumMod val="85000"/>
                            </a:schemeClr>
                          </a:solidFill>
                          <a:sym typeface="Rajdhani"/>
                        </a:rPr>
                        <a:t>Test Accuracy</a:t>
                      </a:r>
                      <a:endParaRPr sz="28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US" sz="2800" b="1" dirty="0">
                          <a:solidFill>
                            <a:schemeClr val="bg1">
                              <a:lumMod val="85000"/>
                            </a:schemeClr>
                          </a:solidFill>
                          <a:sym typeface="Rajdhani"/>
                        </a:rPr>
                        <a:t>Epoch</a:t>
                      </a:r>
                      <a:r>
                        <a:rPr lang="en-US" sz="2400" b="1" dirty="0">
                          <a:solidFill>
                            <a:schemeClr val="bg1">
                              <a:lumMod val="85000"/>
                            </a:schemeClr>
                          </a:solidFill>
                          <a:sym typeface="Rajdhani"/>
                        </a:rPr>
                        <a:t> </a:t>
                      </a:r>
                      <a:endParaRPr sz="24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US" sz="3200" b="1" dirty="0">
                          <a:solidFill>
                            <a:schemeClr val="bg1">
                              <a:lumMod val="85000"/>
                            </a:schemeClr>
                          </a:solidFill>
                          <a:sym typeface="Rajdhani"/>
                        </a:rPr>
                        <a:t>Observations</a:t>
                      </a:r>
                      <a:r>
                        <a:rPr lang="en-US" sz="2800" b="1" dirty="0">
                          <a:solidFill>
                            <a:schemeClr val="bg1">
                              <a:lumMod val="85000"/>
                            </a:schemeClr>
                          </a:solidFill>
                          <a:sym typeface="Rajdhani"/>
                        </a:rPr>
                        <a:t> </a:t>
                      </a:r>
                      <a:endParaRPr sz="28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1678492">
                <a:tc>
                  <a:txBody>
                    <a:bodyPr/>
                    <a:lstStyle/>
                    <a:p>
                      <a:pPr marL="139700" lvl="0" indent="0" algn="l" rtl="0">
                        <a:spcBef>
                          <a:spcPts val="0"/>
                        </a:spcBef>
                        <a:spcAft>
                          <a:spcPts val="0"/>
                        </a:spcAft>
                        <a:buClr>
                          <a:schemeClr val="lt2"/>
                        </a:buClr>
                        <a:buSzPts val="1400"/>
                        <a:buFont typeface="Fira Sans Condensed"/>
                        <a:buNone/>
                      </a:pPr>
                      <a:r>
                        <a:rPr lang="en-US" sz="3600" b="1" dirty="0">
                          <a:solidFill>
                            <a:schemeClr val="bg1">
                              <a:lumMod val="85000"/>
                            </a:schemeClr>
                          </a:solidFill>
                          <a:sym typeface="Fira Sans Condensed"/>
                        </a:rPr>
                        <a:t>EfficientNet-B0</a:t>
                      </a:r>
                      <a:endParaRPr sz="3600" b="1"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000" b="0" kern="1200" dirty="0">
                          <a:solidFill>
                            <a:schemeClr val="bg1">
                              <a:lumMod val="85000"/>
                            </a:schemeClr>
                          </a:solidFill>
                          <a:effectLst/>
                        </a:rPr>
                        <a:t>Fine-Tuning, Dropout, Learning Rate Schedule</a:t>
                      </a:r>
                      <a:r>
                        <a:rPr lang="en-US" sz="1800" b="0" kern="1200" dirty="0">
                          <a:solidFill>
                            <a:schemeClr val="bg1">
                              <a:lumMod val="85000"/>
                            </a:schemeClr>
                          </a:solidFill>
                          <a:effectLst/>
                        </a:rPr>
                        <a:t>, </a:t>
                      </a:r>
                      <a:r>
                        <a:rPr lang="en-US" sz="2000" b="0" kern="1200" dirty="0">
                          <a:solidFill>
                            <a:schemeClr val="bg1">
                              <a:lumMod val="85000"/>
                            </a:schemeClr>
                          </a:solidFill>
                          <a:effectLst/>
                        </a:rPr>
                        <a:t>Adam Optimizer, Data Augmentation</a:t>
                      </a:r>
                      <a:endParaRPr sz="20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b="0" kern="1200" dirty="0">
                          <a:solidFill>
                            <a:schemeClr val="bg1">
                              <a:lumMod val="85000"/>
                            </a:schemeClr>
                          </a:solidFill>
                          <a:effectLst/>
                        </a:rPr>
                        <a:t>62.75%</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b="0" kern="1200" dirty="0">
                          <a:solidFill>
                            <a:schemeClr val="bg1">
                              <a:lumMod val="85000"/>
                            </a:schemeClr>
                          </a:solidFill>
                          <a:effectLst/>
                        </a:rPr>
                        <a:t>36.00%</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b="0" kern="1200" dirty="0">
                          <a:solidFill>
                            <a:schemeClr val="bg1">
                              <a:lumMod val="85000"/>
                            </a:schemeClr>
                          </a:solidFill>
                          <a:effectLst/>
                        </a:rPr>
                        <a:t>35.07% </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dirty="0">
                          <a:solidFill>
                            <a:schemeClr val="bg1">
                              <a:lumMod val="85000"/>
                            </a:schemeClr>
                          </a:solidFill>
                          <a:sym typeface="Fira Sans Condensed"/>
                        </a:rPr>
                        <a:t>36</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000" b="0" kern="1200" dirty="0">
                          <a:solidFill>
                            <a:schemeClr val="bg1">
                              <a:lumMod val="85000"/>
                            </a:schemeClr>
                          </a:solidFill>
                          <a:effectLst/>
                        </a:rPr>
                        <a:t>Excellent balance between performance and size.</a:t>
                      </a:r>
                      <a:endParaRPr sz="20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1887678">
                <a:tc>
                  <a:txBody>
                    <a:bodyPr/>
                    <a:lstStyle/>
                    <a:p>
                      <a:pPr marL="139700" lvl="0" indent="0" algn="l" rtl="0">
                        <a:spcBef>
                          <a:spcPts val="0"/>
                        </a:spcBef>
                        <a:spcAft>
                          <a:spcPts val="0"/>
                        </a:spcAft>
                        <a:buClr>
                          <a:schemeClr val="lt2"/>
                        </a:buClr>
                        <a:buSzPts val="1400"/>
                        <a:buFont typeface="Fira Sans Condensed"/>
                        <a:buNone/>
                      </a:pPr>
                      <a:r>
                        <a:rPr lang="en-US" sz="3200" b="1" kern="1200" dirty="0">
                          <a:solidFill>
                            <a:schemeClr val="bg1">
                              <a:lumMod val="85000"/>
                            </a:schemeClr>
                          </a:solidFill>
                          <a:effectLst/>
                        </a:rPr>
                        <a:t>Custom CNN</a:t>
                      </a:r>
                      <a:endParaRPr sz="3200" b="1"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fr-FR" sz="2000" b="0" kern="1200" dirty="0">
                          <a:solidFill>
                            <a:schemeClr val="bg1">
                              <a:lumMod val="85000"/>
                            </a:schemeClr>
                          </a:solidFill>
                          <a:effectLst/>
                        </a:rPr>
                        <a:t>Data Augmentation, BatchNorm, GAP, Back propagation, Dropout</a:t>
                      </a:r>
                      <a:endParaRPr sz="20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b="0" kern="1200" dirty="0">
                          <a:solidFill>
                            <a:schemeClr val="bg1">
                              <a:lumMod val="85000"/>
                            </a:schemeClr>
                          </a:solidFill>
                          <a:effectLst/>
                        </a:rPr>
                        <a:t>63.75% </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b="0" kern="1200" dirty="0">
                          <a:solidFill>
                            <a:schemeClr val="bg1">
                              <a:lumMod val="85000"/>
                            </a:schemeClr>
                          </a:solidFill>
                          <a:effectLst/>
                        </a:rPr>
                        <a:t>38.13% </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b="0" kern="1200" dirty="0">
                          <a:solidFill>
                            <a:schemeClr val="bg1">
                              <a:lumMod val="85000"/>
                            </a:schemeClr>
                          </a:solidFill>
                          <a:effectLst/>
                        </a:rPr>
                        <a:t>38.53%</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39700" lvl="0" indent="0" algn="l" rtl="0">
                        <a:spcBef>
                          <a:spcPts val="0"/>
                        </a:spcBef>
                        <a:spcAft>
                          <a:spcPts val="0"/>
                        </a:spcAft>
                        <a:buClr>
                          <a:schemeClr val="lt2"/>
                        </a:buClr>
                        <a:buSzPts val="1400"/>
                        <a:buFont typeface="Fira Sans Condensed"/>
                        <a:buNone/>
                      </a:pPr>
                      <a:r>
                        <a:rPr lang="en-US" sz="2400" dirty="0">
                          <a:solidFill>
                            <a:schemeClr val="bg1">
                              <a:lumMod val="85000"/>
                            </a:schemeClr>
                          </a:solidFill>
                          <a:sym typeface="Fira Sans Condensed"/>
                        </a:rPr>
                        <a:t>200</a:t>
                      </a:r>
                      <a:endParaRPr sz="2400"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rtl="0" fontAlgn="ctr"/>
                      <a:r>
                        <a:rPr lang="en-US" sz="2000" b="0" kern="1200" dirty="0">
                          <a:solidFill>
                            <a:schemeClr val="bg1">
                              <a:lumMod val="85000"/>
                            </a:schemeClr>
                          </a:solidFill>
                          <a:effectLst/>
                        </a:rPr>
                        <a:t>Acceptable performance with a simple </a:t>
                      </a:r>
                      <a:r>
                        <a:rPr lang="en-US" sz="2000" b="0" kern="1200">
                          <a:solidFill>
                            <a:schemeClr val="bg1">
                              <a:lumMod val="85000"/>
                            </a:schemeClr>
                          </a:solidFill>
                          <a:effectLst/>
                        </a:rPr>
                        <a:t>designedited</a:t>
                      </a:r>
                      <a:endParaRPr lang="en-US" sz="2000" b="0" kern="1200" dirty="0">
                        <a:solidFill>
                          <a:schemeClr val="bg1">
                            <a:lumMod val="85000"/>
                          </a:schemeClr>
                        </a:solidFill>
                        <a:effectLst/>
                      </a:endParaRPr>
                    </a:p>
                    <a:p>
                      <a:br>
                        <a:rPr lang="en-US" sz="1800" b="0" kern="1200" dirty="0">
                          <a:solidFill>
                            <a:schemeClr val="bg1">
                              <a:lumMod val="85000"/>
                            </a:schemeClr>
                          </a:solidFill>
                          <a:effectLst/>
                        </a:rPr>
                      </a:br>
                      <a:endParaRPr dirty="0">
                        <a:solidFill>
                          <a:schemeClr val="bg1">
                            <a:lumMod val="85000"/>
                          </a:schemeClr>
                        </a:solidFill>
                        <a:latin typeface="Fira Sans Condensed"/>
                        <a:ea typeface="Fira Sans Condensed"/>
                        <a:cs typeface="Fira Sans Condensed"/>
                        <a:sym typeface="Fira Sans Condensed"/>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99378745"/>
                  </a:ext>
                </a:extLst>
              </a:tr>
              <a:tr h="2038175">
                <a:tc>
                  <a:txBody>
                    <a:bodyPr/>
                    <a:lstStyle/>
                    <a:p>
                      <a:pPr marL="0" lvl="0" indent="0" algn="ctr" rtl="0">
                        <a:spcBef>
                          <a:spcPts val="0"/>
                        </a:spcBef>
                        <a:spcAft>
                          <a:spcPts val="0"/>
                        </a:spcAft>
                        <a:buNone/>
                      </a:pPr>
                      <a:br>
                        <a:rPr lang="en-US" sz="3600" dirty="0">
                          <a:solidFill>
                            <a:schemeClr val="bg1">
                              <a:lumMod val="85000"/>
                            </a:schemeClr>
                          </a:solidFill>
                        </a:rPr>
                      </a:br>
                      <a:r>
                        <a:rPr lang="en-US" sz="3200" b="1" kern="1200" dirty="0">
                          <a:solidFill>
                            <a:schemeClr val="bg1">
                              <a:lumMod val="85000"/>
                            </a:schemeClr>
                          </a:solidFill>
                          <a:effectLst/>
                        </a:rPr>
                        <a:t>ResNet-50</a:t>
                      </a:r>
                      <a:endParaRPr lang="en-US" sz="3600" b="1" kern="1200" dirty="0">
                        <a:solidFill>
                          <a:schemeClr val="bg1">
                            <a:lumMod val="85000"/>
                          </a:schemeClr>
                        </a:solidFill>
                        <a:effectLst/>
                      </a:endParaRPr>
                    </a:p>
                    <a:p>
                      <a:pPr marL="0" lvl="0" indent="0" algn="ctr" rtl="0">
                        <a:spcBef>
                          <a:spcPts val="0"/>
                        </a:spcBef>
                        <a:spcAft>
                          <a:spcPts val="0"/>
                        </a:spcAft>
                        <a:buNone/>
                      </a:pPr>
                      <a:endParaRPr lang="en-US" sz="2400" b="0" kern="1200" dirty="0">
                        <a:solidFill>
                          <a:schemeClr val="bg1">
                            <a:lumMod val="85000"/>
                          </a:schemeClr>
                        </a:solidFill>
                        <a:effectLst/>
                        <a:sym typeface="Rajdhani"/>
                      </a:endParaRPr>
                    </a:p>
                    <a:p>
                      <a:pPr marL="0" lvl="0" indent="0" algn="ctr" rtl="0">
                        <a:spcBef>
                          <a:spcPts val="0"/>
                        </a:spcBef>
                        <a:spcAft>
                          <a:spcPts val="0"/>
                        </a:spcAft>
                        <a:buNone/>
                      </a:pPr>
                      <a:endParaRPr sz="32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US" sz="2000" b="0" kern="1200" dirty="0">
                          <a:solidFill>
                            <a:schemeClr val="bg1">
                              <a:lumMod val="85000"/>
                            </a:schemeClr>
                          </a:solidFill>
                          <a:effectLst/>
                        </a:rPr>
                        <a:t>Residual Connections, Fine-Tuning, Dropout, Adam Optimizer, ReduceLROnPlateau</a:t>
                      </a:r>
                      <a:endParaRPr sz="28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US" sz="2400" b="0" kern="1200" dirty="0">
                          <a:solidFill>
                            <a:schemeClr val="bg1">
                              <a:lumMod val="85000"/>
                            </a:schemeClr>
                          </a:solidFill>
                          <a:effectLst/>
                        </a:rPr>
                        <a:t> 95.20%</a:t>
                      </a:r>
                      <a:endParaRPr sz="32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US" sz="2400" b="0" kern="1200" dirty="0">
                          <a:solidFill>
                            <a:schemeClr val="bg1">
                              <a:lumMod val="85000"/>
                            </a:schemeClr>
                          </a:solidFill>
                          <a:effectLst/>
                        </a:rPr>
                        <a:t> 55.20%</a:t>
                      </a:r>
                      <a:endParaRPr sz="32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kern="1200" dirty="0">
                          <a:solidFill>
                            <a:schemeClr val="bg1">
                              <a:lumMod val="85000"/>
                            </a:schemeClr>
                          </a:solidFill>
                          <a:effectLst/>
                        </a:rPr>
                        <a:t> 55.20%</a:t>
                      </a:r>
                      <a:endParaRPr lang="en-US" sz="3200" b="1" dirty="0">
                        <a:solidFill>
                          <a:schemeClr val="bg1">
                            <a:lumMod val="85000"/>
                          </a:schemeClr>
                        </a:solidFill>
                        <a:sym typeface="Rajdhani"/>
                      </a:endParaRPr>
                    </a:p>
                    <a:p>
                      <a:pPr marL="0" lvl="0" indent="0" algn="ctr" rtl="0">
                        <a:spcBef>
                          <a:spcPts val="0"/>
                        </a:spcBef>
                        <a:spcAft>
                          <a:spcPts val="0"/>
                        </a:spcAft>
                        <a:buNone/>
                      </a:pPr>
                      <a:endParaRPr sz="24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US" sz="2400" b="1" dirty="0">
                          <a:solidFill>
                            <a:schemeClr val="bg1">
                              <a:lumMod val="85000"/>
                            </a:schemeClr>
                          </a:solidFill>
                          <a:sym typeface="Rajdhani"/>
                        </a:rPr>
                        <a:t> 30</a:t>
                      </a:r>
                      <a:endParaRPr sz="24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US" sz="2000" b="0" kern="1200" dirty="0">
                          <a:solidFill>
                            <a:schemeClr val="bg1">
                              <a:lumMod val="85000"/>
                            </a:schemeClr>
                          </a:solidFill>
                          <a:effectLst/>
                        </a:rPr>
                        <a:t>Strong feature extraction, prone to overfitting.</a:t>
                      </a:r>
                      <a:endParaRPr sz="2800" b="1" dirty="0">
                        <a:solidFill>
                          <a:schemeClr val="bg1">
                            <a:lumMod val="85000"/>
                          </a:schemeClr>
                        </a:solidFill>
                        <a:latin typeface="Rajdhani"/>
                        <a:ea typeface="Rajdhani"/>
                        <a:cs typeface="Rajdhani"/>
                        <a:sym typeface="Rajdhani"/>
                      </a:endParaRPr>
                    </a:p>
                  </a:txBody>
                  <a:tcPr marL="91425" marR="91425" marT="91425" marB="914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104"/>
                                        </p:tgtEl>
                                        <p:attrNameLst>
                                          <p:attrName>style.visibility</p:attrName>
                                        </p:attrNameLst>
                                      </p:cBhvr>
                                      <p:to>
                                        <p:strVal val="visible"/>
                                      </p:to>
                                    </p:set>
                                    <p:anim calcmode="lin" valueType="num">
                                      <p:cBhvr>
                                        <p:cTn id="7" dur="500" fill="hold"/>
                                        <p:tgtEl>
                                          <p:spTgt spid="4104"/>
                                        </p:tgtEl>
                                        <p:attrNameLst>
                                          <p:attrName>ppt_w</p:attrName>
                                        </p:attrNameLst>
                                      </p:cBhvr>
                                      <p:tavLst>
                                        <p:tav tm="0">
                                          <p:val>
                                            <p:fltVal val="0"/>
                                          </p:val>
                                        </p:tav>
                                        <p:tav tm="100000">
                                          <p:val>
                                            <p:strVal val="#ppt_w"/>
                                          </p:val>
                                        </p:tav>
                                      </p:tavLst>
                                    </p:anim>
                                    <p:anim calcmode="lin" valueType="num">
                                      <p:cBhvr>
                                        <p:cTn id="8" dur="500" fill="hold"/>
                                        <p:tgtEl>
                                          <p:spTgt spid="4104"/>
                                        </p:tgtEl>
                                        <p:attrNameLst>
                                          <p:attrName>ppt_h</p:attrName>
                                        </p:attrNameLst>
                                      </p:cBhvr>
                                      <p:tavLst>
                                        <p:tav tm="0">
                                          <p:val>
                                            <p:fltVal val="0"/>
                                          </p:val>
                                        </p:tav>
                                        <p:tav tm="100000">
                                          <p:val>
                                            <p:strVal val="#ppt_h"/>
                                          </p:val>
                                        </p:tav>
                                      </p:tavLst>
                                    </p:anim>
                                    <p:animEffect transition="in" filter="fade">
                                      <p:cBhvr>
                                        <p:cTn id="9" dur="500"/>
                                        <p:tgtEl>
                                          <p:spTgt spid="4104"/>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500" fill="hold"/>
                                        <p:tgtEl>
                                          <p:spTgt spid="13"/>
                                        </p:tgtEl>
                                        <p:attrNameLst>
                                          <p:attrName>ppt_w</p:attrName>
                                        </p:attrNameLst>
                                      </p:cBhvr>
                                      <p:tavLst>
                                        <p:tav tm="0">
                                          <p:val>
                                            <p:fltVal val="0"/>
                                          </p:val>
                                        </p:tav>
                                        <p:tav tm="100000">
                                          <p:val>
                                            <p:strVal val="#ppt_w"/>
                                          </p:val>
                                        </p:tav>
                                      </p:tavLst>
                                    </p:anim>
                                    <p:anim calcmode="lin" valueType="num">
                                      <p:cBhvr>
                                        <p:cTn id="38" dur="500" fill="hold"/>
                                        <p:tgtEl>
                                          <p:spTgt spid="13"/>
                                        </p:tgtEl>
                                        <p:attrNameLst>
                                          <p:attrName>ppt_h</p:attrName>
                                        </p:attrNameLst>
                                      </p:cBhvr>
                                      <p:tavLst>
                                        <p:tav tm="0">
                                          <p:val>
                                            <p:fltVal val="0"/>
                                          </p:val>
                                        </p:tav>
                                        <p:tav tm="100000">
                                          <p:val>
                                            <p:strVal val="#ppt_h"/>
                                          </p:val>
                                        </p:tav>
                                      </p:tavLst>
                                    </p:anim>
                                    <p:animEffect transition="in" filter="fade">
                                      <p:cBhvr>
                                        <p:cTn id="39" dur="500"/>
                                        <p:tgtEl>
                                          <p:spTgt spid="13"/>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p:cTn id="42" dur="500" fill="hold"/>
                                        <p:tgtEl>
                                          <p:spTgt spid="14"/>
                                        </p:tgtEl>
                                        <p:attrNameLst>
                                          <p:attrName>ppt_w</p:attrName>
                                        </p:attrNameLst>
                                      </p:cBhvr>
                                      <p:tavLst>
                                        <p:tav tm="0">
                                          <p:val>
                                            <p:fltVal val="0"/>
                                          </p:val>
                                        </p:tav>
                                        <p:tav tm="100000">
                                          <p:val>
                                            <p:strVal val="#ppt_w"/>
                                          </p:val>
                                        </p:tav>
                                      </p:tavLst>
                                    </p:anim>
                                    <p:anim calcmode="lin" valueType="num">
                                      <p:cBhvr>
                                        <p:cTn id="43" dur="500" fill="hold"/>
                                        <p:tgtEl>
                                          <p:spTgt spid="14"/>
                                        </p:tgtEl>
                                        <p:attrNameLst>
                                          <p:attrName>ppt_h</p:attrName>
                                        </p:attrNameLst>
                                      </p:cBhvr>
                                      <p:tavLst>
                                        <p:tav tm="0">
                                          <p:val>
                                            <p:fltVal val="0"/>
                                          </p:val>
                                        </p:tav>
                                        <p:tav tm="100000">
                                          <p:val>
                                            <p:strVal val="#ppt_h"/>
                                          </p:val>
                                        </p:tav>
                                      </p:tavLst>
                                    </p:anim>
                                    <p:animEffect transition="in" filter="fade">
                                      <p:cBhvr>
                                        <p:cTn id="44" dur="500"/>
                                        <p:tgtEl>
                                          <p:spTgt spid="14"/>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par>
                                <p:cTn id="50" presetID="53" presetClass="entr" presetSubtype="16"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 calcmode="lin" valueType="num">
                                      <p:cBhvr>
                                        <p:cTn id="52" dur="500" fill="hold"/>
                                        <p:tgtEl>
                                          <p:spTgt spid="20"/>
                                        </p:tgtEl>
                                        <p:attrNameLst>
                                          <p:attrName>ppt_w</p:attrName>
                                        </p:attrNameLst>
                                      </p:cBhvr>
                                      <p:tavLst>
                                        <p:tav tm="0">
                                          <p:val>
                                            <p:fltVal val="0"/>
                                          </p:val>
                                        </p:tav>
                                        <p:tav tm="100000">
                                          <p:val>
                                            <p:strVal val="#ppt_w"/>
                                          </p:val>
                                        </p:tav>
                                      </p:tavLst>
                                    </p:anim>
                                    <p:anim calcmode="lin" valueType="num">
                                      <p:cBhvr>
                                        <p:cTn id="53" dur="500" fill="hold"/>
                                        <p:tgtEl>
                                          <p:spTgt spid="20"/>
                                        </p:tgtEl>
                                        <p:attrNameLst>
                                          <p:attrName>ppt_h</p:attrName>
                                        </p:attrNameLst>
                                      </p:cBhvr>
                                      <p:tavLst>
                                        <p:tav tm="0">
                                          <p:val>
                                            <p:fltVal val="0"/>
                                          </p:val>
                                        </p:tav>
                                        <p:tav tm="100000">
                                          <p:val>
                                            <p:strVal val="#ppt_h"/>
                                          </p:val>
                                        </p:tav>
                                      </p:tavLst>
                                    </p:anim>
                                    <p:animEffect transition="in" filter="fade">
                                      <p:cBhvr>
                                        <p:cTn id="54" dur="500"/>
                                        <p:tgtEl>
                                          <p:spTgt spid="20"/>
                                        </p:tgtEl>
                                      </p:cBhvr>
                                    </p:animEffect>
                                  </p:childTnLst>
                                </p:cTn>
                              </p:par>
                              <p:par>
                                <p:cTn id="55" presetID="53" presetClass="entr" presetSubtype="16"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p:cTn id="57" dur="500" fill="hold"/>
                                        <p:tgtEl>
                                          <p:spTgt spid="25"/>
                                        </p:tgtEl>
                                        <p:attrNameLst>
                                          <p:attrName>ppt_w</p:attrName>
                                        </p:attrNameLst>
                                      </p:cBhvr>
                                      <p:tavLst>
                                        <p:tav tm="0">
                                          <p:val>
                                            <p:fltVal val="0"/>
                                          </p:val>
                                        </p:tav>
                                        <p:tav tm="100000">
                                          <p:val>
                                            <p:strVal val="#ppt_w"/>
                                          </p:val>
                                        </p:tav>
                                      </p:tavLst>
                                    </p:anim>
                                    <p:anim calcmode="lin" valueType="num">
                                      <p:cBhvr>
                                        <p:cTn id="58" dur="500" fill="hold"/>
                                        <p:tgtEl>
                                          <p:spTgt spid="25"/>
                                        </p:tgtEl>
                                        <p:attrNameLst>
                                          <p:attrName>ppt_h</p:attrName>
                                        </p:attrNameLst>
                                      </p:cBhvr>
                                      <p:tavLst>
                                        <p:tav tm="0">
                                          <p:val>
                                            <p:fltVal val="0"/>
                                          </p:val>
                                        </p:tav>
                                        <p:tav tm="100000">
                                          <p:val>
                                            <p:strVal val="#ppt_h"/>
                                          </p:val>
                                        </p:tav>
                                      </p:tavLst>
                                    </p:anim>
                                    <p:animEffect transition="in" filter="fade">
                                      <p:cBhvr>
                                        <p:cTn id="5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742216" y="7517957"/>
            <a:ext cx="47625" cy="1740345"/>
            <a:chOff x="0" y="0"/>
            <a:chExt cx="12543" cy="458362"/>
          </a:xfrm>
        </p:grpSpPr>
        <p:sp>
          <p:nvSpPr>
            <p:cNvPr id="3" name="Freeform 3"/>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59301" y="1"/>
            <a:ext cx="1028700" cy="1028700"/>
            <a:chOff x="0" y="0"/>
            <a:chExt cx="270933" cy="270933"/>
          </a:xfrm>
        </p:grpSpPr>
        <p:sp>
          <p:nvSpPr>
            <p:cNvPr id="7" name="Freeform 7"/>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8" name="TextBox 8"/>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1" name="TextBox 11"/>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2" name="TextBox 12"/>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3" name="TextBox 13"/>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14" name="TextBox 14"/>
          <p:cNvSpPr txBox="1"/>
          <p:nvPr/>
        </p:nvSpPr>
        <p:spPr>
          <a:xfrm>
            <a:off x="17492295" y="9568114"/>
            <a:ext cx="547464" cy="495200"/>
          </a:xfrm>
          <a:prstGeom prst="rect">
            <a:avLst/>
          </a:prstGeom>
        </p:spPr>
        <p:txBody>
          <a:bodyPr lIns="0" tIns="0" rIns="0" bIns="0" rtlCol="0" anchor="t">
            <a:spAutoFit/>
          </a:bodyPr>
          <a:lstStyle/>
          <a:p>
            <a:pPr algn="ctr">
              <a:lnSpc>
                <a:spcPts val="1960"/>
              </a:lnSpc>
              <a:spcBef>
                <a:spcPct val="0"/>
              </a:spcBef>
            </a:pPr>
            <a:r>
              <a:rPr lang="ar-BH" sz="1400" b="1" dirty="0">
                <a:solidFill>
                  <a:srgbClr val="FFFFFF"/>
                </a:solidFill>
                <a:latin typeface="Open Sans Bold"/>
                <a:ea typeface="Open Sans Bold"/>
                <a:cs typeface="Open Sans Bold"/>
                <a:sym typeface="Open Sans Bold"/>
              </a:rPr>
              <a:t>16</a:t>
            </a:r>
          </a:p>
          <a:p>
            <a:pPr algn="ctr">
              <a:lnSpc>
                <a:spcPts val="1960"/>
              </a:lnSpc>
              <a:spcBef>
                <a:spcPct val="0"/>
              </a:spcBef>
            </a:pPr>
            <a:endParaRPr lang="en-US" sz="1400" b="1" dirty="0">
              <a:solidFill>
                <a:srgbClr val="FFFFFF"/>
              </a:solidFill>
              <a:latin typeface="Open Sans Bold"/>
              <a:ea typeface="Open Sans Bold"/>
              <a:cs typeface="Open Sans Bold"/>
              <a:sym typeface="Open Sans Bold"/>
            </a:endParaRPr>
          </a:p>
        </p:txBody>
      </p:sp>
      <p:sp>
        <p:nvSpPr>
          <p:cNvPr id="36" name="TextBox 35">
            <a:extLst>
              <a:ext uri="{FF2B5EF4-FFF2-40B4-BE49-F238E27FC236}">
                <a16:creationId xmlns:a16="http://schemas.microsoft.com/office/drawing/2014/main" id="{D9042B10-1365-63EE-F1B2-A0D3F732934B}"/>
              </a:ext>
            </a:extLst>
          </p:cNvPr>
          <p:cNvSpPr txBox="1"/>
          <p:nvPr/>
        </p:nvSpPr>
        <p:spPr>
          <a:xfrm>
            <a:off x="838200" y="1410205"/>
            <a:ext cx="8991600" cy="1107996"/>
          </a:xfrm>
          <a:prstGeom prst="rect">
            <a:avLst/>
          </a:prstGeom>
          <a:noFill/>
        </p:spPr>
        <p:txBody>
          <a:bodyPr wrap="square">
            <a:spAutoFit/>
          </a:bodyPr>
          <a:lstStyle/>
          <a:p>
            <a:r>
              <a:rPr lang="en-US" sz="6600" b="1" i="0" dirty="0">
                <a:solidFill>
                  <a:schemeClr val="bg1">
                    <a:lumMod val="85000"/>
                  </a:schemeClr>
                </a:solidFill>
                <a:effectLst/>
                <a:latin typeface="Bebas Neue Cyrillic" panose="020B0604020202020204" charset="0"/>
              </a:rPr>
              <a:t>Challenges and Future Work</a:t>
            </a:r>
            <a:endParaRPr lang="en-US" sz="6600" dirty="0">
              <a:latin typeface="Bebas Neue Cyrillic" panose="020B0604020202020204" charset="0"/>
            </a:endParaRPr>
          </a:p>
        </p:txBody>
      </p:sp>
      <p:grpSp>
        <p:nvGrpSpPr>
          <p:cNvPr id="37" name="Group 20">
            <a:extLst>
              <a:ext uri="{FF2B5EF4-FFF2-40B4-BE49-F238E27FC236}">
                <a16:creationId xmlns:a16="http://schemas.microsoft.com/office/drawing/2014/main" id="{CE2E2200-4EB4-4CA5-6F9A-F5F79715766F}"/>
              </a:ext>
            </a:extLst>
          </p:cNvPr>
          <p:cNvGrpSpPr/>
          <p:nvPr/>
        </p:nvGrpSpPr>
        <p:grpSpPr>
          <a:xfrm>
            <a:off x="1219200" y="2518201"/>
            <a:ext cx="1757695" cy="47625"/>
            <a:chOff x="0" y="0"/>
            <a:chExt cx="462932" cy="12543"/>
          </a:xfrm>
        </p:grpSpPr>
        <p:sp>
          <p:nvSpPr>
            <p:cNvPr id="38" name="Freeform 21">
              <a:extLst>
                <a:ext uri="{FF2B5EF4-FFF2-40B4-BE49-F238E27FC236}">
                  <a16:creationId xmlns:a16="http://schemas.microsoft.com/office/drawing/2014/main" id="{EE5D737A-F167-166F-A806-DC0E2F78296E}"/>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39" name="TextBox 22">
              <a:extLst>
                <a:ext uri="{FF2B5EF4-FFF2-40B4-BE49-F238E27FC236}">
                  <a16:creationId xmlns:a16="http://schemas.microsoft.com/office/drawing/2014/main" id="{3B993577-6CCD-3AE6-ADA1-9E95F0B24C40}"/>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51" name="Freeform 19">
            <a:extLst>
              <a:ext uri="{FF2B5EF4-FFF2-40B4-BE49-F238E27FC236}">
                <a16:creationId xmlns:a16="http://schemas.microsoft.com/office/drawing/2014/main" id="{05AD4D28-3713-8C8F-4D49-6AA2FB37386D}"/>
              </a:ext>
            </a:extLst>
          </p:cNvPr>
          <p:cNvSpPr/>
          <p:nvPr/>
        </p:nvSpPr>
        <p:spPr>
          <a:xfrm>
            <a:off x="17254678" y="1573959"/>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5" name="TextBox 4">
            <a:extLst>
              <a:ext uri="{FF2B5EF4-FFF2-40B4-BE49-F238E27FC236}">
                <a16:creationId xmlns:a16="http://schemas.microsoft.com/office/drawing/2014/main" id="{4D15E201-E0B0-984F-9E11-AEFDAAA1C557}"/>
              </a:ext>
            </a:extLst>
          </p:cNvPr>
          <p:cNvSpPr txBox="1"/>
          <p:nvPr/>
        </p:nvSpPr>
        <p:spPr>
          <a:xfrm>
            <a:off x="1219200" y="2936764"/>
            <a:ext cx="9144000" cy="584775"/>
          </a:xfrm>
          <a:prstGeom prst="rect">
            <a:avLst/>
          </a:prstGeom>
          <a:noFill/>
        </p:spPr>
        <p:txBody>
          <a:bodyPr wrap="square">
            <a:spAutoFit/>
          </a:bodyPr>
          <a:lstStyle/>
          <a:p>
            <a:r>
              <a:rPr lang="en-US" sz="3200" b="1" i="0" dirty="0">
                <a:solidFill>
                  <a:schemeClr val="bg1">
                    <a:lumMod val="85000"/>
                  </a:schemeClr>
                </a:solidFill>
                <a:effectLst/>
              </a:rPr>
              <a:t>Challenges :</a:t>
            </a:r>
            <a:endParaRPr lang="en-US" sz="3200" b="1" dirty="0">
              <a:solidFill>
                <a:schemeClr val="bg1">
                  <a:lumMod val="85000"/>
                </a:schemeClr>
              </a:solidFill>
            </a:endParaRPr>
          </a:p>
        </p:txBody>
      </p:sp>
      <p:sp>
        <p:nvSpPr>
          <p:cNvPr id="9" name="TextBox 8">
            <a:extLst>
              <a:ext uri="{FF2B5EF4-FFF2-40B4-BE49-F238E27FC236}">
                <a16:creationId xmlns:a16="http://schemas.microsoft.com/office/drawing/2014/main" id="{B23581E3-A423-1088-583A-6517E2D38576}"/>
              </a:ext>
            </a:extLst>
          </p:cNvPr>
          <p:cNvSpPr txBox="1"/>
          <p:nvPr/>
        </p:nvSpPr>
        <p:spPr>
          <a:xfrm>
            <a:off x="1219200" y="3672477"/>
            <a:ext cx="9144000" cy="1810752"/>
          </a:xfrm>
          <a:prstGeom prst="rect">
            <a:avLst/>
          </a:prstGeom>
          <a:noFill/>
        </p:spPr>
        <p:txBody>
          <a:bodyPr wrap="square">
            <a:spAutoFit/>
          </a:bodyPr>
          <a:lstStyle/>
          <a:p>
            <a:pPr marL="342900" indent="-342900" algn="l" rtl="0" fontAlgn="ctr">
              <a:spcBef>
                <a:spcPts val="300"/>
              </a:spcBef>
              <a:spcAft>
                <a:spcPts val="375"/>
              </a:spcAft>
              <a:buFont typeface="Wingdings" panose="05000000000000000000" pitchFamily="2" charset="2"/>
              <a:buChar char="Ø"/>
            </a:pPr>
            <a:r>
              <a:rPr lang="en-US" sz="2000" b="0" i="0" dirty="0">
                <a:solidFill>
                  <a:schemeClr val="bg1">
                    <a:lumMod val="85000"/>
                  </a:schemeClr>
                </a:solidFill>
                <a:effectLst/>
                <a:latin typeface="Roboto" panose="02000000000000000000" pitchFamily="2" charset="0"/>
              </a:rPr>
              <a:t>The quality of the dataset requires improving the image quality and the way they are distributed across the classes.</a:t>
            </a:r>
          </a:p>
          <a:p>
            <a:pPr marL="285750" indent="-285750" algn="l" rtl="0" fontAlgn="ctr">
              <a:spcBef>
                <a:spcPts val="300"/>
              </a:spcBef>
              <a:spcAft>
                <a:spcPts val="375"/>
              </a:spcAft>
              <a:buFont typeface="Wingdings" panose="05000000000000000000" pitchFamily="2" charset="2"/>
              <a:buChar char="Ø"/>
            </a:pPr>
            <a:r>
              <a:rPr lang="en-US" sz="2000" b="0" i="0" dirty="0">
                <a:solidFill>
                  <a:schemeClr val="bg1">
                    <a:lumMod val="85000"/>
                  </a:schemeClr>
                </a:solidFill>
                <a:effectLst/>
                <a:latin typeface="Roboto" panose="02000000000000000000" pitchFamily="2" charset="0"/>
              </a:rPr>
              <a:t>Overfitting: Evident in ResNet-50 despite using Dropout.</a:t>
            </a:r>
          </a:p>
          <a:p>
            <a:pPr marL="285750" indent="-285750" algn="l">
              <a:spcBef>
                <a:spcPts val="300"/>
              </a:spcBef>
              <a:spcAft>
                <a:spcPts val="375"/>
              </a:spcAft>
              <a:buFont typeface="Wingdings" panose="05000000000000000000" pitchFamily="2" charset="2"/>
              <a:buChar char="Ø"/>
            </a:pPr>
            <a:r>
              <a:rPr lang="en-US" sz="2000" b="0" i="0" dirty="0">
                <a:solidFill>
                  <a:schemeClr val="bg1">
                    <a:lumMod val="85000"/>
                  </a:schemeClr>
                </a:solidFill>
                <a:effectLst/>
                <a:latin typeface="Roboto" panose="02000000000000000000" pitchFamily="2" charset="0"/>
              </a:rPr>
              <a:t>Resource Constraints: EfficientNet required large memory, limiting the number of possible experiments</a:t>
            </a:r>
          </a:p>
        </p:txBody>
      </p:sp>
      <p:sp>
        <p:nvSpPr>
          <p:cNvPr id="15" name="TextBox 14">
            <a:extLst>
              <a:ext uri="{FF2B5EF4-FFF2-40B4-BE49-F238E27FC236}">
                <a16:creationId xmlns:a16="http://schemas.microsoft.com/office/drawing/2014/main" id="{71B4D3BB-0757-1B5F-59D7-C8CE8DA70701}"/>
              </a:ext>
            </a:extLst>
          </p:cNvPr>
          <p:cNvSpPr txBox="1"/>
          <p:nvPr/>
        </p:nvSpPr>
        <p:spPr>
          <a:xfrm>
            <a:off x="7467600" y="6760906"/>
            <a:ext cx="9144000" cy="584775"/>
          </a:xfrm>
          <a:prstGeom prst="rect">
            <a:avLst/>
          </a:prstGeom>
          <a:noFill/>
        </p:spPr>
        <p:txBody>
          <a:bodyPr wrap="square">
            <a:spAutoFit/>
          </a:bodyPr>
          <a:lstStyle/>
          <a:p>
            <a:pPr algn="l" rtl="0" fontAlgn="ctr">
              <a:spcBef>
                <a:spcPts val="300"/>
              </a:spcBef>
              <a:spcAft>
                <a:spcPts val="375"/>
              </a:spcAft>
            </a:pPr>
            <a:r>
              <a:rPr lang="en-US" sz="3200" b="1" i="0" dirty="0">
                <a:solidFill>
                  <a:schemeClr val="bg1">
                    <a:lumMod val="85000"/>
                  </a:schemeClr>
                </a:solidFill>
                <a:effectLst/>
                <a:ea typeface="Roboto" panose="02000000000000000000" pitchFamily="2" charset="0"/>
                <a:cs typeface="Roboto" panose="02000000000000000000" pitchFamily="2" charset="0"/>
              </a:rPr>
              <a:t>Future Work :</a:t>
            </a:r>
          </a:p>
        </p:txBody>
      </p:sp>
      <p:sp>
        <p:nvSpPr>
          <p:cNvPr id="16" name="TextBox 15">
            <a:extLst>
              <a:ext uri="{FF2B5EF4-FFF2-40B4-BE49-F238E27FC236}">
                <a16:creationId xmlns:a16="http://schemas.microsoft.com/office/drawing/2014/main" id="{8BF46173-2A7B-18A0-9AE5-FEF1E9C2F488}"/>
              </a:ext>
            </a:extLst>
          </p:cNvPr>
          <p:cNvSpPr txBox="1"/>
          <p:nvPr/>
        </p:nvSpPr>
        <p:spPr>
          <a:xfrm>
            <a:off x="7324501" y="7419623"/>
            <a:ext cx="10417715" cy="2118529"/>
          </a:xfrm>
          <a:prstGeom prst="rect">
            <a:avLst/>
          </a:prstGeom>
          <a:noFill/>
        </p:spPr>
        <p:txBody>
          <a:bodyPr wrap="square">
            <a:spAutoFit/>
          </a:bodyPr>
          <a:lstStyle/>
          <a:p>
            <a:pPr marL="342900" indent="-342900" algn="l" rtl="0" fontAlgn="ctr">
              <a:spcBef>
                <a:spcPts val="300"/>
              </a:spcBef>
              <a:spcAft>
                <a:spcPts val="375"/>
              </a:spcAft>
              <a:buFont typeface="Wingdings" panose="05000000000000000000" pitchFamily="2" charset="2"/>
              <a:buChar char="Ø"/>
            </a:pPr>
            <a:r>
              <a:rPr lang="en-US" sz="2000" b="0" i="0" dirty="0">
                <a:solidFill>
                  <a:schemeClr val="bg1">
                    <a:lumMod val="85000"/>
                  </a:schemeClr>
                </a:solidFill>
                <a:effectLst/>
                <a:latin typeface="Roboto" panose="02000000000000000000" pitchFamily="2" charset="0"/>
              </a:rPr>
              <a:t>Enhanced Data Augmentation: Explore more comprehensive techniques to balance classes.</a:t>
            </a:r>
          </a:p>
          <a:p>
            <a:pPr marL="342900" indent="-342900" algn="l" rtl="0" fontAlgn="ctr">
              <a:spcBef>
                <a:spcPts val="300"/>
              </a:spcBef>
              <a:spcAft>
                <a:spcPts val="375"/>
              </a:spcAft>
              <a:buFont typeface="Wingdings" panose="05000000000000000000" pitchFamily="2" charset="2"/>
              <a:buChar char="Ø"/>
            </a:pPr>
            <a:r>
              <a:rPr lang="en-US" sz="2000" b="0" i="0" dirty="0">
                <a:solidFill>
                  <a:schemeClr val="bg1">
                    <a:lumMod val="85000"/>
                  </a:schemeClr>
                </a:solidFill>
                <a:effectLst/>
                <a:latin typeface="Roboto" panose="02000000000000000000" pitchFamily="2" charset="0"/>
              </a:rPr>
              <a:t>(Ensemble Models): Explore the possibility of combining the advantages of EfficientNet and ResNet-50 to improve performance.</a:t>
            </a:r>
          </a:p>
          <a:p>
            <a:pPr marL="342900" indent="-342900" algn="l" rtl="0" fontAlgn="ctr">
              <a:spcBef>
                <a:spcPts val="300"/>
              </a:spcBef>
              <a:spcAft>
                <a:spcPts val="375"/>
              </a:spcAft>
              <a:buFont typeface="Wingdings" panose="05000000000000000000" pitchFamily="2" charset="2"/>
              <a:buChar char="Ø"/>
            </a:pPr>
            <a:r>
              <a:rPr lang="en-US" sz="2000" b="0" i="0" dirty="0">
                <a:solidFill>
                  <a:schemeClr val="bg1">
                    <a:lumMod val="85000"/>
                  </a:schemeClr>
                </a:solidFill>
                <a:effectLst/>
                <a:latin typeface="Roboto" panose="02000000000000000000" pitchFamily="2" charset="0"/>
              </a:rPr>
              <a:t>Emotion Intensity Classification: This approach focuses on determining the level of intensity of emotions.</a:t>
            </a:r>
          </a:p>
        </p:txBody>
      </p:sp>
      <p:sp>
        <p:nvSpPr>
          <p:cNvPr id="17" name="Freeform 31">
            <a:extLst>
              <a:ext uri="{FF2B5EF4-FFF2-40B4-BE49-F238E27FC236}">
                <a16:creationId xmlns:a16="http://schemas.microsoft.com/office/drawing/2014/main" id="{52DBC23F-4DB6-970A-BDFF-744C8A083C8A}"/>
              </a:ext>
            </a:extLst>
          </p:cNvPr>
          <p:cNvSpPr/>
          <p:nvPr/>
        </p:nvSpPr>
        <p:spPr>
          <a:xfrm>
            <a:off x="2195504" y="7336873"/>
            <a:ext cx="1562782" cy="1562782"/>
          </a:xfrm>
          <a:custGeom>
            <a:avLst/>
            <a:gdLst/>
            <a:ahLst/>
            <a:cxnLst/>
            <a:rect l="l" t="t" r="r" b="b"/>
            <a:pathLst>
              <a:path w="2232546" h="2232546">
                <a:moveTo>
                  <a:pt x="0" y="0"/>
                </a:moveTo>
                <a:lnTo>
                  <a:pt x="2232546" y="0"/>
                </a:lnTo>
                <a:lnTo>
                  <a:pt x="2232546" y="2232545"/>
                </a:lnTo>
                <a:lnTo>
                  <a:pt x="0" y="22325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18" name="Freeform 19">
            <a:extLst>
              <a:ext uri="{FF2B5EF4-FFF2-40B4-BE49-F238E27FC236}">
                <a16:creationId xmlns:a16="http://schemas.microsoft.com/office/drawing/2014/main" id="{547F045D-310F-81CC-6221-CE5A1277E4C8}"/>
              </a:ext>
            </a:extLst>
          </p:cNvPr>
          <p:cNvSpPr/>
          <p:nvPr/>
        </p:nvSpPr>
        <p:spPr>
          <a:xfrm>
            <a:off x="16724181" y="5910671"/>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19" name="Freeform 19">
            <a:extLst>
              <a:ext uri="{FF2B5EF4-FFF2-40B4-BE49-F238E27FC236}">
                <a16:creationId xmlns:a16="http://schemas.microsoft.com/office/drawing/2014/main" id="{65681BA0-C64C-654F-0772-61A6DD3CE830}"/>
              </a:ext>
            </a:extLst>
          </p:cNvPr>
          <p:cNvSpPr/>
          <p:nvPr/>
        </p:nvSpPr>
        <p:spPr>
          <a:xfrm>
            <a:off x="5791200" y="9420914"/>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20" name="Freeform 19">
            <a:extLst>
              <a:ext uri="{FF2B5EF4-FFF2-40B4-BE49-F238E27FC236}">
                <a16:creationId xmlns:a16="http://schemas.microsoft.com/office/drawing/2014/main" id="{B7B7E56A-E899-EE56-2959-5ACAE37BC080}"/>
              </a:ext>
            </a:extLst>
          </p:cNvPr>
          <p:cNvSpPr/>
          <p:nvPr/>
        </p:nvSpPr>
        <p:spPr>
          <a:xfrm>
            <a:off x="16416478" y="10014832"/>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pic>
        <p:nvPicPr>
          <p:cNvPr id="7170" name="Picture 2">
            <a:extLst>
              <a:ext uri="{FF2B5EF4-FFF2-40B4-BE49-F238E27FC236}">
                <a16:creationId xmlns:a16="http://schemas.microsoft.com/office/drawing/2014/main" id="{E2ECD62C-BCA4-5235-B5EA-5DD695B643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6219" y="3020020"/>
            <a:ext cx="7588665" cy="506411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a:extLst>
              <a:ext uri="{FF2B5EF4-FFF2-40B4-BE49-F238E27FC236}">
                <a16:creationId xmlns:a16="http://schemas.microsoft.com/office/drawing/2014/main" id="{463FA96B-1C95-222D-B5F2-028D6C4C57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10340335" y="4012028"/>
            <a:ext cx="7947071" cy="53032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 calcmode="lin" valueType="num">
                                      <p:cBhvr>
                                        <p:cTn id="42" dur="500" fill="hold"/>
                                        <p:tgtEl>
                                          <p:spTgt spid="36"/>
                                        </p:tgtEl>
                                        <p:attrNameLst>
                                          <p:attrName>ppt_w</p:attrName>
                                        </p:attrNameLst>
                                      </p:cBhvr>
                                      <p:tavLst>
                                        <p:tav tm="0">
                                          <p:val>
                                            <p:fltVal val="0"/>
                                          </p:val>
                                        </p:tav>
                                        <p:tav tm="100000">
                                          <p:val>
                                            <p:strVal val="#ppt_w"/>
                                          </p:val>
                                        </p:tav>
                                      </p:tavLst>
                                    </p:anim>
                                    <p:anim calcmode="lin" valueType="num">
                                      <p:cBhvr>
                                        <p:cTn id="43" dur="500" fill="hold"/>
                                        <p:tgtEl>
                                          <p:spTgt spid="36"/>
                                        </p:tgtEl>
                                        <p:attrNameLst>
                                          <p:attrName>ppt_h</p:attrName>
                                        </p:attrNameLst>
                                      </p:cBhvr>
                                      <p:tavLst>
                                        <p:tav tm="0">
                                          <p:val>
                                            <p:fltVal val="0"/>
                                          </p:val>
                                        </p:tav>
                                        <p:tav tm="100000">
                                          <p:val>
                                            <p:strVal val="#ppt_h"/>
                                          </p:val>
                                        </p:tav>
                                      </p:tavLst>
                                    </p:anim>
                                    <p:animEffect transition="in" filter="fade">
                                      <p:cBhvr>
                                        <p:cTn id="44" dur="500"/>
                                        <p:tgtEl>
                                          <p:spTgt spid="36"/>
                                        </p:tgtEl>
                                      </p:cBhvr>
                                    </p:animEffect>
                                  </p:childTnLst>
                                </p:cTn>
                              </p:par>
                              <p:par>
                                <p:cTn id="45" presetID="53" presetClass="entr" presetSubtype="16"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p:cTn id="47" dur="500" fill="hold"/>
                                        <p:tgtEl>
                                          <p:spTgt spid="37"/>
                                        </p:tgtEl>
                                        <p:attrNameLst>
                                          <p:attrName>ppt_w</p:attrName>
                                        </p:attrNameLst>
                                      </p:cBhvr>
                                      <p:tavLst>
                                        <p:tav tm="0">
                                          <p:val>
                                            <p:fltVal val="0"/>
                                          </p:val>
                                        </p:tav>
                                        <p:tav tm="100000">
                                          <p:val>
                                            <p:strVal val="#ppt_w"/>
                                          </p:val>
                                        </p:tav>
                                      </p:tavLst>
                                    </p:anim>
                                    <p:anim calcmode="lin" valueType="num">
                                      <p:cBhvr>
                                        <p:cTn id="48" dur="500" fill="hold"/>
                                        <p:tgtEl>
                                          <p:spTgt spid="37"/>
                                        </p:tgtEl>
                                        <p:attrNameLst>
                                          <p:attrName>ppt_h</p:attrName>
                                        </p:attrNameLst>
                                      </p:cBhvr>
                                      <p:tavLst>
                                        <p:tav tm="0">
                                          <p:val>
                                            <p:fltVal val="0"/>
                                          </p:val>
                                        </p:tav>
                                        <p:tav tm="100000">
                                          <p:val>
                                            <p:strVal val="#ppt_h"/>
                                          </p:val>
                                        </p:tav>
                                      </p:tavLst>
                                    </p:anim>
                                    <p:animEffect transition="in" filter="fade">
                                      <p:cBhvr>
                                        <p:cTn id="49" dur="500"/>
                                        <p:tgtEl>
                                          <p:spTgt spid="37"/>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51"/>
                                        </p:tgtEl>
                                        <p:attrNameLst>
                                          <p:attrName>style.visibility</p:attrName>
                                        </p:attrNameLst>
                                      </p:cBhvr>
                                      <p:to>
                                        <p:strVal val="visible"/>
                                      </p:to>
                                    </p:set>
                                    <p:anim calcmode="lin" valueType="num">
                                      <p:cBhvr>
                                        <p:cTn id="52" dur="500" fill="hold"/>
                                        <p:tgtEl>
                                          <p:spTgt spid="51"/>
                                        </p:tgtEl>
                                        <p:attrNameLst>
                                          <p:attrName>ppt_w</p:attrName>
                                        </p:attrNameLst>
                                      </p:cBhvr>
                                      <p:tavLst>
                                        <p:tav tm="0">
                                          <p:val>
                                            <p:fltVal val="0"/>
                                          </p:val>
                                        </p:tav>
                                        <p:tav tm="100000">
                                          <p:val>
                                            <p:strVal val="#ppt_w"/>
                                          </p:val>
                                        </p:tav>
                                      </p:tavLst>
                                    </p:anim>
                                    <p:anim calcmode="lin" valueType="num">
                                      <p:cBhvr>
                                        <p:cTn id="53" dur="500" fill="hold"/>
                                        <p:tgtEl>
                                          <p:spTgt spid="51"/>
                                        </p:tgtEl>
                                        <p:attrNameLst>
                                          <p:attrName>ppt_h</p:attrName>
                                        </p:attrNameLst>
                                      </p:cBhvr>
                                      <p:tavLst>
                                        <p:tav tm="0">
                                          <p:val>
                                            <p:fltVal val="0"/>
                                          </p:val>
                                        </p:tav>
                                        <p:tav tm="100000">
                                          <p:val>
                                            <p:strVal val="#ppt_h"/>
                                          </p:val>
                                        </p:tav>
                                      </p:tavLst>
                                    </p:anim>
                                    <p:animEffect transition="in" filter="fade">
                                      <p:cBhvr>
                                        <p:cTn id="54" dur="500"/>
                                        <p:tgtEl>
                                          <p:spTgt spid="51"/>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17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fade">
                                      <p:cBhvr>
                                        <p:cTn id="63" dur="500"/>
                                        <p:tgtEl>
                                          <p:spTgt spid="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500"/>
                                        <p:tgtEl>
                                          <p:spTgt spid="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36" grpId="0"/>
      <p:bldP spid="51" grpId="0" animBg="1"/>
      <p:bldP spid="5" grpId="0"/>
      <p:bldP spid="9" grpId="0"/>
      <p:bldP spid="15" grpId="0"/>
      <p:bldP spid="16" grpId="0"/>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AC349-D0FA-9237-48D8-14A33DFEA303}"/>
            </a:ext>
          </a:extLst>
        </p:cNvPr>
        <p:cNvGrpSpPr/>
        <p:nvPr/>
      </p:nvGrpSpPr>
      <p:grpSpPr>
        <a:xfrm>
          <a:off x="0" y="0"/>
          <a:ext cx="0" cy="0"/>
          <a:chOff x="0" y="0"/>
          <a:chExt cx="0" cy="0"/>
        </a:xfrm>
      </p:grpSpPr>
      <p:grpSp>
        <p:nvGrpSpPr>
          <p:cNvPr id="22" name="Group 7">
            <a:extLst>
              <a:ext uri="{FF2B5EF4-FFF2-40B4-BE49-F238E27FC236}">
                <a16:creationId xmlns:a16="http://schemas.microsoft.com/office/drawing/2014/main" id="{9343B28B-FAF3-A7D3-D191-CEA00BDC85BD}"/>
              </a:ext>
            </a:extLst>
          </p:cNvPr>
          <p:cNvGrpSpPr/>
          <p:nvPr/>
        </p:nvGrpSpPr>
        <p:grpSpPr>
          <a:xfrm>
            <a:off x="1279858" y="1257300"/>
            <a:ext cx="14950741" cy="8310814"/>
            <a:chOff x="0" y="0"/>
            <a:chExt cx="1590676" cy="374635"/>
          </a:xfrm>
          <a:effectLst>
            <a:reflection blurRad="6350" stA="50000" endA="300" endPos="38500" dist="50800" dir="5400000" sy="-100000" algn="bl" rotWithShape="0"/>
          </a:effectLst>
        </p:grpSpPr>
        <p:sp>
          <p:nvSpPr>
            <p:cNvPr id="23" name="Freeform 8">
              <a:extLst>
                <a:ext uri="{FF2B5EF4-FFF2-40B4-BE49-F238E27FC236}">
                  <a16:creationId xmlns:a16="http://schemas.microsoft.com/office/drawing/2014/main" id="{C0959D06-F52D-9340-837A-A54464FA4065}"/>
                </a:ext>
              </a:extLst>
            </p:cNvPr>
            <p:cNvSpPr/>
            <p:nvPr/>
          </p:nvSpPr>
          <p:spPr>
            <a:xfrm>
              <a:off x="0" y="0"/>
              <a:ext cx="1590676" cy="374635"/>
            </a:xfrm>
            <a:custGeom>
              <a:avLst/>
              <a:gdLst/>
              <a:ahLst/>
              <a:cxnLst/>
              <a:rect l="l" t="t" r="r" b="b"/>
              <a:pathLst>
                <a:path w="1590676" h="374635">
                  <a:moveTo>
                    <a:pt x="50081" y="0"/>
                  </a:moveTo>
                  <a:lnTo>
                    <a:pt x="1540595" y="0"/>
                  </a:lnTo>
                  <a:cubicBezTo>
                    <a:pt x="1553878" y="0"/>
                    <a:pt x="1566616" y="5276"/>
                    <a:pt x="1576008" y="14668"/>
                  </a:cubicBezTo>
                  <a:cubicBezTo>
                    <a:pt x="1585400" y="24060"/>
                    <a:pt x="1590676" y="36799"/>
                    <a:pt x="1590676" y="50081"/>
                  </a:cubicBezTo>
                  <a:lnTo>
                    <a:pt x="1590676" y="324554"/>
                  </a:lnTo>
                  <a:cubicBezTo>
                    <a:pt x="1590676" y="352213"/>
                    <a:pt x="1568254" y="374635"/>
                    <a:pt x="1540595" y="374635"/>
                  </a:cubicBezTo>
                  <a:lnTo>
                    <a:pt x="50081" y="374635"/>
                  </a:lnTo>
                  <a:cubicBezTo>
                    <a:pt x="36799" y="374635"/>
                    <a:pt x="24060" y="369359"/>
                    <a:pt x="14668" y="359967"/>
                  </a:cubicBezTo>
                  <a:cubicBezTo>
                    <a:pt x="5276" y="350575"/>
                    <a:pt x="0" y="337837"/>
                    <a:pt x="0" y="324554"/>
                  </a:cubicBezTo>
                  <a:lnTo>
                    <a:pt x="0" y="50081"/>
                  </a:lnTo>
                  <a:cubicBezTo>
                    <a:pt x="0" y="36799"/>
                    <a:pt x="5276" y="24060"/>
                    <a:pt x="14668" y="14668"/>
                  </a:cubicBezTo>
                  <a:cubicBezTo>
                    <a:pt x="24060" y="5276"/>
                    <a:pt x="36799" y="0"/>
                    <a:pt x="50081" y="0"/>
                  </a:cubicBezTo>
                  <a:close/>
                </a:path>
              </a:pathLst>
            </a:custGeom>
            <a:gradFill rotWithShape="1">
              <a:gsLst>
                <a:gs pos="0">
                  <a:srgbClr val="164876">
                    <a:alpha val="30000"/>
                  </a:srgbClr>
                </a:gs>
                <a:gs pos="100000">
                  <a:srgbClr val="3099FA">
                    <a:alpha val="30000"/>
                  </a:srgbClr>
                </a:gs>
              </a:gsLst>
              <a:lin ang="0"/>
            </a:gradFill>
            <a:ln w="38100" cap="rnd">
              <a:solidFill>
                <a:srgbClr val="FFFFFF">
                  <a:alpha val="29804"/>
                </a:srgbClr>
              </a:solidFill>
              <a:prstDash val="solid"/>
              <a:round/>
            </a:ln>
            <a:scene3d>
              <a:camera prst="orthographicFront"/>
              <a:lightRig rig="threePt" dir="t"/>
            </a:scene3d>
            <a:sp3d>
              <a:bevelT/>
            </a:sp3d>
          </p:spPr>
          <p:txBody>
            <a:bodyPr/>
            <a:lstStyle/>
            <a:p>
              <a:endParaRPr lang="en-US" sz="988"/>
            </a:p>
          </p:txBody>
        </p:sp>
        <p:sp>
          <p:nvSpPr>
            <p:cNvPr id="24" name="TextBox 9">
              <a:extLst>
                <a:ext uri="{FF2B5EF4-FFF2-40B4-BE49-F238E27FC236}">
                  <a16:creationId xmlns:a16="http://schemas.microsoft.com/office/drawing/2014/main" id="{F1442D9F-E150-0DD2-D2A5-DFA2E3446C76}"/>
                </a:ext>
              </a:extLst>
            </p:cNvPr>
            <p:cNvSpPr txBox="1"/>
            <p:nvPr/>
          </p:nvSpPr>
          <p:spPr>
            <a:xfrm>
              <a:off x="0" y="-38100"/>
              <a:ext cx="1590676" cy="412735"/>
            </a:xfrm>
            <a:prstGeom prst="rect">
              <a:avLst/>
            </a:prstGeom>
            <a:scene3d>
              <a:camera prst="orthographicFront"/>
              <a:lightRig rig="threePt" dir="t"/>
            </a:scene3d>
            <a:sp3d>
              <a:bevelT/>
            </a:sp3d>
          </p:spPr>
          <p:txBody>
            <a:bodyPr lIns="35560" tIns="35560" rIns="35560" bIns="35560" rtlCol="0" anchor="ctr"/>
            <a:lstStyle/>
            <a:p>
              <a:pPr algn="ctr">
                <a:lnSpc>
                  <a:spcPts val="1861"/>
                </a:lnSpc>
                <a:spcBef>
                  <a:spcPct val="0"/>
                </a:spcBef>
              </a:pPr>
              <a:endParaRPr sz="988" dirty="0"/>
            </a:p>
          </p:txBody>
        </p:sp>
      </p:grpSp>
      <p:grpSp>
        <p:nvGrpSpPr>
          <p:cNvPr id="2" name="Group 2">
            <a:extLst>
              <a:ext uri="{FF2B5EF4-FFF2-40B4-BE49-F238E27FC236}">
                <a16:creationId xmlns:a16="http://schemas.microsoft.com/office/drawing/2014/main" id="{D995EFD8-F643-BF37-1789-43CFCA0AE167}"/>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2F8569D5-4F82-71BC-2CC6-7AB71FCDDD4B}"/>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FF5D41C7-590A-D0E1-2C4E-009279F1C1C6}"/>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3ABAE0F-D2CD-0645-DDA1-84856329174B}"/>
              </a:ext>
            </a:extLst>
          </p:cNvPr>
          <p:cNvGrpSpPr/>
          <p:nvPr/>
        </p:nvGrpSpPr>
        <p:grpSpPr>
          <a:xfrm rot="-10800000">
            <a:off x="0" y="0"/>
            <a:ext cx="14042146" cy="10287000"/>
            <a:chOff x="0" y="0"/>
            <a:chExt cx="3698343" cy="2709333"/>
          </a:xfrm>
        </p:grpSpPr>
        <p:sp>
          <p:nvSpPr>
            <p:cNvPr id="6" name="Freeform 6">
              <a:extLst>
                <a:ext uri="{FF2B5EF4-FFF2-40B4-BE49-F238E27FC236}">
                  <a16:creationId xmlns:a16="http://schemas.microsoft.com/office/drawing/2014/main" id="{4AF123AE-8EDE-8201-3116-655953FD89BD}"/>
                </a:ext>
              </a:extLst>
            </p:cNvPr>
            <p:cNvSpPr/>
            <p:nvPr/>
          </p:nvSpPr>
          <p:spPr>
            <a:xfrm>
              <a:off x="0" y="0"/>
              <a:ext cx="3698343" cy="2709333"/>
            </a:xfrm>
            <a:custGeom>
              <a:avLst/>
              <a:gdLst/>
              <a:ahLst/>
              <a:cxnLst/>
              <a:rect l="l" t="t" r="r" b="b"/>
              <a:pathLst>
                <a:path w="3698343" h="2709333">
                  <a:moveTo>
                    <a:pt x="0" y="0"/>
                  </a:moveTo>
                  <a:lnTo>
                    <a:pt x="3698343" y="0"/>
                  </a:lnTo>
                  <a:lnTo>
                    <a:pt x="3698343" y="2709333"/>
                  </a:lnTo>
                  <a:lnTo>
                    <a:pt x="0" y="2709333"/>
                  </a:lnTo>
                  <a:close/>
                </a:path>
              </a:pathLst>
            </a:custGeom>
            <a:gradFill rotWithShape="1">
              <a:gsLst>
                <a:gs pos="0">
                  <a:srgbClr val="1F3291">
                    <a:alpha val="0"/>
                  </a:srgbClr>
                </a:gs>
                <a:gs pos="100000">
                  <a:srgbClr val="000935">
                    <a:alpha val="100000"/>
                  </a:srgbClr>
                </a:gs>
              </a:gsLst>
              <a:lin ang="0"/>
            </a:gradFill>
          </p:spPr>
          <p:txBody>
            <a:bodyPr/>
            <a:lstStyle/>
            <a:p>
              <a:endParaRPr lang="en-US"/>
            </a:p>
          </p:txBody>
        </p:sp>
        <p:sp>
          <p:nvSpPr>
            <p:cNvPr id="7" name="TextBox 7">
              <a:extLst>
                <a:ext uri="{FF2B5EF4-FFF2-40B4-BE49-F238E27FC236}">
                  <a16:creationId xmlns:a16="http://schemas.microsoft.com/office/drawing/2014/main" id="{14EBEA38-5611-82E0-8A26-6EC31C9CB1B9}"/>
                </a:ext>
              </a:extLst>
            </p:cNvPr>
            <p:cNvSpPr txBox="1"/>
            <p:nvPr/>
          </p:nvSpPr>
          <p:spPr>
            <a:xfrm>
              <a:off x="0" y="-38100"/>
              <a:ext cx="369834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a:extLst>
              <a:ext uri="{FF2B5EF4-FFF2-40B4-BE49-F238E27FC236}">
                <a16:creationId xmlns:a16="http://schemas.microsoft.com/office/drawing/2014/main" id="{410F58E2-206F-66A8-8064-B1B89A748832}"/>
              </a:ext>
            </a:extLst>
          </p:cNvPr>
          <p:cNvGrpSpPr/>
          <p:nvPr/>
        </p:nvGrpSpPr>
        <p:grpSpPr>
          <a:xfrm>
            <a:off x="17259301" y="1"/>
            <a:ext cx="1028700" cy="1028700"/>
            <a:chOff x="0" y="0"/>
            <a:chExt cx="270933" cy="270933"/>
          </a:xfrm>
        </p:grpSpPr>
        <p:sp>
          <p:nvSpPr>
            <p:cNvPr id="10" name="Freeform 10">
              <a:extLst>
                <a:ext uri="{FF2B5EF4-FFF2-40B4-BE49-F238E27FC236}">
                  <a16:creationId xmlns:a16="http://schemas.microsoft.com/office/drawing/2014/main" id="{936A2DCE-3741-4981-57F9-3615178338F0}"/>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11" name="TextBox 11">
              <a:extLst>
                <a:ext uri="{FF2B5EF4-FFF2-40B4-BE49-F238E27FC236}">
                  <a16:creationId xmlns:a16="http://schemas.microsoft.com/office/drawing/2014/main" id="{AEC7381E-5A30-7D6A-6402-572975EA6D87}"/>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6" name="TextBox 16">
            <a:extLst>
              <a:ext uri="{FF2B5EF4-FFF2-40B4-BE49-F238E27FC236}">
                <a16:creationId xmlns:a16="http://schemas.microsoft.com/office/drawing/2014/main" id="{702EBE54-DEE5-A457-66B5-6A3A68A5D60F}"/>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7" name="TextBox 17">
            <a:extLst>
              <a:ext uri="{FF2B5EF4-FFF2-40B4-BE49-F238E27FC236}">
                <a16:creationId xmlns:a16="http://schemas.microsoft.com/office/drawing/2014/main" id="{8B84F653-A39E-B523-4B78-C9A60170A76F}"/>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8" name="TextBox 18">
            <a:extLst>
              <a:ext uri="{FF2B5EF4-FFF2-40B4-BE49-F238E27FC236}">
                <a16:creationId xmlns:a16="http://schemas.microsoft.com/office/drawing/2014/main" id="{4634531B-4A62-F079-0487-FD41AACD06C0}"/>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9" name="TextBox 19">
            <a:extLst>
              <a:ext uri="{FF2B5EF4-FFF2-40B4-BE49-F238E27FC236}">
                <a16:creationId xmlns:a16="http://schemas.microsoft.com/office/drawing/2014/main" id="{45B65D18-7BE0-B576-5C3C-A7481BA1DCA8}"/>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20" name="TextBox 20">
            <a:extLst>
              <a:ext uri="{FF2B5EF4-FFF2-40B4-BE49-F238E27FC236}">
                <a16:creationId xmlns:a16="http://schemas.microsoft.com/office/drawing/2014/main" id="{906AA340-0A9D-461F-26E5-21A96B7AFF7F}"/>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en-US" sz="1400" b="1" dirty="0">
                <a:solidFill>
                  <a:srgbClr val="FFFFFF"/>
                </a:solidFill>
                <a:latin typeface="Open Sans Bold"/>
                <a:ea typeface="Open Sans Bold"/>
                <a:cs typeface="Open Sans Bold"/>
                <a:sym typeface="Open Sans Bold"/>
              </a:rPr>
              <a:t>1</a:t>
            </a:r>
            <a:r>
              <a:rPr lang="ar-BH" sz="1400" b="1" dirty="0">
                <a:solidFill>
                  <a:srgbClr val="FFFFFF"/>
                </a:solidFill>
                <a:latin typeface="Open Sans Bold"/>
                <a:ea typeface="Open Sans Bold"/>
                <a:cs typeface="Open Sans Bold"/>
                <a:sym typeface="Open Sans Bold"/>
              </a:rPr>
              <a:t>7</a:t>
            </a:r>
            <a:endParaRPr lang="en-US" sz="1400" b="1" dirty="0">
              <a:solidFill>
                <a:srgbClr val="FFFFFF"/>
              </a:solidFill>
              <a:latin typeface="Open Sans Bold"/>
              <a:ea typeface="Open Sans Bold"/>
              <a:cs typeface="Open Sans Bold"/>
              <a:sym typeface="Open Sans Bold"/>
            </a:endParaRPr>
          </a:p>
        </p:txBody>
      </p:sp>
      <p:sp>
        <p:nvSpPr>
          <p:cNvPr id="25" name="TextBox 24">
            <a:extLst>
              <a:ext uri="{FF2B5EF4-FFF2-40B4-BE49-F238E27FC236}">
                <a16:creationId xmlns:a16="http://schemas.microsoft.com/office/drawing/2014/main" id="{7C13127D-574B-7355-DFC3-C19EB4DBAAFE}"/>
              </a:ext>
            </a:extLst>
          </p:cNvPr>
          <p:cNvSpPr txBox="1"/>
          <p:nvPr/>
        </p:nvSpPr>
        <p:spPr>
          <a:xfrm>
            <a:off x="1905000" y="3238500"/>
            <a:ext cx="12649200" cy="3539430"/>
          </a:xfrm>
          <a:prstGeom prst="rect">
            <a:avLst/>
          </a:prstGeom>
          <a:noFill/>
        </p:spPr>
        <p:txBody>
          <a:bodyPr wrap="square">
            <a:spAutoFit/>
          </a:bodyPr>
          <a:lstStyle/>
          <a:p>
            <a:r>
              <a:rPr lang="en-US" sz="2800" dirty="0">
                <a:solidFill>
                  <a:schemeClr val="bg1">
                    <a:lumMod val="85000"/>
                  </a:schemeClr>
                </a:solidFill>
              </a:rPr>
              <a:t>Facial expression recognition is a groundbreaking advancement in modern technology, enabling smart systems to read and understand human expressions in ways that address our needs. With continuous progress, this technology opens new doors to improve our lives in fields such as education, healthcare, and interactive technology, making it an essential part of a more advanced and innovative future.</a:t>
            </a:r>
          </a:p>
          <a:p>
            <a:r>
              <a:rPr lang="en-US" sz="2800" dirty="0">
                <a:solidFill>
                  <a:schemeClr val="bg1">
                    <a:lumMod val="85000"/>
                  </a:schemeClr>
                </a:solidFill>
              </a:rPr>
              <a:t>Despite the challenges related to accuracy and privacy concerns, the work on developing these technologies opens new horizons toward a future where technology becomes a true partner that understands our emotions and meets our needs</a:t>
            </a:r>
            <a:r>
              <a:rPr lang="ar-BH" sz="2800" dirty="0">
                <a:solidFill>
                  <a:schemeClr val="bg1">
                    <a:lumMod val="85000"/>
                  </a:schemeClr>
                </a:solidFill>
              </a:rPr>
              <a:t>.</a:t>
            </a:r>
            <a:endParaRPr lang="en-US" sz="2800" dirty="0">
              <a:solidFill>
                <a:schemeClr val="bg1">
                  <a:lumMod val="85000"/>
                </a:schemeClr>
              </a:solidFill>
            </a:endParaRPr>
          </a:p>
        </p:txBody>
      </p:sp>
      <p:sp>
        <p:nvSpPr>
          <p:cNvPr id="27" name="TextBox 26">
            <a:extLst>
              <a:ext uri="{FF2B5EF4-FFF2-40B4-BE49-F238E27FC236}">
                <a16:creationId xmlns:a16="http://schemas.microsoft.com/office/drawing/2014/main" id="{38954C47-F3C1-A18D-88EB-86B7D92D02B6}"/>
              </a:ext>
            </a:extLst>
          </p:cNvPr>
          <p:cNvSpPr txBox="1"/>
          <p:nvPr/>
        </p:nvSpPr>
        <p:spPr>
          <a:xfrm>
            <a:off x="1767840" y="1754201"/>
            <a:ext cx="9281160" cy="1107996"/>
          </a:xfrm>
          <a:prstGeom prst="rect">
            <a:avLst/>
          </a:prstGeom>
          <a:noFill/>
        </p:spPr>
        <p:txBody>
          <a:bodyPr wrap="square">
            <a:spAutoFit/>
          </a:bodyPr>
          <a:lstStyle/>
          <a:p>
            <a:r>
              <a:rPr lang="en-US" sz="6600" b="0" i="0" dirty="0">
                <a:solidFill>
                  <a:srgbClr val="FFFFFF"/>
                </a:solidFill>
                <a:effectLst/>
                <a:latin typeface="Bebas Neue Cyrillic" panose="020B0604020202020204" charset="0"/>
              </a:rPr>
              <a:t>In conclusion</a:t>
            </a:r>
            <a:endParaRPr lang="en-US" sz="6600" dirty="0">
              <a:latin typeface="Bebas Neue Cyrillic" panose="020B0604020202020204" charset="0"/>
            </a:endParaRPr>
          </a:p>
        </p:txBody>
      </p:sp>
      <p:grpSp>
        <p:nvGrpSpPr>
          <p:cNvPr id="28" name="Group 20">
            <a:extLst>
              <a:ext uri="{FF2B5EF4-FFF2-40B4-BE49-F238E27FC236}">
                <a16:creationId xmlns:a16="http://schemas.microsoft.com/office/drawing/2014/main" id="{ED805A3F-88BB-3D48-F176-E2C07630BDC8}"/>
              </a:ext>
            </a:extLst>
          </p:cNvPr>
          <p:cNvGrpSpPr/>
          <p:nvPr/>
        </p:nvGrpSpPr>
        <p:grpSpPr>
          <a:xfrm>
            <a:off x="1905000" y="2838384"/>
            <a:ext cx="1757695" cy="47625"/>
            <a:chOff x="0" y="0"/>
            <a:chExt cx="462932" cy="12543"/>
          </a:xfrm>
        </p:grpSpPr>
        <p:sp>
          <p:nvSpPr>
            <p:cNvPr id="29" name="Freeform 21">
              <a:extLst>
                <a:ext uri="{FF2B5EF4-FFF2-40B4-BE49-F238E27FC236}">
                  <a16:creationId xmlns:a16="http://schemas.microsoft.com/office/drawing/2014/main" id="{A4B95325-D2B0-37FC-AA9C-E92DD695C87F}"/>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30" name="TextBox 22">
              <a:extLst>
                <a:ext uri="{FF2B5EF4-FFF2-40B4-BE49-F238E27FC236}">
                  <a16:creationId xmlns:a16="http://schemas.microsoft.com/office/drawing/2014/main" id="{CDEC1493-1B24-B66F-F582-FE5C20325988}"/>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12" name="Freeform 19">
            <a:extLst>
              <a:ext uri="{FF2B5EF4-FFF2-40B4-BE49-F238E27FC236}">
                <a16:creationId xmlns:a16="http://schemas.microsoft.com/office/drawing/2014/main" id="{6C761CB3-AAAD-7E5C-0D9F-C2DC4B71B787}"/>
              </a:ext>
            </a:extLst>
          </p:cNvPr>
          <p:cNvSpPr/>
          <p:nvPr/>
        </p:nvSpPr>
        <p:spPr>
          <a:xfrm>
            <a:off x="5791200" y="9420914"/>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13" name="Freeform 19">
            <a:extLst>
              <a:ext uri="{FF2B5EF4-FFF2-40B4-BE49-F238E27FC236}">
                <a16:creationId xmlns:a16="http://schemas.microsoft.com/office/drawing/2014/main" id="{5DF71F5D-2C12-392F-9F9F-C9B872D4355D}"/>
              </a:ext>
            </a:extLst>
          </p:cNvPr>
          <p:cNvSpPr/>
          <p:nvPr/>
        </p:nvSpPr>
        <p:spPr>
          <a:xfrm>
            <a:off x="16724181" y="1998898"/>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pic>
        <p:nvPicPr>
          <p:cNvPr id="8194" name="Picture 2">
            <a:extLst>
              <a:ext uri="{FF2B5EF4-FFF2-40B4-BE49-F238E27FC236}">
                <a16:creationId xmlns:a16="http://schemas.microsoft.com/office/drawing/2014/main" id="{E1409082-0C3E-B7C5-B859-D2825D1A9A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95315" y="3403252"/>
            <a:ext cx="2847975" cy="320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360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EF0BE-713E-E9D5-A752-7EE9D7054A6E}"/>
            </a:ext>
          </a:extLst>
        </p:cNvPr>
        <p:cNvGrpSpPr/>
        <p:nvPr/>
      </p:nvGrpSpPr>
      <p:grpSpPr>
        <a:xfrm>
          <a:off x="0" y="0"/>
          <a:ext cx="0" cy="0"/>
          <a:chOff x="0" y="0"/>
          <a:chExt cx="0" cy="0"/>
        </a:xfrm>
      </p:grpSpPr>
      <p:grpSp>
        <p:nvGrpSpPr>
          <p:cNvPr id="22" name="Group 7">
            <a:extLst>
              <a:ext uri="{FF2B5EF4-FFF2-40B4-BE49-F238E27FC236}">
                <a16:creationId xmlns:a16="http://schemas.microsoft.com/office/drawing/2014/main" id="{A8B55B7C-D8EA-3A59-83BC-DE2DE409BB14}"/>
              </a:ext>
            </a:extLst>
          </p:cNvPr>
          <p:cNvGrpSpPr/>
          <p:nvPr/>
        </p:nvGrpSpPr>
        <p:grpSpPr>
          <a:xfrm>
            <a:off x="1279858" y="1257300"/>
            <a:ext cx="14950741" cy="8310814"/>
            <a:chOff x="0" y="0"/>
            <a:chExt cx="1590676" cy="374635"/>
          </a:xfrm>
          <a:effectLst>
            <a:reflection blurRad="6350" stA="50000" endA="300" endPos="38500" dist="50800" dir="5400000" sy="-100000" algn="bl" rotWithShape="0"/>
          </a:effectLst>
        </p:grpSpPr>
        <p:sp>
          <p:nvSpPr>
            <p:cNvPr id="23" name="Freeform 8">
              <a:extLst>
                <a:ext uri="{FF2B5EF4-FFF2-40B4-BE49-F238E27FC236}">
                  <a16:creationId xmlns:a16="http://schemas.microsoft.com/office/drawing/2014/main" id="{58056E2C-079F-5C6C-FC5A-A40B5CCB4FD7}"/>
                </a:ext>
              </a:extLst>
            </p:cNvPr>
            <p:cNvSpPr/>
            <p:nvPr/>
          </p:nvSpPr>
          <p:spPr>
            <a:xfrm>
              <a:off x="0" y="0"/>
              <a:ext cx="1590676" cy="374635"/>
            </a:xfrm>
            <a:custGeom>
              <a:avLst/>
              <a:gdLst/>
              <a:ahLst/>
              <a:cxnLst/>
              <a:rect l="l" t="t" r="r" b="b"/>
              <a:pathLst>
                <a:path w="1590676" h="374635">
                  <a:moveTo>
                    <a:pt x="50081" y="0"/>
                  </a:moveTo>
                  <a:lnTo>
                    <a:pt x="1540595" y="0"/>
                  </a:lnTo>
                  <a:cubicBezTo>
                    <a:pt x="1553878" y="0"/>
                    <a:pt x="1566616" y="5276"/>
                    <a:pt x="1576008" y="14668"/>
                  </a:cubicBezTo>
                  <a:cubicBezTo>
                    <a:pt x="1585400" y="24060"/>
                    <a:pt x="1590676" y="36799"/>
                    <a:pt x="1590676" y="50081"/>
                  </a:cubicBezTo>
                  <a:lnTo>
                    <a:pt x="1590676" y="324554"/>
                  </a:lnTo>
                  <a:cubicBezTo>
                    <a:pt x="1590676" y="352213"/>
                    <a:pt x="1568254" y="374635"/>
                    <a:pt x="1540595" y="374635"/>
                  </a:cubicBezTo>
                  <a:lnTo>
                    <a:pt x="50081" y="374635"/>
                  </a:lnTo>
                  <a:cubicBezTo>
                    <a:pt x="36799" y="374635"/>
                    <a:pt x="24060" y="369359"/>
                    <a:pt x="14668" y="359967"/>
                  </a:cubicBezTo>
                  <a:cubicBezTo>
                    <a:pt x="5276" y="350575"/>
                    <a:pt x="0" y="337837"/>
                    <a:pt x="0" y="324554"/>
                  </a:cubicBezTo>
                  <a:lnTo>
                    <a:pt x="0" y="50081"/>
                  </a:lnTo>
                  <a:cubicBezTo>
                    <a:pt x="0" y="36799"/>
                    <a:pt x="5276" y="24060"/>
                    <a:pt x="14668" y="14668"/>
                  </a:cubicBezTo>
                  <a:cubicBezTo>
                    <a:pt x="24060" y="5276"/>
                    <a:pt x="36799" y="0"/>
                    <a:pt x="50081" y="0"/>
                  </a:cubicBezTo>
                  <a:close/>
                </a:path>
              </a:pathLst>
            </a:custGeom>
            <a:gradFill rotWithShape="1">
              <a:gsLst>
                <a:gs pos="0">
                  <a:srgbClr val="164876">
                    <a:alpha val="30000"/>
                  </a:srgbClr>
                </a:gs>
                <a:gs pos="100000">
                  <a:srgbClr val="3099FA">
                    <a:alpha val="30000"/>
                  </a:srgbClr>
                </a:gs>
              </a:gsLst>
              <a:lin ang="0"/>
            </a:gradFill>
            <a:ln w="38100" cap="rnd">
              <a:solidFill>
                <a:srgbClr val="FFFFFF">
                  <a:alpha val="29804"/>
                </a:srgbClr>
              </a:solidFill>
              <a:prstDash val="solid"/>
              <a:round/>
            </a:ln>
            <a:scene3d>
              <a:camera prst="orthographicFront"/>
              <a:lightRig rig="threePt" dir="t"/>
            </a:scene3d>
            <a:sp3d>
              <a:bevelT/>
            </a:sp3d>
          </p:spPr>
          <p:txBody>
            <a:bodyPr/>
            <a:lstStyle/>
            <a:p>
              <a:endParaRPr lang="en-US" sz="988"/>
            </a:p>
          </p:txBody>
        </p:sp>
        <p:sp>
          <p:nvSpPr>
            <p:cNvPr id="24" name="TextBox 9">
              <a:extLst>
                <a:ext uri="{FF2B5EF4-FFF2-40B4-BE49-F238E27FC236}">
                  <a16:creationId xmlns:a16="http://schemas.microsoft.com/office/drawing/2014/main" id="{289757DC-22F0-DDDB-3D10-DFFB8A16FD51}"/>
                </a:ext>
              </a:extLst>
            </p:cNvPr>
            <p:cNvSpPr txBox="1"/>
            <p:nvPr/>
          </p:nvSpPr>
          <p:spPr>
            <a:xfrm>
              <a:off x="0" y="-38100"/>
              <a:ext cx="1590676" cy="412735"/>
            </a:xfrm>
            <a:prstGeom prst="rect">
              <a:avLst/>
            </a:prstGeom>
            <a:scene3d>
              <a:camera prst="orthographicFront"/>
              <a:lightRig rig="threePt" dir="t"/>
            </a:scene3d>
            <a:sp3d>
              <a:bevelT/>
            </a:sp3d>
          </p:spPr>
          <p:txBody>
            <a:bodyPr lIns="35560" tIns="35560" rIns="35560" bIns="35560" rtlCol="0" anchor="ctr"/>
            <a:lstStyle/>
            <a:p>
              <a:pPr algn="ctr">
                <a:lnSpc>
                  <a:spcPts val="1861"/>
                </a:lnSpc>
                <a:spcBef>
                  <a:spcPct val="0"/>
                </a:spcBef>
              </a:pPr>
              <a:endParaRPr sz="988" dirty="0"/>
            </a:p>
          </p:txBody>
        </p:sp>
      </p:grpSp>
      <p:grpSp>
        <p:nvGrpSpPr>
          <p:cNvPr id="2" name="Group 2">
            <a:extLst>
              <a:ext uri="{FF2B5EF4-FFF2-40B4-BE49-F238E27FC236}">
                <a16:creationId xmlns:a16="http://schemas.microsoft.com/office/drawing/2014/main" id="{3AB0486B-95F5-A9C4-4EFB-157A1BAFB68C}"/>
              </a:ext>
            </a:extLst>
          </p:cNvPr>
          <p:cNvGrpSpPr/>
          <p:nvPr/>
        </p:nvGrpSpPr>
        <p:grpSpPr>
          <a:xfrm>
            <a:off x="17742216" y="7517957"/>
            <a:ext cx="47625" cy="1740345"/>
            <a:chOff x="0" y="0"/>
            <a:chExt cx="12543" cy="458362"/>
          </a:xfrm>
        </p:grpSpPr>
        <p:sp>
          <p:nvSpPr>
            <p:cNvPr id="3" name="Freeform 3">
              <a:extLst>
                <a:ext uri="{FF2B5EF4-FFF2-40B4-BE49-F238E27FC236}">
                  <a16:creationId xmlns:a16="http://schemas.microsoft.com/office/drawing/2014/main" id="{C8704E06-111F-CE6C-DD99-BF8A52EDF1A6}"/>
                </a:ext>
              </a:extLst>
            </p:cNvPr>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F16F7BC2-339A-EDE9-975A-2F234D16EB25}"/>
                </a:ext>
              </a:extLst>
            </p:cNvPr>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FD7B6F5-F1F6-6553-32A1-2FF74AB7C3D0}"/>
              </a:ext>
            </a:extLst>
          </p:cNvPr>
          <p:cNvGrpSpPr/>
          <p:nvPr/>
        </p:nvGrpSpPr>
        <p:grpSpPr>
          <a:xfrm rot="-10800000">
            <a:off x="0" y="0"/>
            <a:ext cx="14042146" cy="10287000"/>
            <a:chOff x="0" y="0"/>
            <a:chExt cx="3698343" cy="2709333"/>
          </a:xfrm>
        </p:grpSpPr>
        <p:sp>
          <p:nvSpPr>
            <p:cNvPr id="6" name="Freeform 6">
              <a:extLst>
                <a:ext uri="{FF2B5EF4-FFF2-40B4-BE49-F238E27FC236}">
                  <a16:creationId xmlns:a16="http://schemas.microsoft.com/office/drawing/2014/main" id="{0A49882B-64FF-E793-5DF1-C1B1A2D32503}"/>
                </a:ext>
              </a:extLst>
            </p:cNvPr>
            <p:cNvSpPr/>
            <p:nvPr/>
          </p:nvSpPr>
          <p:spPr>
            <a:xfrm>
              <a:off x="0" y="0"/>
              <a:ext cx="3698343" cy="2709333"/>
            </a:xfrm>
            <a:custGeom>
              <a:avLst/>
              <a:gdLst/>
              <a:ahLst/>
              <a:cxnLst/>
              <a:rect l="l" t="t" r="r" b="b"/>
              <a:pathLst>
                <a:path w="3698343" h="2709333">
                  <a:moveTo>
                    <a:pt x="0" y="0"/>
                  </a:moveTo>
                  <a:lnTo>
                    <a:pt x="3698343" y="0"/>
                  </a:lnTo>
                  <a:lnTo>
                    <a:pt x="3698343" y="2709333"/>
                  </a:lnTo>
                  <a:lnTo>
                    <a:pt x="0" y="2709333"/>
                  </a:lnTo>
                  <a:close/>
                </a:path>
              </a:pathLst>
            </a:custGeom>
            <a:gradFill rotWithShape="1">
              <a:gsLst>
                <a:gs pos="0">
                  <a:srgbClr val="1F3291">
                    <a:alpha val="0"/>
                  </a:srgbClr>
                </a:gs>
                <a:gs pos="100000">
                  <a:srgbClr val="000935">
                    <a:alpha val="100000"/>
                  </a:srgbClr>
                </a:gs>
              </a:gsLst>
              <a:lin ang="0"/>
            </a:gradFill>
          </p:spPr>
          <p:txBody>
            <a:bodyPr/>
            <a:lstStyle/>
            <a:p>
              <a:endParaRPr lang="en-US"/>
            </a:p>
          </p:txBody>
        </p:sp>
        <p:sp>
          <p:nvSpPr>
            <p:cNvPr id="7" name="TextBox 7">
              <a:extLst>
                <a:ext uri="{FF2B5EF4-FFF2-40B4-BE49-F238E27FC236}">
                  <a16:creationId xmlns:a16="http://schemas.microsoft.com/office/drawing/2014/main" id="{A8C2AB7D-1130-5A7E-A669-0C46974D9E83}"/>
                </a:ext>
              </a:extLst>
            </p:cNvPr>
            <p:cNvSpPr txBox="1"/>
            <p:nvPr/>
          </p:nvSpPr>
          <p:spPr>
            <a:xfrm>
              <a:off x="0" y="-38100"/>
              <a:ext cx="369834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a:extLst>
              <a:ext uri="{FF2B5EF4-FFF2-40B4-BE49-F238E27FC236}">
                <a16:creationId xmlns:a16="http://schemas.microsoft.com/office/drawing/2014/main" id="{171EA811-6ADC-5CBA-B00A-9810A7FD2EC9}"/>
              </a:ext>
            </a:extLst>
          </p:cNvPr>
          <p:cNvGrpSpPr/>
          <p:nvPr/>
        </p:nvGrpSpPr>
        <p:grpSpPr>
          <a:xfrm>
            <a:off x="17259301" y="1"/>
            <a:ext cx="1028700" cy="1028700"/>
            <a:chOff x="0" y="0"/>
            <a:chExt cx="270933" cy="270933"/>
          </a:xfrm>
        </p:grpSpPr>
        <p:sp>
          <p:nvSpPr>
            <p:cNvPr id="10" name="Freeform 10">
              <a:extLst>
                <a:ext uri="{FF2B5EF4-FFF2-40B4-BE49-F238E27FC236}">
                  <a16:creationId xmlns:a16="http://schemas.microsoft.com/office/drawing/2014/main" id="{286034A2-8297-F1B3-4C38-8BBDB739EFC3}"/>
                </a:ext>
              </a:extLst>
            </p:cNvPr>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11" name="TextBox 11">
              <a:extLst>
                <a:ext uri="{FF2B5EF4-FFF2-40B4-BE49-F238E27FC236}">
                  <a16:creationId xmlns:a16="http://schemas.microsoft.com/office/drawing/2014/main" id="{5D41F169-4815-BECB-C97F-E38CE9BF5F0F}"/>
                </a:ext>
              </a:extLst>
            </p:cNvPr>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6" name="TextBox 16">
            <a:extLst>
              <a:ext uri="{FF2B5EF4-FFF2-40B4-BE49-F238E27FC236}">
                <a16:creationId xmlns:a16="http://schemas.microsoft.com/office/drawing/2014/main" id="{F93290FD-027B-0CF0-2BBF-9CEDC92AF5A0}"/>
              </a:ext>
            </a:extLst>
          </p:cNvPr>
          <p:cNvSpPr txBox="1"/>
          <p:nvPr/>
        </p:nvSpPr>
        <p:spPr>
          <a:xfrm>
            <a:off x="15940843" y="517674"/>
            <a:ext cx="9784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Contact</a:t>
            </a:r>
          </a:p>
        </p:txBody>
      </p:sp>
      <p:sp>
        <p:nvSpPr>
          <p:cNvPr id="17" name="TextBox 17">
            <a:extLst>
              <a:ext uri="{FF2B5EF4-FFF2-40B4-BE49-F238E27FC236}">
                <a16:creationId xmlns:a16="http://schemas.microsoft.com/office/drawing/2014/main" id="{B0A3316D-468B-3217-23C1-A9A13AB1BE2A}"/>
              </a:ext>
            </a:extLst>
          </p:cNvPr>
          <p:cNvSpPr txBox="1"/>
          <p:nvPr/>
        </p:nvSpPr>
        <p:spPr>
          <a:xfrm>
            <a:off x="14385048" y="517674"/>
            <a:ext cx="1060497"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8" name="TextBox 18">
            <a:extLst>
              <a:ext uri="{FF2B5EF4-FFF2-40B4-BE49-F238E27FC236}">
                <a16:creationId xmlns:a16="http://schemas.microsoft.com/office/drawing/2014/main" id="{CB58E10D-E7F7-A566-513A-E28622348393}"/>
              </a:ext>
            </a:extLst>
          </p:cNvPr>
          <p:cNvSpPr txBox="1"/>
          <p:nvPr/>
        </p:nvSpPr>
        <p:spPr>
          <a:xfrm>
            <a:off x="13154289" y="517674"/>
            <a:ext cx="735456"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Service</a:t>
            </a:r>
          </a:p>
        </p:txBody>
      </p:sp>
      <p:sp>
        <p:nvSpPr>
          <p:cNvPr id="19" name="TextBox 19">
            <a:extLst>
              <a:ext uri="{FF2B5EF4-FFF2-40B4-BE49-F238E27FC236}">
                <a16:creationId xmlns:a16="http://schemas.microsoft.com/office/drawing/2014/main" id="{69BD9FD3-55E2-A64E-713F-066E9D8DEC80}"/>
              </a:ext>
            </a:extLst>
          </p:cNvPr>
          <p:cNvSpPr txBox="1"/>
          <p:nvPr/>
        </p:nvSpPr>
        <p:spPr>
          <a:xfrm>
            <a:off x="11898531" y="517674"/>
            <a:ext cx="809760" cy="203261"/>
          </a:xfrm>
          <a:prstGeom prst="rect">
            <a:avLst/>
          </a:prstGeom>
        </p:spPr>
        <p:txBody>
          <a:bodyPr lIns="0" tIns="0" rIns="0" bIns="0" rtlCol="0" anchor="t">
            <a:spAutoFit/>
          </a:bodyPr>
          <a:lstStyle/>
          <a:p>
            <a:pPr>
              <a:lnSpc>
                <a:spcPts val="1680"/>
              </a:lnSpc>
              <a:spcBef>
                <a:spcPct val="0"/>
              </a:spcBef>
            </a:pPr>
            <a:r>
              <a:rPr lang="en-US" sz="1200">
                <a:solidFill>
                  <a:srgbClr val="FFFFFF"/>
                </a:solidFill>
                <a:latin typeface="Open Sans"/>
                <a:ea typeface="Open Sans"/>
                <a:cs typeface="Open Sans"/>
                <a:sym typeface="Open Sans"/>
              </a:rPr>
              <a:t>Home</a:t>
            </a:r>
          </a:p>
        </p:txBody>
      </p:sp>
      <p:sp>
        <p:nvSpPr>
          <p:cNvPr id="20" name="TextBox 20">
            <a:extLst>
              <a:ext uri="{FF2B5EF4-FFF2-40B4-BE49-F238E27FC236}">
                <a16:creationId xmlns:a16="http://schemas.microsoft.com/office/drawing/2014/main" id="{446DD2E2-50BE-838E-89E1-68E351DEA8CA}"/>
              </a:ext>
            </a:extLst>
          </p:cNvPr>
          <p:cNvSpPr txBox="1"/>
          <p:nvPr/>
        </p:nvSpPr>
        <p:spPr>
          <a:xfrm>
            <a:off x="17492295" y="9568114"/>
            <a:ext cx="547464" cy="238720"/>
          </a:xfrm>
          <a:prstGeom prst="rect">
            <a:avLst/>
          </a:prstGeom>
        </p:spPr>
        <p:txBody>
          <a:bodyPr lIns="0" tIns="0" rIns="0" bIns="0" rtlCol="0" anchor="t">
            <a:spAutoFit/>
          </a:bodyPr>
          <a:lstStyle/>
          <a:p>
            <a:pPr algn="ctr">
              <a:lnSpc>
                <a:spcPts val="1960"/>
              </a:lnSpc>
              <a:spcBef>
                <a:spcPct val="0"/>
              </a:spcBef>
            </a:pPr>
            <a:r>
              <a:rPr lang="en-US" sz="1400" b="1" dirty="0">
                <a:solidFill>
                  <a:srgbClr val="FFFFFF"/>
                </a:solidFill>
                <a:latin typeface="Open Sans Bold"/>
                <a:ea typeface="Open Sans Bold"/>
                <a:cs typeface="Open Sans Bold"/>
                <a:sym typeface="Open Sans Bold"/>
              </a:rPr>
              <a:t>1</a:t>
            </a:r>
            <a:r>
              <a:rPr lang="ar-BH" sz="1400" b="1" dirty="0">
                <a:solidFill>
                  <a:srgbClr val="FFFFFF"/>
                </a:solidFill>
                <a:latin typeface="Open Sans Bold"/>
                <a:ea typeface="Open Sans Bold"/>
                <a:cs typeface="Open Sans Bold"/>
                <a:sym typeface="Open Sans Bold"/>
              </a:rPr>
              <a:t>7</a:t>
            </a:r>
            <a:endParaRPr lang="en-US" sz="1400" b="1" dirty="0">
              <a:solidFill>
                <a:srgbClr val="FFFFFF"/>
              </a:solidFill>
              <a:latin typeface="Open Sans Bold"/>
              <a:ea typeface="Open Sans Bold"/>
              <a:cs typeface="Open Sans Bold"/>
              <a:sym typeface="Open Sans Bold"/>
            </a:endParaRPr>
          </a:p>
        </p:txBody>
      </p:sp>
      <p:sp>
        <p:nvSpPr>
          <p:cNvPr id="25" name="TextBox 24">
            <a:extLst>
              <a:ext uri="{FF2B5EF4-FFF2-40B4-BE49-F238E27FC236}">
                <a16:creationId xmlns:a16="http://schemas.microsoft.com/office/drawing/2014/main" id="{5DB0F4C6-66F7-B5C2-AD25-DC69DDA10791}"/>
              </a:ext>
            </a:extLst>
          </p:cNvPr>
          <p:cNvSpPr txBox="1"/>
          <p:nvPr/>
        </p:nvSpPr>
        <p:spPr>
          <a:xfrm>
            <a:off x="1905000" y="3238500"/>
            <a:ext cx="12649200" cy="3539430"/>
          </a:xfrm>
          <a:prstGeom prst="rect">
            <a:avLst/>
          </a:prstGeom>
          <a:noFill/>
        </p:spPr>
        <p:txBody>
          <a:bodyPr wrap="square">
            <a:spAutoFit/>
          </a:bodyPr>
          <a:lstStyle/>
          <a:p>
            <a:r>
              <a:rPr lang="en-US" sz="2800" dirty="0">
                <a:solidFill>
                  <a:schemeClr val="bg1">
                    <a:lumMod val="85000"/>
                  </a:schemeClr>
                </a:solidFill>
              </a:rPr>
              <a:t>Facial expression recognition is a groundbreaking advancement in modern technology, enabling smart systems to read and understand human expressions in ways that address our needs. With continuous progress, this technology opens new doors to improve our lives in fields such as education, healthcare, and interactive technology, making it an essential part of a more advanced and innovative future.</a:t>
            </a:r>
          </a:p>
          <a:p>
            <a:r>
              <a:rPr lang="en-US" sz="2800" dirty="0">
                <a:solidFill>
                  <a:schemeClr val="bg1">
                    <a:lumMod val="85000"/>
                  </a:schemeClr>
                </a:solidFill>
              </a:rPr>
              <a:t>Despite the challenges related to accuracy and privacy concerns, the work on developing these technologies opens new horizons toward a future where technology becomes a true partner that understands our emotions and meets our needs</a:t>
            </a:r>
            <a:r>
              <a:rPr lang="ar-BH" sz="2800" dirty="0">
                <a:solidFill>
                  <a:schemeClr val="bg1">
                    <a:lumMod val="85000"/>
                  </a:schemeClr>
                </a:solidFill>
              </a:rPr>
              <a:t>.</a:t>
            </a:r>
            <a:endParaRPr lang="en-US" sz="2800" dirty="0">
              <a:solidFill>
                <a:schemeClr val="bg1">
                  <a:lumMod val="85000"/>
                </a:schemeClr>
              </a:solidFill>
            </a:endParaRPr>
          </a:p>
        </p:txBody>
      </p:sp>
      <p:sp>
        <p:nvSpPr>
          <p:cNvPr id="27" name="TextBox 26">
            <a:extLst>
              <a:ext uri="{FF2B5EF4-FFF2-40B4-BE49-F238E27FC236}">
                <a16:creationId xmlns:a16="http://schemas.microsoft.com/office/drawing/2014/main" id="{75B1DA5B-EBB1-3A5B-D135-BCFF4A5602C7}"/>
              </a:ext>
            </a:extLst>
          </p:cNvPr>
          <p:cNvSpPr txBox="1"/>
          <p:nvPr/>
        </p:nvSpPr>
        <p:spPr>
          <a:xfrm>
            <a:off x="1767840" y="1754201"/>
            <a:ext cx="9281160" cy="1107996"/>
          </a:xfrm>
          <a:prstGeom prst="rect">
            <a:avLst/>
          </a:prstGeom>
          <a:noFill/>
        </p:spPr>
        <p:txBody>
          <a:bodyPr wrap="square">
            <a:spAutoFit/>
          </a:bodyPr>
          <a:lstStyle/>
          <a:p>
            <a:r>
              <a:rPr lang="en-US" sz="6600" b="0" i="0" dirty="0">
                <a:solidFill>
                  <a:srgbClr val="FFFFFF"/>
                </a:solidFill>
                <a:effectLst/>
                <a:latin typeface="Bebas Neue Cyrillic" panose="020B0604020202020204" charset="0"/>
              </a:rPr>
              <a:t>In conclusion</a:t>
            </a:r>
            <a:endParaRPr lang="en-US" sz="6600" dirty="0">
              <a:latin typeface="Bebas Neue Cyrillic" panose="020B0604020202020204" charset="0"/>
            </a:endParaRPr>
          </a:p>
        </p:txBody>
      </p:sp>
      <p:grpSp>
        <p:nvGrpSpPr>
          <p:cNvPr id="28" name="Group 20">
            <a:extLst>
              <a:ext uri="{FF2B5EF4-FFF2-40B4-BE49-F238E27FC236}">
                <a16:creationId xmlns:a16="http://schemas.microsoft.com/office/drawing/2014/main" id="{A0222562-27A9-416E-B050-3E50F8D153F1}"/>
              </a:ext>
            </a:extLst>
          </p:cNvPr>
          <p:cNvGrpSpPr/>
          <p:nvPr/>
        </p:nvGrpSpPr>
        <p:grpSpPr>
          <a:xfrm>
            <a:off x="1905000" y="2838384"/>
            <a:ext cx="1757695" cy="47625"/>
            <a:chOff x="0" y="0"/>
            <a:chExt cx="462932" cy="12543"/>
          </a:xfrm>
        </p:grpSpPr>
        <p:sp>
          <p:nvSpPr>
            <p:cNvPr id="29" name="Freeform 21">
              <a:extLst>
                <a:ext uri="{FF2B5EF4-FFF2-40B4-BE49-F238E27FC236}">
                  <a16:creationId xmlns:a16="http://schemas.microsoft.com/office/drawing/2014/main" id="{3286440A-7576-4D4D-0060-818304863A3F}"/>
                </a:ext>
              </a:extLst>
            </p:cNvPr>
            <p:cNvSpPr/>
            <p:nvPr/>
          </p:nvSpPr>
          <p:spPr>
            <a:xfrm>
              <a:off x="0" y="0"/>
              <a:ext cx="462932" cy="12543"/>
            </a:xfrm>
            <a:custGeom>
              <a:avLst/>
              <a:gdLst/>
              <a:ahLst/>
              <a:cxnLst/>
              <a:rect l="l" t="t" r="r" b="b"/>
              <a:pathLst>
                <a:path w="462932" h="12543">
                  <a:moveTo>
                    <a:pt x="0" y="0"/>
                  </a:moveTo>
                  <a:lnTo>
                    <a:pt x="462932" y="0"/>
                  </a:lnTo>
                  <a:lnTo>
                    <a:pt x="462932" y="12543"/>
                  </a:lnTo>
                  <a:lnTo>
                    <a:pt x="0" y="12543"/>
                  </a:lnTo>
                  <a:close/>
                </a:path>
              </a:pathLst>
            </a:custGeom>
            <a:gradFill rotWithShape="1">
              <a:gsLst>
                <a:gs pos="0">
                  <a:srgbClr val="5470FF">
                    <a:alpha val="100000"/>
                  </a:srgbClr>
                </a:gs>
                <a:gs pos="100000">
                  <a:srgbClr val="1F3291">
                    <a:alpha val="100000"/>
                  </a:srgbClr>
                </a:gs>
              </a:gsLst>
              <a:lin ang="2700000"/>
            </a:gradFill>
          </p:spPr>
          <p:txBody>
            <a:bodyPr/>
            <a:lstStyle/>
            <a:p>
              <a:endParaRPr lang="en-US"/>
            </a:p>
          </p:txBody>
        </p:sp>
        <p:sp>
          <p:nvSpPr>
            <p:cNvPr id="30" name="TextBox 22">
              <a:extLst>
                <a:ext uri="{FF2B5EF4-FFF2-40B4-BE49-F238E27FC236}">
                  <a16:creationId xmlns:a16="http://schemas.microsoft.com/office/drawing/2014/main" id="{F3C9D525-BAFA-D672-5047-FF37B2910020}"/>
                </a:ext>
              </a:extLst>
            </p:cNvPr>
            <p:cNvSpPr txBox="1"/>
            <p:nvPr/>
          </p:nvSpPr>
          <p:spPr>
            <a:xfrm>
              <a:off x="0" y="-38100"/>
              <a:ext cx="462932" cy="50643"/>
            </a:xfrm>
            <a:prstGeom prst="rect">
              <a:avLst/>
            </a:prstGeom>
          </p:spPr>
          <p:txBody>
            <a:bodyPr lIns="50800" tIns="50800" rIns="50800" bIns="50800" rtlCol="0" anchor="ctr"/>
            <a:lstStyle/>
            <a:p>
              <a:pPr algn="ctr">
                <a:lnSpc>
                  <a:spcPts val="2659"/>
                </a:lnSpc>
              </a:pPr>
              <a:endParaRPr/>
            </a:p>
          </p:txBody>
        </p:sp>
      </p:grpSp>
      <p:sp>
        <p:nvSpPr>
          <p:cNvPr id="12" name="Freeform 19">
            <a:extLst>
              <a:ext uri="{FF2B5EF4-FFF2-40B4-BE49-F238E27FC236}">
                <a16:creationId xmlns:a16="http://schemas.microsoft.com/office/drawing/2014/main" id="{FB227A2D-069A-598E-968A-45E8998E8998}"/>
              </a:ext>
            </a:extLst>
          </p:cNvPr>
          <p:cNvSpPr/>
          <p:nvPr/>
        </p:nvSpPr>
        <p:spPr>
          <a:xfrm>
            <a:off x="5791200" y="9420914"/>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sp>
        <p:nvSpPr>
          <p:cNvPr id="13" name="Freeform 19">
            <a:extLst>
              <a:ext uri="{FF2B5EF4-FFF2-40B4-BE49-F238E27FC236}">
                <a16:creationId xmlns:a16="http://schemas.microsoft.com/office/drawing/2014/main" id="{67615C97-245A-A33B-CE5B-83F283AFF4F6}"/>
              </a:ext>
            </a:extLst>
          </p:cNvPr>
          <p:cNvSpPr/>
          <p:nvPr/>
        </p:nvSpPr>
        <p:spPr>
          <a:xfrm>
            <a:off x="16724181" y="1998898"/>
            <a:ext cx="390244" cy="390244"/>
          </a:xfrm>
          <a:custGeom>
            <a:avLst/>
            <a:gdLst/>
            <a:ahLst/>
            <a:cxnLst/>
            <a:rect l="l" t="t" r="r" b="b"/>
            <a:pathLst>
              <a:path w="557492" h="557492">
                <a:moveTo>
                  <a:pt x="0" y="0"/>
                </a:moveTo>
                <a:lnTo>
                  <a:pt x="557492" y="0"/>
                </a:lnTo>
                <a:lnTo>
                  <a:pt x="557492" y="557491"/>
                </a:lnTo>
                <a:lnTo>
                  <a:pt x="0" y="557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88"/>
          </a:p>
        </p:txBody>
      </p:sp>
      <p:pic>
        <p:nvPicPr>
          <p:cNvPr id="8194" name="Picture 2">
            <a:extLst>
              <a:ext uri="{FF2B5EF4-FFF2-40B4-BE49-F238E27FC236}">
                <a16:creationId xmlns:a16="http://schemas.microsoft.com/office/drawing/2014/main" id="{809145B4-7FB3-FB79-3628-D9EFE67FED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95315" y="3403252"/>
            <a:ext cx="2847975" cy="320992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C98B46CE-7DFA-49BC-91C0-6F6F494B7B35}"/>
              </a:ext>
            </a:extLst>
          </p:cNvPr>
          <p:cNvSpPr/>
          <p:nvPr/>
        </p:nvSpPr>
        <p:spPr>
          <a:xfrm>
            <a:off x="-2" y="-72331"/>
            <a:ext cx="18745201" cy="10431662"/>
          </a:xfrm>
          <a:prstGeom prst="rect">
            <a:avLst/>
          </a:prstGeom>
          <a:solidFill>
            <a:srgbClr val="000938"/>
          </a:solidFill>
          <a:ln>
            <a:solidFill>
              <a:srgbClr val="00093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9222" name="Picture 6">
            <a:extLst>
              <a:ext uri="{FF2B5EF4-FFF2-40B4-BE49-F238E27FC236}">
                <a16:creationId xmlns:a16="http://schemas.microsoft.com/office/drawing/2014/main" id="{47E4E893-6075-56AB-5F19-1812888D4C9E}"/>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5300"/>
                    </a14:imgEffect>
                    <a14:imgEffect>
                      <a14:brightnessContrast bright="20000"/>
                    </a14:imgEffect>
                  </a14:imgLayer>
                </a14:imgProps>
              </a:ext>
              <a:ext uri="{28A0092B-C50C-407E-A947-70E740481C1C}">
                <a14:useLocalDpi xmlns:a14="http://schemas.microsoft.com/office/drawing/2010/main" val="0"/>
              </a:ext>
            </a:extLst>
          </a:blip>
          <a:srcRect r="49436"/>
          <a:stretch/>
        </p:blipFill>
        <p:spPr bwMode="auto">
          <a:xfrm>
            <a:off x="3578440" y="-571171"/>
            <a:ext cx="6125700" cy="1085817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4EF521A9-6D35-8AFA-F782-52BDF6EF0DAE}"/>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5300"/>
                    </a14:imgEffect>
                    <a14:imgEffect>
                      <a14:brightnessContrast bright="20000"/>
                    </a14:imgEffect>
                  </a14:imgLayer>
                </a14:imgProps>
              </a:ext>
              <a:ext uri="{28A0092B-C50C-407E-A947-70E740481C1C}">
                <a14:useLocalDpi xmlns:a14="http://schemas.microsoft.com/office/drawing/2010/main" val="0"/>
              </a:ext>
            </a:extLst>
          </a:blip>
          <a:srcRect l="50564"/>
          <a:stretch/>
        </p:blipFill>
        <p:spPr bwMode="auto">
          <a:xfrm>
            <a:off x="9704140" y="-571171"/>
            <a:ext cx="5989054" cy="1085817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123B4873-E0F9-4DBE-643E-5800306F6088}"/>
              </a:ext>
            </a:extLst>
          </p:cNvPr>
          <p:cNvSpPr/>
          <p:nvPr/>
        </p:nvSpPr>
        <p:spPr>
          <a:xfrm>
            <a:off x="429044" y="1294982"/>
            <a:ext cx="5311628" cy="4893647"/>
          </a:xfrm>
          <a:prstGeom prst="rect">
            <a:avLst/>
          </a:prstGeom>
          <a:noFill/>
        </p:spPr>
        <p:txBody>
          <a:bodyPr wrap="square" lIns="91440" tIns="45720" rIns="91440" bIns="45720">
            <a:spAutoFit/>
          </a:bodyPr>
          <a:lstStyle/>
          <a:p>
            <a:pPr algn="ctr"/>
            <a:r>
              <a:rPr lang="en-US" sz="8800" b="0" cap="none" spc="0" dirty="0">
                <a:ln w="0"/>
                <a:solidFill>
                  <a:schemeClr val="bg1"/>
                </a:solidFill>
                <a:effectLst>
                  <a:outerShdw blurRad="38100" dist="19050" dir="2700000" algn="tl" rotWithShape="0">
                    <a:schemeClr val="dk1">
                      <a:alpha val="40000"/>
                    </a:schemeClr>
                  </a:outerShdw>
                </a:effectLst>
                <a:latin typeface="Bebas Neue Cyrillic" panose="020B0604020202020204" charset="0"/>
              </a:rPr>
              <a:t>Thank you </a:t>
            </a:r>
          </a:p>
          <a:p>
            <a:pPr algn="ctr"/>
            <a:endParaRPr lang="en-US" sz="4400" dirty="0">
              <a:ln w="0"/>
              <a:solidFill>
                <a:schemeClr val="bg1"/>
              </a:solidFill>
              <a:effectLst>
                <a:outerShdw blurRad="38100" dist="19050" dir="2700000" algn="tl" rotWithShape="0">
                  <a:schemeClr val="dk1">
                    <a:alpha val="40000"/>
                  </a:schemeClr>
                </a:outerShdw>
              </a:effectLst>
              <a:latin typeface="Bebas Neue Cyrillic" panose="020B0604020202020204" charset="0"/>
            </a:endParaRPr>
          </a:p>
          <a:p>
            <a:pPr algn="ctr"/>
            <a:r>
              <a:rPr lang="en-US" sz="4400" b="0" cap="none" spc="0" dirty="0">
                <a:ln w="0"/>
                <a:solidFill>
                  <a:schemeClr val="bg1"/>
                </a:solidFill>
                <a:effectLst>
                  <a:outerShdw blurRad="38100" dist="19050" dir="2700000" algn="tl" rotWithShape="0">
                    <a:schemeClr val="dk1">
                      <a:alpha val="40000"/>
                    </a:schemeClr>
                  </a:outerShdw>
                </a:effectLst>
              </a:rPr>
              <a:t>By </a:t>
            </a:r>
            <a:r>
              <a:rPr lang="en-US" sz="4400" dirty="0">
                <a:ln w="0"/>
                <a:solidFill>
                  <a:schemeClr val="bg1"/>
                </a:solidFill>
                <a:effectLst>
                  <a:outerShdw blurRad="38100" dist="19050" dir="2700000" algn="tl" rotWithShape="0">
                    <a:schemeClr val="dk1">
                      <a:alpha val="40000"/>
                    </a:schemeClr>
                  </a:outerShdw>
                </a:effectLst>
              </a:rPr>
              <a:t>Team:</a:t>
            </a:r>
          </a:p>
          <a:p>
            <a:pPr algn="ctr"/>
            <a:r>
              <a:rPr lang="en-US" sz="3200" dirty="0">
                <a:ln w="0"/>
                <a:solidFill>
                  <a:schemeClr val="bg1"/>
                </a:solidFill>
                <a:effectLst>
                  <a:outerShdw blurRad="38100" dist="19050" dir="2700000" algn="tl" rotWithShape="0">
                    <a:schemeClr val="dk1">
                      <a:alpha val="40000"/>
                    </a:schemeClr>
                  </a:outerShdw>
                </a:effectLst>
              </a:rPr>
              <a:t>Huda shqerat</a:t>
            </a:r>
            <a:endParaRPr lang="en-US" sz="3200" dirty="0">
              <a:solidFill>
                <a:schemeClr val="bg1"/>
              </a:solidFill>
              <a:effectLst/>
              <a:latin typeface="Calibri (Body)"/>
              <a:ea typeface="Times New Roman" panose="02020603050405020304" pitchFamily="18" charset="0"/>
            </a:endParaRPr>
          </a:p>
          <a:p>
            <a:pPr algn="ctr"/>
            <a:r>
              <a:rPr lang="en-US" sz="3200" dirty="0">
                <a:ln w="0"/>
                <a:solidFill>
                  <a:schemeClr val="bg1"/>
                </a:solidFill>
                <a:effectLst>
                  <a:outerShdw blurRad="38100" dist="19050" dir="2700000" algn="tl" rotWithShape="0">
                    <a:schemeClr val="dk1">
                      <a:alpha val="40000"/>
                    </a:schemeClr>
                  </a:outerShdw>
                </a:effectLst>
              </a:rPr>
              <a:t>Areen</a:t>
            </a:r>
            <a:r>
              <a:rPr lang="en-US" sz="3600" dirty="0">
                <a:ln w="0"/>
                <a:solidFill>
                  <a:schemeClr val="bg1"/>
                </a:solidFill>
                <a:effectLst>
                  <a:outerShdw blurRad="38100" dist="19050" dir="2700000" algn="tl" rotWithShape="0">
                    <a:schemeClr val="dk1">
                      <a:alpha val="40000"/>
                    </a:schemeClr>
                  </a:outerShdw>
                </a:effectLst>
              </a:rPr>
              <a:t> </a:t>
            </a:r>
            <a:r>
              <a:rPr lang="en-US" sz="3200" dirty="0">
                <a:solidFill>
                  <a:schemeClr val="bg1"/>
                </a:solidFill>
                <a:latin typeface="Calibri (Body)"/>
                <a:ea typeface="Times New Roman" panose="02020603050405020304" pitchFamily="18" charset="0"/>
              </a:rPr>
              <a:t>Alakaleek</a:t>
            </a:r>
            <a:endParaRPr lang="ar-BH" sz="3200" dirty="0">
              <a:solidFill>
                <a:schemeClr val="bg1"/>
              </a:solidFill>
              <a:latin typeface="Calibri (Body)"/>
              <a:ea typeface="Times New Roman" panose="02020603050405020304" pitchFamily="18" charset="0"/>
            </a:endParaRPr>
          </a:p>
          <a:p>
            <a:pPr algn="ctr"/>
            <a:r>
              <a:rPr lang="en-US" sz="3200" kern="100" dirty="0">
                <a:solidFill>
                  <a:schemeClr val="bg1"/>
                </a:solidFill>
                <a:ea typeface="Times New Roman" panose="02020603050405020304" pitchFamily="18" charset="0"/>
              </a:rPr>
              <a:t>Lujain toma </a:t>
            </a:r>
            <a:endParaRPr lang="en-US" sz="3200" kern="100" dirty="0">
              <a:solidFill>
                <a:schemeClr val="bg1"/>
              </a:solidFill>
              <a:ea typeface="Calibri" panose="020F0502020204030204" pitchFamily="34" charset="0"/>
            </a:endParaRPr>
          </a:p>
          <a:p>
            <a:pPr algn="ctr"/>
            <a:endParaRPr lang="en-US" sz="3600" b="0" cap="none" spc="0" dirty="0">
              <a:ln w="0"/>
              <a:solidFill>
                <a:schemeClr val="bg1"/>
              </a:solidFill>
              <a:effectLst>
                <a:outerShdw blurRad="38100" dist="19050" dir="2700000" algn="tl" rotWithShape="0">
                  <a:schemeClr val="dk1">
                    <a:alpha val="40000"/>
                  </a:schemeClr>
                </a:outerShdw>
              </a:effectLst>
            </a:endParaRPr>
          </a:p>
        </p:txBody>
      </p:sp>
      <p:sp>
        <p:nvSpPr>
          <p:cNvPr id="21" name="Rectangle 20">
            <a:extLst>
              <a:ext uri="{FF2B5EF4-FFF2-40B4-BE49-F238E27FC236}">
                <a16:creationId xmlns:a16="http://schemas.microsoft.com/office/drawing/2014/main" id="{2BC9B710-B7E3-B1E4-604F-A82F69CCEBA4}"/>
              </a:ext>
            </a:extLst>
          </p:cNvPr>
          <p:cNvSpPr/>
          <p:nvPr/>
        </p:nvSpPr>
        <p:spPr>
          <a:xfrm>
            <a:off x="12588282" y="1319930"/>
            <a:ext cx="5714526" cy="3170099"/>
          </a:xfrm>
          <a:prstGeom prst="rect">
            <a:avLst/>
          </a:prstGeom>
          <a:noFill/>
        </p:spPr>
        <p:txBody>
          <a:bodyPr wrap="square" lIns="91440" tIns="45720" rIns="91440" bIns="45720">
            <a:spAutoFit/>
          </a:bodyPr>
          <a:lstStyle/>
          <a:p>
            <a:pPr algn="ctr"/>
            <a:r>
              <a:rPr lang="en-US" sz="4000" b="0" cap="none" spc="0" dirty="0">
                <a:ln w="0"/>
                <a:solidFill>
                  <a:schemeClr val="bg1"/>
                </a:solidFill>
                <a:effectLst>
                  <a:outerShdw blurRad="38100" dist="19050" dir="2700000" algn="tl" rotWithShape="0">
                    <a:schemeClr val="dk1">
                      <a:alpha val="40000"/>
                    </a:schemeClr>
                  </a:outerShdw>
                </a:effectLst>
              </a:rPr>
              <a:t>We would like to express our sincere gratitude to </a:t>
            </a:r>
            <a:r>
              <a:rPr lang="en-US" sz="4000" b="1" cap="none" spc="0" dirty="0">
                <a:ln w="0"/>
                <a:solidFill>
                  <a:schemeClr val="bg1"/>
                </a:solidFill>
                <a:effectLst>
                  <a:outerShdw blurRad="38100" dist="19050" dir="2700000" algn="tl" rotWithShape="0">
                    <a:schemeClr val="dk1">
                      <a:alpha val="40000"/>
                    </a:schemeClr>
                  </a:outerShdw>
                </a:effectLst>
              </a:rPr>
              <a:t>Dr. [</a:t>
            </a:r>
            <a:r>
              <a:rPr lang="en-US" sz="4000" b="1" dirty="0">
                <a:ln w="0"/>
                <a:solidFill>
                  <a:schemeClr val="bg1"/>
                </a:solidFill>
                <a:effectLst>
                  <a:outerShdw blurRad="38100" dist="19050" dir="2700000" algn="tl" rotWithShape="0">
                    <a:schemeClr val="dk1">
                      <a:alpha val="40000"/>
                    </a:schemeClr>
                  </a:outerShdw>
                </a:effectLst>
              </a:rPr>
              <a:t>R</a:t>
            </a:r>
            <a:r>
              <a:rPr lang="en-US" sz="4000" b="1" cap="none" spc="0" dirty="0">
                <a:ln w="0"/>
                <a:solidFill>
                  <a:schemeClr val="bg1"/>
                </a:solidFill>
                <a:effectLst>
                  <a:outerShdw blurRad="38100" dist="19050" dir="2700000" algn="tl" rotWithShape="0">
                    <a:schemeClr val="dk1">
                      <a:alpha val="40000"/>
                    </a:schemeClr>
                  </a:outerShdw>
                </a:effectLst>
              </a:rPr>
              <a:t>asha Obeidat] </a:t>
            </a:r>
          </a:p>
          <a:p>
            <a:pPr algn="ctr"/>
            <a:r>
              <a:rPr lang="en-US" sz="4000" b="0" cap="none" spc="0" dirty="0">
                <a:ln w="0"/>
                <a:solidFill>
                  <a:schemeClr val="bg1"/>
                </a:solidFill>
                <a:effectLst>
                  <a:outerShdw blurRad="38100" dist="19050" dir="2700000" algn="tl" rotWithShape="0">
                    <a:schemeClr val="dk1">
                      <a:alpha val="40000"/>
                    </a:schemeClr>
                  </a:outerShdw>
                </a:effectLst>
              </a:rPr>
              <a:t>for her valuable guidance and support.</a:t>
            </a:r>
          </a:p>
        </p:txBody>
      </p:sp>
    </p:spTree>
    <p:extLst>
      <p:ext uri="{BB962C8B-B14F-4D97-AF65-F5344CB8AC3E}">
        <p14:creationId xmlns:p14="http://schemas.microsoft.com/office/powerpoint/2010/main" val="158789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9" presetClass="path" presetSubtype="0" accel="50000" decel="50000" fill="hold" nodeType="withEffect">
                                  <p:stCondLst>
                                    <p:cond delay="0"/>
                                  </p:stCondLst>
                                  <p:childTnLst>
                                    <p:animMotion origin="layout" path="M -0.53394 0.00463 L 2.36111E-6 -2.22222E-6 " pathEditMode="relative" rAng="0" ptsTypes="AA">
                                      <p:cBhvr>
                                        <p:cTn id="9" dur="2000" fill="hold"/>
                                        <p:tgtEl>
                                          <p:spTgt spid="9222"/>
                                        </p:tgtEl>
                                        <p:attrNameLst>
                                          <p:attrName>ppt_x</p:attrName>
                                          <p:attrName>ppt_y</p:attrName>
                                        </p:attrNameLst>
                                      </p:cBhvr>
                                      <p:rCtr x="26693" y="-231"/>
                                    </p:animMotion>
                                  </p:childTnLst>
                                </p:cTn>
                              </p:par>
                              <p:par>
                                <p:cTn id="10" presetID="42" presetClass="path" presetSubtype="0" accel="50000" decel="50000" fill="hold" nodeType="withEffect">
                                  <p:stCondLst>
                                    <p:cond delay="0"/>
                                  </p:stCondLst>
                                  <p:childTnLst>
                                    <p:animMotion origin="layout" path="M 0.4987 -0.0091 L 2.36111E-6 -2.22222E-6 " pathEditMode="relative" rAng="0" ptsTypes="AA">
                                      <p:cBhvr>
                                        <p:cTn id="11" dur="2000" fill="hold"/>
                                        <p:tgtEl>
                                          <p:spTgt spid="15"/>
                                        </p:tgtEl>
                                        <p:attrNameLst>
                                          <p:attrName>ppt_x</p:attrName>
                                          <p:attrName>ppt_y</p:attrName>
                                        </p:attrNameLst>
                                      </p:cBhvr>
                                      <p:rCtr x="-24939" y="448"/>
                                    </p:animMotion>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p:bldP spid="21" grpId="0"/>
    </p:bld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1301</TotalTime>
  <Words>1746</Words>
  <Application>Microsoft Office PowerPoint</Application>
  <PresentationFormat>Custom</PresentationFormat>
  <Paragraphs>375</Paragraphs>
  <Slides>33</Slides>
  <Notes>2</Notes>
  <HiddenSlides>19</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33</vt:i4>
      </vt:variant>
    </vt:vector>
  </HeadingPairs>
  <TitlesOfParts>
    <vt:vector size="48" baseType="lpstr">
      <vt:lpstr>Roboto</vt:lpstr>
      <vt:lpstr>Open Sans Bold</vt:lpstr>
      <vt:lpstr>Poppins Bold</vt:lpstr>
      <vt:lpstr>Calibri (Body)</vt:lpstr>
      <vt:lpstr>Aptos</vt:lpstr>
      <vt:lpstr>Arial</vt:lpstr>
      <vt:lpstr>Rajdhani</vt:lpstr>
      <vt:lpstr>Wingdings</vt:lpstr>
      <vt:lpstr>Fira Sans Condensed</vt:lpstr>
      <vt:lpstr>Times New Roman</vt:lpstr>
      <vt:lpstr>Poppins Bold </vt:lpstr>
      <vt:lpstr>Calibri</vt:lpstr>
      <vt:lpstr>Open Sans</vt:lpstr>
      <vt:lpstr>Bebas Neue Cyrillic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Futuristic Artificial Intelligence Presentation</dc:title>
  <dc:creator>Dell</dc:creator>
  <cp:lastModifiedBy>huda shqerat</cp:lastModifiedBy>
  <cp:revision>12</cp:revision>
  <dcterms:created xsi:type="dcterms:W3CDTF">2006-08-16T00:00:00Z</dcterms:created>
  <dcterms:modified xsi:type="dcterms:W3CDTF">2025-01-15T10:20:48Z</dcterms:modified>
  <dc:identifier>DAGb0HsNTYw</dc:identifier>
</cp:coreProperties>
</file>